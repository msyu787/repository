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0" r:id="rId2"/>
    <p:sldId id="264" r:id="rId3"/>
    <p:sldId id="266" r:id="rId4"/>
    <p:sldId id="274" r:id="rId5"/>
    <p:sldId id="282" r:id="rId6"/>
    <p:sldId id="269" r:id="rId7"/>
    <p:sldId id="258" r:id="rId8"/>
    <p:sldId id="261" r:id="rId9"/>
    <p:sldId id="260" r:id="rId10"/>
    <p:sldId id="257" r:id="rId11"/>
    <p:sldId id="259" r:id="rId12"/>
    <p:sldId id="262" r:id="rId13"/>
    <p:sldId id="263" r:id="rId14"/>
    <p:sldId id="268" r:id="rId15"/>
    <p:sldId id="267" r:id="rId16"/>
    <p:sldId id="272" r:id="rId17"/>
    <p:sldId id="275" r:id="rId18"/>
    <p:sldId id="271" r:id="rId19"/>
    <p:sldId id="279" r:id="rId20"/>
    <p:sldId id="280" r:id="rId21"/>
    <p:sldId id="278" r:id="rId22"/>
    <p:sldId id="277" r:id="rId23"/>
    <p:sldId id="276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22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2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C423B3-EE37-400D-A108-967FFF8D0453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6FE9AB-8523-43DD-9291-89EEAE8E08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146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59211E-FDC6-4AC5-A32E-9E214E087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863CE0-BF68-4BAD-A02F-6335F5A4F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A9AC8C-043B-40A1-9B68-4D0B2A82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A86C8F-D680-4D4F-B5B3-73A3C6E70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1D426F-590F-4250-9629-7A110541A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151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2E38E2-3857-4215-9DB0-CBB5907C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80FF83-20FA-45E8-80DD-69F349897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C73772-8D9F-4A28-A9C7-7879F404D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7399C5-E9A5-4460-B214-FEDD13C5F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562AD7-4CE7-4487-BEBE-5AAFC0D8C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676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29170D-9147-4720-B159-0CE89D118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33F8A5-66EC-412D-842B-E0B2334E8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5DF097-51BB-4FF6-9891-0838A6345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CA4617-EF4C-4582-846D-C27849F85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5ABBE3-76B6-4CC0-84DF-491D48FBE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189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FE5D1-9E58-405B-B8E8-3A9F15D8D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ABA79B-D426-48B8-B690-D650826CD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073F16-8D43-45D1-A623-299857A15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D63465-5D06-4DF3-ADB1-B9830B6F6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D30DAD-6EEC-4F12-BBB7-9FB2FB6D2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3DCA06-2D65-464C-BFCF-8306F7E6C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4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AC5732-F13D-4BB0-918E-C57DDE021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43D3B2-8FEA-4BB4-B343-2E6A7150F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03D84-3B45-4D52-8A61-7F062E104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2264EE-DAB5-4E73-AEA0-3BDB94912D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A3C2EF-A09E-4A86-B374-D01676F75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5201544-010E-4E82-BEEA-B9CC94FD0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6E422E-CF6E-46E8-B727-CC337695D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F6429D1-BF55-40B5-838F-DE1715DC5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835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DB140D-1CA0-4AB2-956E-BB605F4A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87787A2-219C-46D0-AB6D-F9D87B9C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25E013-1D2B-42A2-B386-D8E26EC44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2E5A4A-891B-484A-A7DE-3001FB1F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42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4A02CF-3F9F-4DED-8603-1E53D5B5E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F19103-10EC-419B-A888-928E611E6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78112D-2E49-42CA-BFC1-D5370A12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1CB5F7-CCB6-4A1F-B0E8-B5B66DB99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EEB002-DFF1-417F-AFC8-E329AAA65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AA1AA6-B8D7-43ED-B5E7-899C4DD2C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E018E9-A45A-4D07-9758-B34F4C7F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259FF7-1C4D-4762-A9F1-832E1F065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5EEBBA-7FB0-4A5D-93EF-2BD50183B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253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31A4F1-1EEC-436B-87BF-B371BE1F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A37732-6D86-497E-AEFF-E748F2A10B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319C61-8087-41AC-86D9-058A9F378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F1AA7E-FCB2-4F29-94D9-E48DD044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580161-2CCA-413B-B547-B3986F2DA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A6C1EF-82FA-4608-81A5-9AAE16200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311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7EA58-FA53-4470-81B5-8D53422BE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FE68AF-1425-4E40-AEE5-2D8583066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7FF106-A001-4491-A211-02AA60899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527711-4790-4B76-AB32-983277770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4DCF4F-F92C-4D06-9CCA-7054F6E4E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267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1D6F083-D07D-4625-AED6-DBAF6408ED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8F69763-159E-414B-A57A-622B23744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A94095-C683-469B-A107-FAFD0D882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CC7EE-9D32-4E24-BDBE-131B3E124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12369-F7D6-432D-B200-C86D05BD2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266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0BAFD9E-1F17-45BC-8C38-E7D6F8BC3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ABFCDF-D3B5-4CA3-AFF2-9F1B4144E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CB9F0-2D95-4A7B-B429-9A27CA3CCA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7081F-5F1E-4DE8-96D6-E0E3DED8A257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BC63E3-1C0D-494D-AD0A-F4B1A0501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B218FA-D3EE-4D1A-9FF7-C56921B62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588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0A7F1-094B-4EA2-B0ED-3AB386D0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데이터셋 이해</a:t>
            </a:r>
          </a:p>
        </p:txBody>
      </p:sp>
    </p:spTree>
    <p:extLst>
      <p:ext uri="{BB962C8B-B14F-4D97-AF65-F5344CB8AC3E}">
        <p14:creationId xmlns:p14="http://schemas.microsoft.com/office/powerpoint/2010/main" val="1602997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498" y="213288"/>
            <a:ext cx="11563321" cy="2707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[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데이터셋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]</a:t>
            </a:r>
          </a:p>
          <a:p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총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44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명의 환자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-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모두 건강하고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위에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22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명과 아래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22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명은 다른 검사를 진행함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lvl="1"/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위 </a:t>
            </a:r>
            <a:r>
              <a:rPr lang="en-US" altLang="ko-KR" sz="1600" dirty="0">
                <a:latin typeface="프리젠테이션 4 Regular" pitchFamily="2" charset="-127"/>
                <a:ea typeface="프리젠테이션 4 Regular" pitchFamily="2" charset="-127"/>
              </a:rPr>
              <a:t>22</a:t>
            </a:r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명</a:t>
            </a:r>
            <a:r>
              <a:rPr lang="en-US" altLang="ko-KR" sz="1600" dirty="0">
                <a:latin typeface="프리젠테이션 4 Regular" pitchFamily="2" charset="-127"/>
                <a:ea typeface="프리젠테이션 4 Regular" pitchFamily="2" charset="-127"/>
              </a:rPr>
              <a:t> – KUMC, </a:t>
            </a:r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간 주변의 지방 조직의 면역세포 비율</a:t>
            </a:r>
            <a:r>
              <a:rPr lang="en-US" altLang="ko-KR" sz="16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숫자 </a:t>
            </a:r>
            <a:endParaRPr lang="en-US" altLang="ko-KR" sz="1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lvl="1"/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아래 </a:t>
            </a:r>
            <a:r>
              <a:rPr lang="en-US" altLang="ko-KR" sz="1600" dirty="0">
                <a:latin typeface="프리젠테이션 4 Regular" pitchFamily="2" charset="-127"/>
                <a:ea typeface="프리젠테이션 4 Regular" pitchFamily="2" charset="-127"/>
              </a:rPr>
              <a:t>22</a:t>
            </a:r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명 </a:t>
            </a:r>
            <a:r>
              <a:rPr lang="en-US" altLang="ko-KR" sz="1600" dirty="0">
                <a:latin typeface="프리젠테이션 4 Regular" pitchFamily="2" charset="-127"/>
                <a:ea typeface="프리젠테이션 4 Regular" pitchFamily="2" charset="-127"/>
              </a:rPr>
              <a:t>– AMC, </a:t>
            </a:r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신장 주변 지방 조직에의 면역세포 비율</a:t>
            </a:r>
            <a:r>
              <a:rPr lang="en-US" altLang="ko-KR" sz="16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숫자</a:t>
            </a:r>
            <a:endParaRPr lang="en-US" altLang="ko-KR" sz="1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일단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D =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내려가면 좋은 지표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/ U=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올라가면 좋은 지표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-&gt; U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는 음수 붙여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PCA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진행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BMI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가 적으신 분들을 대상으로는 하였지만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BMI correction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은 필요함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.</a:t>
            </a:r>
          </a:p>
          <a:p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나이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correction? </a:t>
            </a:r>
          </a:p>
          <a:p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A729966-9DD8-4DDA-BEBB-8AA9AE23C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5D00206A-E838-4DC1-8869-33970326FFDB}"/>
              </a:ext>
            </a:extLst>
          </p:cNvPr>
          <p:cNvSpPr txBox="1">
            <a:spLocks/>
          </p:cNvSpPr>
          <p:nvPr/>
        </p:nvSpPr>
        <p:spPr>
          <a:xfrm>
            <a:off x="451498" y="3638966"/>
            <a:ext cx="11563321" cy="2843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F1991F33-A165-421B-A2AC-9F85F89A411B}"/>
              </a:ext>
            </a:extLst>
          </p:cNvPr>
          <p:cNvSpPr txBox="1">
            <a:spLocks/>
          </p:cNvSpPr>
          <p:nvPr/>
        </p:nvSpPr>
        <p:spPr>
          <a:xfrm>
            <a:off x="451498" y="3219034"/>
            <a:ext cx="10395450" cy="3561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 [Column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이해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대사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간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신장 기능 평가 지표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buFontTx/>
              <a:buChar char="-"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Sex, Age, BMI(Metabolic)</a:t>
            </a:r>
          </a:p>
          <a:p>
            <a:pPr>
              <a:buFontTx/>
              <a:buChar char="-"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Liver : </a:t>
            </a:r>
            <a:r>
              <a:rPr lang="en-US" altLang="ko-KR" sz="2000" dirty="0">
                <a:solidFill>
                  <a:srgbClr val="0070C0"/>
                </a:solidFill>
                <a:latin typeface="프리젠테이션 4 Regular" pitchFamily="2" charset="-127"/>
                <a:ea typeface="프리젠테이션 4 Regular" pitchFamily="2" charset="-127"/>
              </a:rPr>
              <a:t>AST</a:t>
            </a:r>
            <a:r>
              <a:rPr lang="ko-KR" altLang="en-US" sz="2000" dirty="0">
                <a:solidFill>
                  <a:srgbClr val="0070C0"/>
                </a:solidFill>
                <a:latin typeface="프리젠테이션 4 Regular" pitchFamily="2" charset="-127"/>
                <a:ea typeface="프리젠테이션 4 Regular" pitchFamily="2" charset="-127"/>
              </a:rPr>
              <a:t>  </a:t>
            </a:r>
            <a:r>
              <a:rPr lang="en-US" altLang="ko-KR" sz="2000" dirty="0">
                <a:solidFill>
                  <a:srgbClr val="0070C0"/>
                </a:solidFill>
                <a:latin typeface="프리젠테이션 4 Regular" pitchFamily="2" charset="-127"/>
                <a:ea typeface="프리젠테이션 4 Regular" pitchFamily="2" charset="-127"/>
              </a:rPr>
              <a:t>ALT</a:t>
            </a:r>
            <a:r>
              <a:rPr lang="ko-KR" altLang="en-US" sz="2000" dirty="0">
                <a:solidFill>
                  <a:srgbClr val="0070C0"/>
                </a:solidFill>
                <a:latin typeface="프리젠테이션 4 Regular" pitchFamily="2" charset="-127"/>
                <a:ea typeface="프리젠테이션 4 Regular" pitchFamily="2" charset="-127"/>
              </a:rPr>
              <a:t>  </a:t>
            </a:r>
            <a:r>
              <a:rPr lang="en-US" altLang="ko-KR" sz="2000" dirty="0">
                <a:solidFill>
                  <a:srgbClr val="0070C0"/>
                </a:solidFill>
                <a:latin typeface="프리젠테이션 4 Regular" pitchFamily="2" charset="-127"/>
                <a:ea typeface="프리젠테이션 4 Regular" pitchFamily="2" charset="-127"/>
              </a:rPr>
              <a:t>ALP</a:t>
            </a:r>
            <a:r>
              <a:rPr lang="ko-KR" altLang="en-US" sz="2000" dirty="0">
                <a:solidFill>
                  <a:srgbClr val="0070C0"/>
                </a:solidFill>
                <a:latin typeface="프리젠테이션 4 Regular" pitchFamily="2" charset="-127"/>
                <a:ea typeface="프리젠테이션 4 Regular" pitchFamily="2" charset="-127"/>
              </a:rPr>
              <a:t>  </a:t>
            </a:r>
            <a:r>
              <a:rPr lang="en-US" altLang="ko-KR" sz="2000" dirty="0">
                <a:solidFill>
                  <a:srgbClr val="0070C0"/>
                </a:solidFill>
                <a:latin typeface="프리젠테이션 4 Regular" pitchFamily="2" charset="-127"/>
                <a:ea typeface="프리젠테이션 4 Regular" pitchFamily="2" charset="-127"/>
              </a:rPr>
              <a:t>Bilirubin 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Protein  Albumin  </a:t>
            </a:r>
            <a:r>
              <a:rPr lang="en-US" altLang="ko-KR" sz="2000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PT  APTT</a:t>
            </a:r>
          </a:p>
          <a:p>
            <a:pPr>
              <a:buFontTx/>
              <a:buChar char="-"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Metabolic : </a:t>
            </a:r>
            <a:r>
              <a:rPr lang="en-US" altLang="ko-KR" sz="2000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Cholesterol	TG	LDL	HDL	</a:t>
            </a:r>
            <a:r>
              <a:rPr lang="en-US" altLang="ko-KR" sz="2000" dirty="0" err="1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R_Glucose</a:t>
            </a:r>
            <a:r>
              <a:rPr lang="en-US" altLang="ko-KR" sz="2000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	</a:t>
            </a:r>
            <a:r>
              <a:rPr lang="en-US" altLang="ko-KR" sz="2000" dirty="0" err="1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F_Glucose</a:t>
            </a:r>
            <a:r>
              <a:rPr lang="en-US" altLang="ko-KR" sz="2000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	HbA1c</a:t>
            </a:r>
          </a:p>
          <a:p>
            <a:pPr>
              <a:buFontTx/>
              <a:buChar char="-"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Kidney: </a:t>
            </a:r>
            <a:r>
              <a:rPr lang="en-US" altLang="ko-KR" sz="2000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BUN     Cr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	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GFR(CKD_EPI)  </a:t>
            </a: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CrCl</a:t>
            </a:r>
            <a:endParaRPr lang="en-US" altLang="ko-KR" sz="20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buFontTx/>
              <a:buChar char="-"/>
            </a:pP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Etc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: </a:t>
            </a:r>
            <a:r>
              <a:rPr lang="en-US" altLang="ko-KR" sz="2000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Amylase   CRP</a:t>
            </a:r>
          </a:p>
          <a:p>
            <a:pPr>
              <a:buFontTx/>
              <a:buChar char="-"/>
            </a:pPr>
            <a:endParaRPr lang="en-US" altLang="ko-KR" sz="24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buFontTx/>
              <a:buChar char="-"/>
            </a:pPr>
            <a:endParaRPr lang="en-US" altLang="ko-KR" sz="24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lvl="1">
              <a:buFontTx/>
              <a:buChar char="-"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buFontTx/>
              <a:buChar char="-"/>
            </a:pPr>
            <a:endParaRPr lang="en-US" altLang="ko-KR" sz="24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buFontTx/>
              <a:buChar char="-"/>
            </a:pPr>
            <a:endParaRPr lang="en-US" altLang="ko-KR" sz="24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2237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6A1B9ED-4BA6-4526-8C16-7A9BAD8D2BC1}"/>
              </a:ext>
            </a:extLst>
          </p:cNvPr>
          <p:cNvSpPr/>
          <p:nvPr/>
        </p:nvSpPr>
        <p:spPr>
          <a:xfrm>
            <a:off x="407670" y="385435"/>
            <a:ext cx="6096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Tx/>
              <a:buChar char="-"/>
            </a:pPr>
            <a:r>
              <a:rPr lang="en-US" altLang="ko-KR" sz="2400" dirty="0">
                <a:latin typeface="프리젠테이션 4 Regular" pitchFamily="2" charset="-127"/>
                <a:ea typeface="프리젠테이션 4 Regular" pitchFamily="2" charset="-127"/>
              </a:rPr>
              <a:t>T</a:t>
            </a:r>
            <a:r>
              <a:rPr lang="ko-KR" altLang="en-US" sz="2400" dirty="0">
                <a:latin typeface="프리젠테이션 4 Regular" pitchFamily="2" charset="-127"/>
                <a:ea typeface="프리젠테이션 4 Regular" pitchFamily="2" charset="-127"/>
              </a:rPr>
              <a:t>세포</a:t>
            </a:r>
            <a:r>
              <a:rPr lang="en-US" altLang="ko-KR" sz="2400" dirty="0">
                <a:latin typeface="프리젠테이션 4 Regular" pitchFamily="2" charset="-127"/>
                <a:ea typeface="프리젠테이션 4 Regular" pitchFamily="2" charset="-127"/>
              </a:rPr>
              <a:t>?</a:t>
            </a:r>
          </a:p>
          <a:p>
            <a:pPr lvl="1">
              <a:buFontTx/>
              <a:buChar char="-"/>
            </a:pP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전체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PAN%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중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T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세포 비율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= normalized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됨 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lvl="1">
              <a:buFontTx/>
              <a:buChar char="-"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buFontTx/>
              <a:buChar char="-"/>
            </a:pPr>
            <a:endParaRPr lang="en-US" altLang="ko-KR" sz="24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03994A5-64A8-44B4-9E50-F2F7DA12F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079" y="1228649"/>
            <a:ext cx="4486901" cy="54300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070CAAF-212F-4B2F-8A6F-685DFC5DC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866" y="2099564"/>
            <a:ext cx="3209288" cy="4648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7DBC37E-796C-4F91-AF88-0E857450E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909" y="1228649"/>
            <a:ext cx="995810" cy="4371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348DD82-7C52-4DB1-83A6-199A15FFB4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5079" y="3568065"/>
            <a:ext cx="9221487" cy="5525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E2B97ED-F40C-4100-84F2-6407373B1AF7}"/>
              </a:ext>
            </a:extLst>
          </p:cNvPr>
          <p:cNvCxnSpPr/>
          <p:nvPr/>
        </p:nvCxnSpPr>
        <p:spPr>
          <a:xfrm flipV="1">
            <a:off x="3806190" y="1771650"/>
            <a:ext cx="1417320" cy="210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98AC0F2-B0B5-47AF-8B32-A06623D8C3C5}"/>
              </a:ext>
            </a:extLst>
          </p:cNvPr>
          <p:cNvSpPr txBox="1"/>
          <p:nvPr/>
        </p:nvSpPr>
        <p:spPr>
          <a:xfrm>
            <a:off x="2320290" y="3105269"/>
            <a:ext cx="672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세포에 대한 성질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) </a:t>
            </a:r>
            <a:r>
              <a:rPr lang="en-US" altLang="ko-KR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Trm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: Tissue Resident memory / </a:t>
            </a:r>
            <a:r>
              <a:rPr lang="en-US" altLang="ko-KR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Grzk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: Granzyme K </a:t>
            </a:r>
            <a:endParaRPr lang="ko-KR" altLang="en-US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9C21EF95-D7B9-4252-8AE8-5FC4095C9E4D}"/>
              </a:ext>
            </a:extLst>
          </p:cNvPr>
          <p:cNvCxnSpPr/>
          <p:nvPr/>
        </p:nvCxnSpPr>
        <p:spPr>
          <a:xfrm>
            <a:off x="1188720" y="4109162"/>
            <a:ext cx="868680" cy="4336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7B70D39-1ED5-4E95-83DF-AE8B076D82FB}"/>
              </a:ext>
            </a:extLst>
          </p:cNvPr>
          <p:cNvSpPr txBox="1"/>
          <p:nvPr/>
        </p:nvSpPr>
        <p:spPr>
          <a:xfrm>
            <a:off x="2153289" y="4326003"/>
            <a:ext cx="448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T</a:t>
            </a:r>
            <a:r>
              <a:rPr lang="ko-KR" altLang="en-US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cell</a:t>
            </a:r>
            <a:r>
              <a:rPr lang="ko-KR" altLang="en-US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의 </a:t>
            </a:r>
            <a:r>
              <a:rPr lang="en-US" altLang="ko-KR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CD4 </a:t>
            </a:r>
            <a:r>
              <a:rPr lang="ko-KR" altLang="en-US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세포 중에서 </a:t>
            </a:r>
            <a:r>
              <a:rPr lang="en-US" altLang="ko-KR" dirty="0" err="1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Trm</a:t>
            </a:r>
            <a:r>
              <a:rPr lang="ko-KR" altLang="en-US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성격인 비율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F363B58-3BBC-4A88-9D2E-B385A221F5C4}"/>
              </a:ext>
            </a:extLst>
          </p:cNvPr>
          <p:cNvSpPr/>
          <p:nvPr/>
        </p:nvSpPr>
        <p:spPr>
          <a:xfrm>
            <a:off x="7668241" y="1661448"/>
            <a:ext cx="37176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CD20 </a:t>
            </a:r>
            <a:r>
              <a:rPr lang="ko-KR" altLang="en-US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단백질을 발현하는 특이한 </a:t>
            </a:r>
            <a:r>
              <a:rPr lang="en-US" altLang="ko-KR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T</a:t>
            </a:r>
            <a:r>
              <a:rPr lang="ko-KR" altLang="en-US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세포 아형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73171E1-9E8D-4FA6-82BB-24F415A797F0}"/>
              </a:ext>
            </a:extLst>
          </p:cNvPr>
          <p:cNvCxnSpPr/>
          <p:nvPr/>
        </p:nvCxnSpPr>
        <p:spPr>
          <a:xfrm>
            <a:off x="5261610" y="1767826"/>
            <a:ext cx="1377039" cy="207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976F94-8DFC-43FA-B3F9-D1441B2F156C}"/>
              </a:ext>
            </a:extLst>
          </p:cNvPr>
          <p:cNvSpPr/>
          <p:nvPr/>
        </p:nvSpPr>
        <p:spPr>
          <a:xfrm>
            <a:off x="570866" y="5026015"/>
            <a:ext cx="847026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r>
              <a:rPr lang="en-US" altLang="ko-KR" sz="2400" dirty="0">
                <a:latin typeface="프리젠테이션 4 Regular" pitchFamily="2" charset="-127"/>
                <a:ea typeface="프리젠테이션 4 Regular" pitchFamily="2" charset="-127"/>
              </a:rPr>
              <a:t>B</a:t>
            </a:r>
            <a:r>
              <a:rPr lang="ko-KR" altLang="en-US" sz="2400" dirty="0">
                <a:latin typeface="프리젠테이션 4 Regular" pitchFamily="2" charset="-127"/>
                <a:ea typeface="프리젠테이션 4 Regular" pitchFamily="2" charset="-127"/>
              </a:rPr>
              <a:t>세포</a:t>
            </a:r>
            <a:r>
              <a:rPr lang="en-US" altLang="ko-KR" sz="2400" dirty="0">
                <a:latin typeface="프리젠테이션 4 Regular" pitchFamily="2" charset="-127"/>
                <a:ea typeface="프리젠테이션 4 Regular" pitchFamily="2" charset="-127"/>
              </a:rPr>
              <a:t>?</a:t>
            </a:r>
          </a:p>
          <a:p>
            <a:pPr lvl="1"/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- B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세포 종류별 비율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= normalized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됨 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lvl="1">
              <a:buFontTx/>
              <a:buChar char="-"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buFontTx/>
              <a:buChar char="-"/>
            </a:pPr>
            <a:endParaRPr lang="en-US" altLang="ko-KR" sz="24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665084D-2764-4DAA-9836-09930E56E8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4203" y="5856672"/>
            <a:ext cx="5683951" cy="64253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9648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F50C06-9C3F-4B8C-9BE4-9360D5DC2332}"/>
              </a:ext>
            </a:extLst>
          </p:cNvPr>
          <p:cNvSpPr txBox="1"/>
          <p:nvPr/>
        </p:nvSpPr>
        <p:spPr>
          <a:xfrm>
            <a:off x="5105400" y="1100667"/>
            <a:ext cx="2217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PAN</a:t>
            </a:r>
            <a:r>
              <a:rPr lang="ko-KR" altLang="en-US" dirty="0"/>
              <a:t> </a:t>
            </a:r>
            <a:r>
              <a:rPr lang="en-US" altLang="ko-KR" dirty="0"/>
              <a:t>IMMUNE</a:t>
            </a:r>
            <a:r>
              <a:rPr lang="ko-KR" altLang="en-US" dirty="0"/>
              <a:t> </a:t>
            </a:r>
            <a:r>
              <a:rPr lang="en-US" altLang="ko-KR" dirty="0"/>
              <a:t>CELL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6265E0-36E3-44D3-9CF5-3CF31CEAEB1F}"/>
              </a:ext>
            </a:extLst>
          </p:cNvPr>
          <p:cNvSpPr txBox="1"/>
          <p:nvPr/>
        </p:nvSpPr>
        <p:spPr>
          <a:xfrm>
            <a:off x="2855938" y="1854201"/>
            <a:ext cx="6716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	 CD11b	         HLADR      NK         NKT1           T </a:t>
            </a:r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45478F1-B9ED-49FF-A2DE-CE2BA7C6FC07}"/>
              </a:ext>
            </a:extLst>
          </p:cNvPr>
          <p:cNvSpPr/>
          <p:nvPr/>
        </p:nvSpPr>
        <p:spPr>
          <a:xfrm>
            <a:off x="6717488" y="3312582"/>
            <a:ext cx="54745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NKT2</a:t>
            </a:r>
            <a:r>
              <a:rPr lang="fr-FR" dirty="0"/>
              <a:t>        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MAIT        </a:t>
            </a:r>
            <a:r>
              <a:rPr lang="fr-FR" dirty="0"/>
              <a:t> 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gd1T</a:t>
            </a:r>
            <a:r>
              <a:rPr lang="fr-FR" dirty="0"/>
              <a:t>           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gd2T</a:t>
            </a:r>
            <a:r>
              <a:rPr lang="fr-FR" dirty="0"/>
              <a:t>     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ConvT%</a:t>
            </a:r>
            <a:r>
              <a:rPr lang="fr-FR" dirty="0"/>
              <a:t> </a:t>
            </a:r>
            <a:endParaRPr 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199E18-FC56-40F0-994F-65D71DB19690}"/>
              </a:ext>
            </a:extLst>
          </p:cNvPr>
          <p:cNvSpPr/>
          <p:nvPr/>
        </p:nvSpPr>
        <p:spPr>
          <a:xfrm>
            <a:off x="9884833" y="4675716"/>
            <a:ext cx="46496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CD8+T</a:t>
            </a:r>
            <a:r>
              <a:rPr lang="de-DE" dirty="0"/>
              <a:t>     </a:t>
            </a:r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CD4+T      </a:t>
            </a:r>
            <a:r>
              <a:rPr lang="de-DE" dirty="0"/>
              <a:t> </a:t>
            </a:r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CD8+Treg         </a:t>
            </a:r>
            <a:r>
              <a:rPr lang="de-DE" dirty="0"/>
              <a:t> </a:t>
            </a:r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CD4+Treg</a:t>
            </a:r>
            <a:r>
              <a:rPr lang="de-DE" dirty="0"/>
              <a:t> 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1E70CBF-35AD-43EF-B388-DE92547DAF76}"/>
              </a:ext>
            </a:extLst>
          </p:cNvPr>
          <p:cNvSpPr/>
          <p:nvPr/>
        </p:nvSpPr>
        <p:spPr>
          <a:xfrm>
            <a:off x="9454744" y="5307223"/>
            <a:ext cx="152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TRM GZMK 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929CE8-33CC-4D11-8AA6-0A324B0A0F9E}"/>
              </a:ext>
            </a:extLst>
          </p:cNvPr>
          <p:cNvSpPr/>
          <p:nvPr/>
        </p:nvSpPr>
        <p:spPr>
          <a:xfrm>
            <a:off x="10591720" y="5324938"/>
            <a:ext cx="152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TRM GZMK </a:t>
            </a:r>
            <a:endParaRPr 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EA341B-16A6-4FBA-9E76-B1842E06F20A}"/>
              </a:ext>
            </a:extLst>
          </p:cNvPr>
          <p:cNvSpPr/>
          <p:nvPr/>
        </p:nvSpPr>
        <p:spPr>
          <a:xfrm>
            <a:off x="7287201" y="3940570"/>
            <a:ext cx="152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TRM GZMK </a:t>
            </a:r>
            <a:endParaRPr 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04B09B7-091B-4BE6-9508-7DDC97AA7218}"/>
              </a:ext>
            </a:extLst>
          </p:cNvPr>
          <p:cNvSpPr/>
          <p:nvPr/>
        </p:nvSpPr>
        <p:spPr>
          <a:xfrm>
            <a:off x="8586017" y="3938811"/>
            <a:ext cx="152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TRM GZMK 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0D2070D-50D6-45DE-B8F7-D6581663B4BB}"/>
              </a:ext>
            </a:extLst>
          </p:cNvPr>
          <p:cNvSpPr/>
          <p:nvPr/>
        </p:nvSpPr>
        <p:spPr>
          <a:xfrm>
            <a:off x="9884833" y="3938811"/>
            <a:ext cx="152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TRM GZMK </a:t>
            </a:r>
            <a:endParaRPr 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E8C3A0A-65DC-492A-AF36-D1C9BAB678CE}"/>
              </a:ext>
            </a:extLst>
          </p:cNvPr>
          <p:cNvCxnSpPr>
            <a:stCxn id="4" idx="2"/>
          </p:cNvCxnSpPr>
          <p:nvPr/>
        </p:nvCxnSpPr>
        <p:spPr>
          <a:xfrm flipH="1">
            <a:off x="3355675" y="1469999"/>
            <a:ext cx="2858330" cy="298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4201630-B643-4C6D-9674-2B8DA53D8C2D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4218317" y="1469999"/>
            <a:ext cx="1995688" cy="384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F41E60F-7946-4797-8563-AE8BD8021863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5969479" y="1469999"/>
            <a:ext cx="244526" cy="384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65D40AA-A4CD-4F49-827D-348514943CDC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214005" y="1469999"/>
            <a:ext cx="583610" cy="384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DDB6FB4-5E9A-431C-8A9B-A1382B2A9373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214005" y="1469999"/>
            <a:ext cx="1834819" cy="384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9AD6107-51EF-4532-A5DC-03BF902D84B5}"/>
              </a:ext>
            </a:extLst>
          </p:cNvPr>
          <p:cNvCxnSpPr>
            <a:cxnSpLocks/>
          </p:cNvCxnSpPr>
          <p:nvPr/>
        </p:nvCxnSpPr>
        <p:spPr>
          <a:xfrm>
            <a:off x="6183678" y="1469999"/>
            <a:ext cx="3020707" cy="384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5BAB78A-8500-4226-A4FE-12550D4376BD}"/>
              </a:ext>
            </a:extLst>
          </p:cNvPr>
          <p:cNvCxnSpPr>
            <a:cxnSpLocks/>
          </p:cNvCxnSpPr>
          <p:nvPr/>
        </p:nvCxnSpPr>
        <p:spPr>
          <a:xfrm>
            <a:off x="9346232" y="2267723"/>
            <a:ext cx="2271977" cy="9496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9BAA199-674B-410B-9AF9-A8DBFA7593DD}"/>
              </a:ext>
            </a:extLst>
          </p:cNvPr>
          <p:cNvCxnSpPr>
            <a:cxnSpLocks/>
          </p:cNvCxnSpPr>
          <p:nvPr/>
        </p:nvCxnSpPr>
        <p:spPr>
          <a:xfrm>
            <a:off x="9346232" y="2258376"/>
            <a:ext cx="1135988" cy="1052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2F158B7-F9CF-49DF-B470-3FFFEE1487A1}"/>
              </a:ext>
            </a:extLst>
          </p:cNvPr>
          <p:cNvCxnSpPr>
            <a:cxnSpLocks/>
          </p:cNvCxnSpPr>
          <p:nvPr/>
        </p:nvCxnSpPr>
        <p:spPr>
          <a:xfrm flipH="1">
            <a:off x="9204385" y="2265964"/>
            <a:ext cx="141847" cy="1044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836BEA0F-C8B2-4358-B634-600A14CF8E80}"/>
              </a:ext>
            </a:extLst>
          </p:cNvPr>
          <p:cNvCxnSpPr>
            <a:cxnSpLocks/>
          </p:cNvCxnSpPr>
          <p:nvPr/>
        </p:nvCxnSpPr>
        <p:spPr>
          <a:xfrm flipH="1">
            <a:off x="8210243" y="2290613"/>
            <a:ext cx="1135989" cy="10550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C8534587-2232-4294-8C25-A7F9A5189C9F}"/>
              </a:ext>
            </a:extLst>
          </p:cNvPr>
          <p:cNvCxnSpPr>
            <a:cxnSpLocks/>
          </p:cNvCxnSpPr>
          <p:nvPr/>
        </p:nvCxnSpPr>
        <p:spPr>
          <a:xfrm flipH="1">
            <a:off x="6972072" y="2309319"/>
            <a:ext cx="2374160" cy="1043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27E1709-38CC-4019-A702-BAB52D8F09BE}"/>
              </a:ext>
            </a:extLst>
          </p:cNvPr>
          <p:cNvCxnSpPr>
            <a:cxnSpLocks/>
          </p:cNvCxnSpPr>
          <p:nvPr/>
        </p:nvCxnSpPr>
        <p:spPr>
          <a:xfrm flipH="1">
            <a:off x="7539487" y="3602564"/>
            <a:ext cx="619665" cy="336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48F41842-1764-4B4C-BE4B-3E569E31DFB4}"/>
              </a:ext>
            </a:extLst>
          </p:cNvPr>
          <p:cNvCxnSpPr>
            <a:cxnSpLocks/>
          </p:cNvCxnSpPr>
          <p:nvPr/>
        </p:nvCxnSpPr>
        <p:spPr>
          <a:xfrm>
            <a:off x="8159152" y="3594976"/>
            <a:ext cx="51091" cy="407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F72134A4-E25A-4B1F-8018-1C2649DFB9BA}"/>
              </a:ext>
            </a:extLst>
          </p:cNvPr>
          <p:cNvCxnSpPr>
            <a:cxnSpLocks/>
          </p:cNvCxnSpPr>
          <p:nvPr/>
        </p:nvCxnSpPr>
        <p:spPr>
          <a:xfrm flipH="1">
            <a:off x="8692699" y="3617739"/>
            <a:ext cx="619665" cy="336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15B084D-C4CC-4E86-B816-EA22F973675B}"/>
              </a:ext>
            </a:extLst>
          </p:cNvPr>
          <p:cNvCxnSpPr>
            <a:cxnSpLocks/>
          </p:cNvCxnSpPr>
          <p:nvPr/>
        </p:nvCxnSpPr>
        <p:spPr>
          <a:xfrm>
            <a:off x="9312364" y="3610151"/>
            <a:ext cx="51091" cy="407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AD92241-D961-4F87-8C15-4DF21E99B279}"/>
              </a:ext>
            </a:extLst>
          </p:cNvPr>
          <p:cNvCxnSpPr>
            <a:cxnSpLocks/>
          </p:cNvCxnSpPr>
          <p:nvPr/>
        </p:nvCxnSpPr>
        <p:spPr>
          <a:xfrm flipH="1">
            <a:off x="9972055" y="3622367"/>
            <a:ext cx="619665" cy="336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13490EB7-C538-4B59-BC03-E6328EBDEED5}"/>
              </a:ext>
            </a:extLst>
          </p:cNvPr>
          <p:cNvCxnSpPr>
            <a:cxnSpLocks/>
          </p:cNvCxnSpPr>
          <p:nvPr/>
        </p:nvCxnSpPr>
        <p:spPr>
          <a:xfrm>
            <a:off x="10591720" y="3614779"/>
            <a:ext cx="51091" cy="407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FA0583B0-48C2-4085-BE2A-93D8390CCA29}"/>
              </a:ext>
            </a:extLst>
          </p:cNvPr>
          <p:cNvCxnSpPr>
            <a:cxnSpLocks/>
          </p:cNvCxnSpPr>
          <p:nvPr/>
        </p:nvCxnSpPr>
        <p:spPr>
          <a:xfrm flipH="1">
            <a:off x="9710387" y="4979883"/>
            <a:ext cx="619665" cy="336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61118E65-63C3-4420-B901-C77EBA6C4F8A}"/>
              </a:ext>
            </a:extLst>
          </p:cNvPr>
          <p:cNvCxnSpPr>
            <a:cxnSpLocks/>
          </p:cNvCxnSpPr>
          <p:nvPr/>
        </p:nvCxnSpPr>
        <p:spPr>
          <a:xfrm>
            <a:off x="10330052" y="4972295"/>
            <a:ext cx="51091" cy="407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FB4922F-64D3-4F53-ACB6-BFC155D77976}"/>
              </a:ext>
            </a:extLst>
          </p:cNvPr>
          <p:cNvCxnSpPr>
            <a:cxnSpLocks/>
          </p:cNvCxnSpPr>
          <p:nvPr/>
        </p:nvCxnSpPr>
        <p:spPr>
          <a:xfrm flipH="1">
            <a:off x="10737324" y="4987471"/>
            <a:ext cx="619665" cy="336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C220DD2C-08AA-4CF6-AD16-1618D694271D}"/>
              </a:ext>
            </a:extLst>
          </p:cNvPr>
          <p:cNvCxnSpPr>
            <a:cxnSpLocks/>
          </p:cNvCxnSpPr>
          <p:nvPr/>
        </p:nvCxnSpPr>
        <p:spPr>
          <a:xfrm>
            <a:off x="11356989" y="4979883"/>
            <a:ext cx="51091" cy="407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F472ECF-3827-45A9-A0B0-7251135DE160}"/>
              </a:ext>
            </a:extLst>
          </p:cNvPr>
          <p:cNvCxnSpPr>
            <a:cxnSpLocks/>
          </p:cNvCxnSpPr>
          <p:nvPr/>
        </p:nvCxnSpPr>
        <p:spPr>
          <a:xfrm flipH="1">
            <a:off x="10437840" y="3683134"/>
            <a:ext cx="1057462" cy="9900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B412E4A9-F5E4-4AC5-BBB7-7FE7FB9B26A7}"/>
              </a:ext>
            </a:extLst>
          </p:cNvPr>
          <p:cNvCxnSpPr>
            <a:cxnSpLocks/>
          </p:cNvCxnSpPr>
          <p:nvPr/>
        </p:nvCxnSpPr>
        <p:spPr>
          <a:xfrm flipH="1">
            <a:off x="11303898" y="3699629"/>
            <a:ext cx="191404" cy="9811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52708354-3FC8-4610-AAB6-503571A16134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1508870" y="3697105"/>
            <a:ext cx="700799" cy="9786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CBA86FC3-6DB0-4152-A110-B11E004107F8}"/>
              </a:ext>
            </a:extLst>
          </p:cNvPr>
          <p:cNvCxnSpPr>
            <a:cxnSpLocks/>
          </p:cNvCxnSpPr>
          <p:nvPr/>
        </p:nvCxnSpPr>
        <p:spPr>
          <a:xfrm>
            <a:off x="11528329" y="3689509"/>
            <a:ext cx="2334320" cy="9836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EEF4A77-B3A9-4857-8514-5DECB45D5255}"/>
              </a:ext>
            </a:extLst>
          </p:cNvPr>
          <p:cNvSpPr/>
          <p:nvPr/>
        </p:nvSpPr>
        <p:spPr>
          <a:xfrm>
            <a:off x="-260473" y="3310709"/>
            <a:ext cx="68333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TransitionalB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  </a:t>
            </a:r>
            <a:r>
              <a:rPr lang="en-US" dirty="0"/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MemoryB</a:t>
            </a:r>
            <a:r>
              <a:rPr lang="en-US" dirty="0"/>
              <a:t>    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EarlyPlasma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B </a:t>
            </a:r>
            <a:r>
              <a:rPr lang="en-US" dirty="0"/>
              <a:t>  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PlasmaB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   </a:t>
            </a:r>
            <a:r>
              <a:rPr lang="en-US" dirty="0"/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ABC</a:t>
            </a:r>
            <a:r>
              <a:rPr lang="en-US" dirty="0"/>
              <a:t> </a:t>
            </a: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020F6B8E-D2AB-4B4D-9B31-248CB9257E16}"/>
              </a:ext>
            </a:extLst>
          </p:cNvPr>
          <p:cNvCxnSpPr>
            <a:cxnSpLocks/>
          </p:cNvCxnSpPr>
          <p:nvPr/>
        </p:nvCxnSpPr>
        <p:spPr>
          <a:xfrm>
            <a:off x="3015945" y="2174235"/>
            <a:ext cx="2692847" cy="1136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866FA837-615E-468A-9CA2-651CED53D7E1}"/>
              </a:ext>
            </a:extLst>
          </p:cNvPr>
          <p:cNvCxnSpPr>
            <a:cxnSpLocks/>
          </p:cNvCxnSpPr>
          <p:nvPr/>
        </p:nvCxnSpPr>
        <p:spPr>
          <a:xfrm>
            <a:off x="3015945" y="2164888"/>
            <a:ext cx="1838083" cy="1128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B1A774AC-1357-428B-B45D-0D2CC96447D2}"/>
              </a:ext>
            </a:extLst>
          </p:cNvPr>
          <p:cNvCxnSpPr>
            <a:cxnSpLocks/>
          </p:cNvCxnSpPr>
          <p:nvPr/>
        </p:nvCxnSpPr>
        <p:spPr>
          <a:xfrm flipH="1">
            <a:off x="2084348" y="2197125"/>
            <a:ext cx="931598" cy="1104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F54AE364-38AA-43DE-8351-6B2FB2966932}"/>
              </a:ext>
            </a:extLst>
          </p:cNvPr>
          <p:cNvCxnSpPr>
            <a:cxnSpLocks/>
          </p:cNvCxnSpPr>
          <p:nvPr/>
        </p:nvCxnSpPr>
        <p:spPr>
          <a:xfrm flipH="1">
            <a:off x="1038225" y="2215831"/>
            <a:ext cx="1977720" cy="1077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9477615B-A5C6-4F0C-8A72-F457A418D6D6}"/>
              </a:ext>
            </a:extLst>
          </p:cNvPr>
          <p:cNvCxnSpPr>
            <a:cxnSpLocks/>
            <a:endCxn id="68" idx="0"/>
          </p:cNvCxnSpPr>
          <p:nvPr/>
        </p:nvCxnSpPr>
        <p:spPr>
          <a:xfrm>
            <a:off x="3045491" y="2223533"/>
            <a:ext cx="110709" cy="1087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973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05F362B-DEBC-4DAF-8816-B9911E09F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104" y="156612"/>
            <a:ext cx="10504696" cy="654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440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0A7F1-094B-4EA2-B0ED-3AB386D0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4279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통계 분석 기법 정리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C2E5626-07D1-4FFC-8DAA-61A469DBEC91}"/>
              </a:ext>
            </a:extLst>
          </p:cNvPr>
          <p:cNvSpPr/>
          <p:nvPr/>
        </p:nvSpPr>
        <p:spPr>
          <a:xfrm>
            <a:off x="2649414" y="4208159"/>
            <a:ext cx="905021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ko-KR" sz="2800" dirty="0">
                <a:latin typeface="프리젠테이션 4 Regular" pitchFamily="2" charset="-127"/>
                <a:ea typeface="프리젠테이션 4 Regular" pitchFamily="2" charset="-127"/>
              </a:rPr>
              <a:t>Canonical correlation analysis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ko-KR" sz="2800" dirty="0">
                <a:latin typeface="프리젠테이션 4 Regular" pitchFamily="2" charset="-127"/>
                <a:ea typeface="프리젠테이션 4 Regular" pitchFamily="2" charset="-127"/>
              </a:rPr>
              <a:t>Sparse canonical correlation analysis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ko-KR" sz="2800" dirty="0">
                <a:latin typeface="프리젠테이션 4 Regular" pitchFamily="2" charset="-127"/>
                <a:ea typeface="프리젠테이션 4 Regular" pitchFamily="2" charset="-127"/>
              </a:rPr>
              <a:t>Partial correlation analysis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ko-KR" sz="2800" dirty="0">
                <a:latin typeface="프리젠테이션 4 Regular" pitchFamily="2" charset="-127"/>
                <a:ea typeface="프리젠테이션 4 Regular" pitchFamily="2" charset="-127"/>
              </a:rPr>
              <a:t>Partial least squares regression</a:t>
            </a:r>
          </a:p>
        </p:txBody>
      </p:sp>
    </p:spTree>
    <p:extLst>
      <p:ext uri="{BB962C8B-B14F-4D97-AF65-F5344CB8AC3E}">
        <p14:creationId xmlns:p14="http://schemas.microsoft.com/office/powerpoint/2010/main" val="2628650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Canonical correlation analysis (CCA)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3548"/>
            <a:ext cx="10515600" cy="12756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두 변수 집단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(X, Y)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가 서로 가장 강하게 함께 변하는 선형 조합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공통 축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을 찾는 분석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두 집단 사이의 관계 구조를 드러내고 해석하는 것이 핵심 목적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endParaRPr lang="ko-KR" altLang="en-US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F9B722F-8FD5-4E89-96B5-BEBBADB17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31" y="2358252"/>
            <a:ext cx="6240739" cy="337265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51BB5E4-D7BA-4C27-B553-96E567D5F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601" y="3524802"/>
            <a:ext cx="4410691" cy="98121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F8B92F5-597F-47E5-A658-30E22AFE0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602" y="2067339"/>
            <a:ext cx="5334744" cy="85737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D709E4A-A734-42D7-9070-6CCB47E79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1889" y="5125985"/>
            <a:ext cx="2572109" cy="1209844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D907C11-FF57-4437-AA5B-E541EE924907}"/>
              </a:ext>
            </a:extLst>
          </p:cNvPr>
          <p:cNvCxnSpPr/>
          <p:nvPr/>
        </p:nvCxnSpPr>
        <p:spPr>
          <a:xfrm>
            <a:off x="6251713" y="2067339"/>
            <a:ext cx="0" cy="437321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13C3024-C999-4C05-ABFA-B14BE2F61507}"/>
              </a:ext>
            </a:extLst>
          </p:cNvPr>
          <p:cNvSpPr txBox="1">
            <a:spLocks/>
          </p:cNvSpPr>
          <p:nvPr/>
        </p:nvSpPr>
        <p:spPr>
          <a:xfrm>
            <a:off x="7452001" y="2885522"/>
            <a:ext cx="4971911" cy="864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Correlation between </a:t>
            </a: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XTwx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YTwy</a:t>
            </a:r>
            <a:endParaRPr lang="en-US" altLang="ko-KR" sz="20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3FE717F9-4D59-4813-B906-BAA1EFC11077}"/>
              </a:ext>
            </a:extLst>
          </p:cNvPr>
          <p:cNvSpPr txBox="1">
            <a:spLocks/>
          </p:cNvSpPr>
          <p:nvPr/>
        </p:nvSpPr>
        <p:spPr>
          <a:xfrm>
            <a:off x="10284970" y="5905868"/>
            <a:ext cx="4277884" cy="669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정규화 항 추가</a:t>
            </a:r>
            <a:endParaRPr lang="en-US" altLang="ko-KR" sz="2000" dirty="0">
              <a:solidFill>
                <a:srgbClr val="FF0000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8A44EEDB-DFCB-4F9E-8DD8-7221CEDDC510}"/>
              </a:ext>
            </a:extLst>
          </p:cNvPr>
          <p:cNvSpPr txBox="1">
            <a:spLocks/>
          </p:cNvSpPr>
          <p:nvPr/>
        </p:nvSpPr>
        <p:spPr>
          <a:xfrm>
            <a:off x="7594462" y="4499742"/>
            <a:ext cx="4277884" cy="6693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Wx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wy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의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scale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에 영향을 받지 않으므로 </a:t>
            </a:r>
            <a:endParaRPr lang="en-US" altLang="ko-KR" sz="20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같은 식이지만 다르게 표현 </a:t>
            </a:r>
            <a:endParaRPr lang="en-US" altLang="ko-KR" sz="20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A729966-9DD8-4DDA-BEBB-8AA9AE23C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647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Canonical correlation analysis (CCA)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3727" y="1205948"/>
            <a:ext cx="10515600" cy="12756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2. Singular value decomposition(SVD)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로 풀기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3BCF600-2A94-4A4B-9234-292A5C05544B}"/>
              </a:ext>
            </a:extLst>
          </p:cNvPr>
          <p:cNvSpPr txBox="1">
            <a:spLocks/>
          </p:cNvSpPr>
          <p:nvPr/>
        </p:nvSpPr>
        <p:spPr>
          <a:xfrm>
            <a:off x="990600" y="1205948"/>
            <a:ext cx="10515600" cy="1275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Wx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Wy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구하는 방법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?</a:t>
            </a:r>
          </a:p>
          <a:p>
            <a:pPr marL="0" indent="0"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1. Eigenvalue decomposition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로 풀기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5E1826-8A91-4FF8-A195-F7E178209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85" y="2110327"/>
            <a:ext cx="4778395" cy="2088916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61BA579-6878-4E0C-BF5D-338BE6AD4364}"/>
              </a:ext>
            </a:extLst>
          </p:cNvPr>
          <p:cNvSpPr txBox="1">
            <a:spLocks/>
          </p:cNvSpPr>
          <p:nvPr/>
        </p:nvSpPr>
        <p:spPr>
          <a:xfrm>
            <a:off x="2173356" y="2834955"/>
            <a:ext cx="1643269" cy="445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eigen vector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E0E348A-D896-4C3C-A9F8-92A6075B9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85" y="4672504"/>
            <a:ext cx="1762371" cy="40010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6D28A2D-A07A-4A5E-85F0-E9726FA02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85" y="5308982"/>
            <a:ext cx="1771897" cy="371527"/>
          </a:xfrm>
          <a:prstGeom prst="rect">
            <a:avLst/>
          </a:prstGeom>
        </p:spPr>
      </p:pic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FE106B37-CCA2-4567-A28D-AF7A4C13F1EC}"/>
              </a:ext>
            </a:extLst>
          </p:cNvPr>
          <p:cNvSpPr txBox="1">
            <a:spLocks/>
          </p:cNvSpPr>
          <p:nvPr/>
        </p:nvSpPr>
        <p:spPr>
          <a:xfrm>
            <a:off x="2694312" y="5357925"/>
            <a:ext cx="3425773" cy="445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K</a:t>
            </a:r>
            <a:r>
              <a:rPr lang="ko-KR" altLang="en-US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번째 </a:t>
            </a: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canonical correlation </a:t>
            </a:r>
            <a:r>
              <a:rPr lang="ko-KR" altLang="en-US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상관계수</a:t>
            </a:r>
            <a:endParaRPr lang="en-US" altLang="ko-KR" sz="16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2FB16397-42F9-43AA-99D6-FD7C8D887F0C}"/>
              </a:ext>
            </a:extLst>
          </p:cNvPr>
          <p:cNvSpPr txBox="1">
            <a:spLocks/>
          </p:cNvSpPr>
          <p:nvPr/>
        </p:nvSpPr>
        <p:spPr>
          <a:xfrm>
            <a:off x="2746426" y="4849852"/>
            <a:ext cx="3425771" cy="445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K</a:t>
            </a:r>
            <a:r>
              <a:rPr lang="ko-KR" altLang="en-US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개의 가중치 쌍들 </a:t>
            </a: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= K</a:t>
            </a:r>
            <a:r>
              <a:rPr lang="ko-KR" altLang="en-US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개의 고유 벡터 </a:t>
            </a:r>
            <a:endParaRPr lang="en-US" altLang="ko-KR" sz="16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BB9E03E-F2F7-4919-8DD8-EF96AC5B2BC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6038"/>
          <a:stretch/>
        </p:blipFill>
        <p:spPr>
          <a:xfrm>
            <a:off x="7105485" y="3253428"/>
            <a:ext cx="4232448" cy="319284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CB5FA89-79D3-4A26-86AE-72ADC923618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4068"/>
          <a:stretch/>
        </p:blipFill>
        <p:spPr>
          <a:xfrm>
            <a:off x="6714606" y="1505975"/>
            <a:ext cx="4232448" cy="179365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0B8F4DB-CEE8-4901-B0B5-3AC3F635F0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1352" y="2562521"/>
            <a:ext cx="1476581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182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Sparse canonical correlation analysis (SCCA)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707" y="1470993"/>
            <a:ext cx="10515600" cy="4470460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기존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CCA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는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dense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함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-&gt; Penalized matrix decomposition(PMD)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에 기반해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spare canonical vectors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얻기 위한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penalized CCA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제시함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sCCA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  <a:p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PMD : rank-m approximation </a:t>
            </a:r>
          </a:p>
          <a:p>
            <a:pPr marL="0" indent="0"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en-US" altLang="ko-KR" sz="2000" dirty="0" err="1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  <a:sym typeface="Wingdings" panose="05000000000000000000" pitchFamily="2" charset="2"/>
              </a:rPr>
              <a:t>sCCA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  <a:sym typeface="Wingdings" panose="05000000000000000000" pitchFamily="2" charset="2"/>
              </a:rPr>
              <a:t>에 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  <a:sym typeface="Wingdings" panose="05000000000000000000" pitchFamily="2" charset="2"/>
              </a:rPr>
              <a:t>PMD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  <a:sym typeface="Wingdings" panose="05000000000000000000" pitchFamily="2" charset="2"/>
              </a:rPr>
              <a:t>를 적용 </a:t>
            </a:r>
            <a:endParaRPr lang="en-US" altLang="ko-KR" sz="2000" dirty="0">
              <a:highlight>
                <a:srgbClr val="FFFF00"/>
              </a:highlight>
              <a:latin typeface="프리젠테이션 4 Regular" pitchFamily="2" charset="-127"/>
              <a:ea typeface="프리젠테이션 4 Regular" pitchFamily="2" charset="-127"/>
              <a:sym typeface="Wingdings" panose="05000000000000000000" pitchFamily="2" charset="2"/>
            </a:endParaRPr>
          </a:p>
          <a:p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  <a:sym typeface="Wingdings" panose="05000000000000000000" pitchFamily="2" charset="2"/>
              </a:rPr>
              <a:t>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M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을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cross covariance matrix XYT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로 대체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u,v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는 가중치로 대체 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3D03F4A-7A99-49A1-9B50-F4266E3C8F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425"/>
          <a:stretch/>
        </p:blipFill>
        <p:spPr>
          <a:xfrm>
            <a:off x="1503523" y="3092048"/>
            <a:ext cx="2621253" cy="4077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8A1BD4-A597-47B1-B859-6F4107A359AE}"/>
              </a:ext>
            </a:extLst>
          </p:cNvPr>
          <p:cNvSpPr txBox="1"/>
          <p:nvPr/>
        </p:nvSpPr>
        <p:spPr>
          <a:xfrm>
            <a:off x="9319590" y="5955480"/>
            <a:ext cx="2872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C1, c2: sparsity </a:t>
            </a:r>
            <a:r>
              <a:rPr lang="ko-KR" altLang="en-US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조절하는 값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B0BE64E-9A30-4EBE-BBF0-354AEE58E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981" y="5007871"/>
            <a:ext cx="7969073" cy="133096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14FFB52-B38B-4087-8C17-11C6F316E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1518" y="2360261"/>
            <a:ext cx="6152282" cy="106873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5FAE289-4499-44D6-9470-7355E2C65918}"/>
              </a:ext>
            </a:extLst>
          </p:cNvPr>
          <p:cNvSpPr/>
          <p:nvPr/>
        </p:nvSpPr>
        <p:spPr>
          <a:xfrm>
            <a:off x="8067226" y="3358163"/>
            <a:ext cx="41787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Sparsity</a:t>
            </a:r>
            <a:r>
              <a:rPr lang="ko-KR" altLang="en-US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를 </a:t>
            </a:r>
            <a:r>
              <a:rPr lang="ko-KR" altLang="en-US" dirty="0" err="1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얻는법</a:t>
            </a:r>
            <a:r>
              <a:rPr lang="en-US" altLang="ko-KR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:u, v</a:t>
            </a:r>
            <a:r>
              <a:rPr lang="ko-KR" altLang="en-US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에</a:t>
            </a:r>
            <a:r>
              <a:rPr lang="en-US" altLang="ko-KR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 Lasso </a:t>
            </a:r>
            <a:r>
              <a:rPr lang="ko-KR" altLang="en-US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규제를 더한다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023E52-A76B-4E6C-89E8-3154BF6C633A}"/>
              </a:ext>
            </a:extLst>
          </p:cNvPr>
          <p:cNvSpPr txBox="1"/>
          <p:nvPr/>
        </p:nvSpPr>
        <p:spPr>
          <a:xfrm>
            <a:off x="1038641" y="3644568"/>
            <a:ext cx="7379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 di : </a:t>
            </a:r>
            <a:r>
              <a:rPr lang="en-US" altLang="ko-KR" dirty="0" err="1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i</a:t>
            </a:r>
            <a:r>
              <a:rPr lang="en-US" altLang="ko-KR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en-US" altLang="ko-KR" dirty="0" err="1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th</a:t>
            </a:r>
            <a:r>
              <a:rPr lang="en-US" altLang="ko-KR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 leading singular value, </a:t>
            </a:r>
            <a:r>
              <a:rPr lang="en-US" altLang="ko-KR" dirty="0" err="1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ui</a:t>
            </a:r>
            <a:r>
              <a:rPr lang="en-US" altLang="ko-KR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 &amp; vi :left, right singular value</a:t>
            </a:r>
            <a:endParaRPr lang="ko-KR" altLang="en-US" dirty="0">
              <a:solidFill>
                <a:srgbClr val="FF0000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CA4CBF-D16E-46A7-8E3F-820A07E1514C}"/>
              </a:ext>
            </a:extLst>
          </p:cNvPr>
          <p:cNvSpPr/>
          <p:nvPr/>
        </p:nvSpPr>
        <p:spPr>
          <a:xfrm>
            <a:off x="7073240" y="2409245"/>
            <a:ext cx="4902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 m=1) SVD</a:t>
            </a:r>
            <a:r>
              <a:rPr lang="ko-KR" altLang="en-US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에서 첫번째 </a:t>
            </a:r>
            <a:r>
              <a:rPr lang="ko-KR" altLang="en-US" dirty="0" err="1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특잇값을</a:t>
            </a:r>
            <a:r>
              <a:rPr lang="ko-KR" altLang="en-US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 찾는 문제를 최적화 형태로</a:t>
            </a:r>
          </a:p>
        </p:txBody>
      </p:sp>
    </p:spTree>
    <p:extLst>
      <p:ext uri="{BB962C8B-B14F-4D97-AF65-F5344CB8AC3E}">
        <p14:creationId xmlns:p14="http://schemas.microsoft.com/office/powerpoint/2010/main" val="2324949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Partial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correlation analysis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3549"/>
            <a:ext cx="10515600" cy="24649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    어떤 변수를 제외한채로 두 변수 사이의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numerical relationship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을 파악하고 싶을 때 일부 특징은 제거해서 분석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X,Y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사이의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partial correlation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을 구해야 되고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Z={z1, z2, …, </a:t>
            </a: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zn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}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이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controlling variable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라고 가정할 때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</a:t>
            </a:r>
          </a:p>
          <a:p>
            <a:pPr marL="0" indent="0"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    (X,Z), (Y,Z)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이 두개의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linear regression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의 결과의 </a:t>
            </a: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잔차를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이용해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correlation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을 구한다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</a:p>
          <a:p>
            <a:pPr marL="0" indent="0">
              <a:buNone/>
            </a:pP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C4D6D2C-C2F7-4F4D-A7AD-43CF94086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234" y="2241182"/>
            <a:ext cx="3786514" cy="156550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5C17ED3-C75D-4BA5-85BE-7DDEA3BC5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544" y="3319225"/>
            <a:ext cx="800212" cy="4382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FB50AF-F185-4FAC-BD1E-2C63732164DD}"/>
              </a:ext>
            </a:extLst>
          </p:cNvPr>
          <p:cNvSpPr txBox="1"/>
          <p:nvPr/>
        </p:nvSpPr>
        <p:spPr>
          <a:xfrm>
            <a:off x="6609817" y="3371016"/>
            <a:ext cx="5049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: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벡터 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w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과 </a:t>
            </a:r>
            <a:r>
              <a:rPr lang="en-US" altLang="ko-KR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zi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사이의 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scalar product</a:t>
            </a:r>
            <a:endParaRPr lang="ko-KR" altLang="en-US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0A6C6FD-AA88-4641-AF2E-1B8E363D8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330" y="3949403"/>
            <a:ext cx="2598454" cy="8401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48058E5-1F54-4B2E-A168-3BFBF57D0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37" y="4892531"/>
            <a:ext cx="6471827" cy="17831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5D1F44-90EC-47F9-B322-41F569E97E5F}"/>
              </a:ext>
            </a:extLst>
          </p:cNvPr>
          <p:cNvSpPr txBox="1"/>
          <p:nvPr/>
        </p:nvSpPr>
        <p:spPr>
          <a:xfrm>
            <a:off x="3780478" y="4301304"/>
            <a:ext cx="5049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Z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로 설명되지 않은 부분을 계산한다 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잔차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  <a:endParaRPr lang="ko-KR" altLang="en-US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1A517-862B-4241-9ED6-36DFA1DEC266}"/>
              </a:ext>
            </a:extLst>
          </p:cNvPr>
          <p:cNvSpPr txBox="1"/>
          <p:nvPr/>
        </p:nvSpPr>
        <p:spPr>
          <a:xfrm>
            <a:off x="7401764" y="5804451"/>
            <a:ext cx="5049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잔차들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간의 </a:t>
            </a:r>
            <a:r>
              <a:rPr lang="ko-KR" altLang="en-US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피어슨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상관계수를 구한다</a:t>
            </a:r>
          </a:p>
        </p:txBody>
      </p:sp>
    </p:spTree>
    <p:extLst>
      <p:ext uri="{BB962C8B-B14F-4D97-AF65-F5344CB8AC3E}">
        <p14:creationId xmlns:p14="http://schemas.microsoft.com/office/powerpoint/2010/main" val="2851829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Partial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least squares regression (PLSR)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102"/>
            <a:ext cx="10515600" cy="854569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설명변수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X,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반응변수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Y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동시에 저차원으로 투영해서 그 투영 점수들 사이의 공분산이 최대가 되도록 성분을 뽑아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Y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회귀하는 방법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C685F96-0930-46CF-AA0A-5A9789B00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490" y="4018686"/>
            <a:ext cx="4248743" cy="53347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63D50A1-26F8-4A49-96E1-B54120F178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870" b="18766"/>
          <a:stretch/>
        </p:blipFill>
        <p:spPr>
          <a:xfrm>
            <a:off x="980304" y="3025449"/>
            <a:ext cx="4407059" cy="4527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9F52F64-703A-453D-928E-4C9D05369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960" y="2351572"/>
            <a:ext cx="4329647" cy="359733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A33E04F-6873-4E92-84CA-48CB18A42D8D}"/>
              </a:ext>
            </a:extLst>
          </p:cNvPr>
          <p:cNvSpPr txBox="1">
            <a:spLocks/>
          </p:cNvSpPr>
          <p:nvPr/>
        </p:nvSpPr>
        <p:spPr>
          <a:xfrm>
            <a:off x="5198875" y="3173364"/>
            <a:ext cx="4734339" cy="434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설명변수의 선형결합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BD84DE00-6849-417C-8117-90E34054C097}"/>
              </a:ext>
            </a:extLst>
          </p:cNvPr>
          <p:cNvSpPr txBox="1">
            <a:spLocks/>
          </p:cNvSpPr>
          <p:nvPr/>
        </p:nvSpPr>
        <p:spPr>
          <a:xfrm>
            <a:off x="5758780" y="2533519"/>
            <a:ext cx="4734339" cy="434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설명변수의 데이터 개수는 </a:t>
            </a: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n</a:t>
            </a:r>
            <a:r>
              <a:rPr lang="ko-KR" altLang="en-US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개</a:t>
            </a: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변수의 개수는 </a:t>
            </a: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p</a:t>
            </a:r>
            <a:r>
              <a:rPr lang="ko-KR" altLang="en-US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개 </a:t>
            </a: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en-US" altLang="ko-KR" sz="16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nxp</a:t>
            </a: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형태</a:t>
            </a: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  <a:endParaRPr lang="ko-KR" altLang="en-US" sz="16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1A771BB-4060-4089-94D0-06A4F145BDEC}"/>
              </a:ext>
            </a:extLst>
          </p:cNvPr>
          <p:cNvSpPr txBox="1">
            <a:spLocks/>
          </p:cNvSpPr>
          <p:nvPr/>
        </p:nvSpPr>
        <p:spPr>
          <a:xfrm>
            <a:off x="1735015" y="4883502"/>
            <a:ext cx="11394686" cy="854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기준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1)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X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와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w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의 선형결합인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t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의 분산을 최대화하는 축을 찾는다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기준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2) t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와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Y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의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correlation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도 최대화한다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5F90775-EB6C-4E20-BDFF-34187AEC9DD1}"/>
              </a:ext>
            </a:extLst>
          </p:cNvPr>
          <p:cNvSpPr txBox="1">
            <a:spLocks/>
          </p:cNvSpPr>
          <p:nvPr/>
        </p:nvSpPr>
        <p:spPr>
          <a:xfrm>
            <a:off x="480518" y="5913724"/>
            <a:ext cx="11394686" cy="854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ko-KR" altLang="en-US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7593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Task1. 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102"/>
            <a:ext cx="10253870" cy="8545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질환이 없는 사람의 내장 지방 조직의 염증 반응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 (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면역세포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dirty="0" err="1">
                <a:latin typeface="프리젠테이션 4 Regular" pitchFamily="2" charset="-127"/>
                <a:ea typeface="프리젠테이션 4 Regular" pitchFamily="2" charset="-127"/>
              </a:rPr>
              <a:t>바이오마커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endParaRPr lang="en-US" altLang="ko-KR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&amp;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나이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에 따라 어떻게 달라질지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CD67F2-FFBE-4189-8675-2BB1E54DF65A}"/>
              </a:ext>
            </a:extLst>
          </p:cNvPr>
          <p:cNvSpPr txBox="1"/>
          <p:nvPr/>
        </p:nvSpPr>
        <p:spPr>
          <a:xfrm>
            <a:off x="923064" y="2434394"/>
            <a:ext cx="108962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분석 계획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: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나이에 초점을 맞춰서 나이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&lt;-&gt;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염증반응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457200" indent="-457200">
              <a:buAutoNum type="arabicPeriod"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Partial correlation analysis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이용해 </a:t>
            </a: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covar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을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BMI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로 두어서 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correction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한 후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각 면역세포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&amp;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나이와 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partial correlation 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분석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일대일로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  <a:p>
            <a:pPr marL="457200" indent="-457200">
              <a:buAutoNum type="arabicPeriod"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457200" indent="-457200">
              <a:buAutoNum type="arabicPeriod"/>
            </a:pP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Partial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Least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Squares Regression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9813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Task2. 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102"/>
            <a:ext cx="10253870" cy="8545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질환이 없는 사람의 내장 지방 조직의 염증 반응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 (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면역세포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dirty="0" err="1">
                <a:latin typeface="프리젠테이션 4 Regular" pitchFamily="2" charset="-127"/>
                <a:ea typeface="프리젠테이션 4 Regular" pitchFamily="2" charset="-127"/>
              </a:rPr>
              <a:t>바이오마커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endParaRPr lang="en-US" altLang="ko-KR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&amp;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환자의 대사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간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신장 기능 평가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와 어떤 관계를 보이는지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54D12-ED08-4983-A9F9-FA19CB87681B}"/>
              </a:ext>
            </a:extLst>
          </p:cNvPr>
          <p:cNvSpPr txBox="1"/>
          <p:nvPr/>
        </p:nvSpPr>
        <p:spPr>
          <a:xfrm>
            <a:off x="838200" y="2498031"/>
            <a:ext cx="104162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분석 계획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: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염증반응 면역세포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&lt;-&gt;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대사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/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간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/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신장 기능 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457200" indent="-457200">
              <a:buAutoNum type="arabicPeriod"/>
            </a:pP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Sparse CCA</a:t>
            </a:r>
          </a:p>
          <a:p>
            <a:pPr marL="457200" indent="-457200">
              <a:buAutoNum type="arabicPeriod"/>
            </a:pPr>
            <a:endParaRPr lang="en-US" altLang="ko-KR" sz="2000" dirty="0">
              <a:highlight>
                <a:srgbClr val="FFFF00"/>
              </a:highlight>
              <a:latin typeface="프리젠테이션 4 Regular" pitchFamily="2" charset="-127"/>
              <a:ea typeface="프리젠테이션 4 Regular" pitchFamily="2" charset="-127"/>
            </a:endParaRPr>
          </a:p>
          <a:p>
            <a:pPr marL="457200" indent="-457200">
              <a:buAutoNum type="arabicPeriod"/>
            </a:pP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Partial least squares regression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으로 다대다 분석 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457200" indent="-457200">
              <a:buAutoNum type="arabicPeriod"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457200" indent="-457200">
              <a:buAutoNum type="arabicPeriod"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Partial correlation analysis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로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 나이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/BMI 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통제 후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상관관계 분석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endParaRPr lang="en-US" altLang="ko-KR" sz="2000" dirty="0">
              <a:highlight>
                <a:srgbClr val="FFFF00"/>
              </a:highlight>
              <a:latin typeface="프리젠테이션 4 Regular" pitchFamily="2" charset="-127"/>
              <a:ea typeface="프리젠테이션 4 Regular" pitchFamily="2" charset="-127"/>
            </a:endParaRPr>
          </a:p>
          <a:p>
            <a:endParaRPr lang="en-US" altLang="ko-KR" sz="2000" dirty="0">
              <a:highlight>
                <a:srgbClr val="FFFF00"/>
              </a:highlight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829ED6-97A1-4BD4-A460-BF0FA148E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8969" y="952346"/>
            <a:ext cx="2014163" cy="569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2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0A7F1-094B-4EA2-B0ED-3AB386D0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결과</a:t>
            </a:r>
            <a:b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Task1</a:t>
            </a:r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9832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Task1. PAN% </a:t>
            </a:r>
            <a:r>
              <a:rPr lang="ko-KR" altLang="en-US" dirty="0"/>
              <a:t>↔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 Age, partial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correlation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analysis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637" y="1016850"/>
            <a:ext cx="10515600" cy="3430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각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PAN%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&amp; 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나이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와 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partial correlation 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분석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일대일로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  <a:p>
            <a:pPr marL="0" indent="0"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FE71F43-6A34-4415-A038-A510DFAE4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071239"/>
              </p:ext>
            </p:extLst>
          </p:nvPr>
        </p:nvGraphicFramePr>
        <p:xfrm>
          <a:off x="1434164" y="2156801"/>
          <a:ext cx="8851356" cy="422474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75226">
                  <a:extLst>
                    <a:ext uri="{9D8B030D-6E8A-4147-A177-3AD203B41FA5}">
                      <a16:colId xmlns:a16="http://schemas.microsoft.com/office/drawing/2014/main" val="3817914715"/>
                    </a:ext>
                  </a:extLst>
                </a:gridCol>
                <a:gridCol w="1475226">
                  <a:extLst>
                    <a:ext uri="{9D8B030D-6E8A-4147-A177-3AD203B41FA5}">
                      <a16:colId xmlns:a16="http://schemas.microsoft.com/office/drawing/2014/main" val="403642707"/>
                    </a:ext>
                  </a:extLst>
                </a:gridCol>
                <a:gridCol w="1475226">
                  <a:extLst>
                    <a:ext uri="{9D8B030D-6E8A-4147-A177-3AD203B41FA5}">
                      <a16:colId xmlns:a16="http://schemas.microsoft.com/office/drawing/2014/main" val="2892634231"/>
                    </a:ext>
                  </a:extLst>
                </a:gridCol>
                <a:gridCol w="1475226">
                  <a:extLst>
                    <a:ext uri="{9D8B030D-6E8A-4147-A177-3AD203B41FA5}">
                      <a16:colId xmlns:a16="http://schemas.microsoft.com/office/drawing/2014/main" val="2291883617"/>
                    </a:ext>
                  </a:extLst>
                </a:gridCol>
                <a:gridCol w="1475226">
                  <a:extLst>
                    <a:ext uri="{9D8B030D-6E8A-4147-A177-3AD203B41FA5}">
                      <a16:colId xmlns:a16="http://schemas.microsoft.com/office/drawing/2014/main" val="3169242423"/>
                    </a:ext>
                  </a:extLst>
                </a:gridCol>
                <a:gridCol w="1475226">
                  <a:extLst>
                    <a:ext uri="{9D8B030D-6E8A-4147-A177-3AD203B41FA5}">
                      <a16:colId xmlns:a16="http://schemas.microsoft.com/office/drawing/2014/main" val="4222895381"/>
                    </a:ext>
                  </a:extLst>
                </a:gridCol>
              </a:tblGrid>
              <a:tr h="4974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PAN%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covar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Correlation 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r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CI95%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 p-</a:t>
                      </a:r>
                      <a:r>
                        <a:rPr lang="en-US" altLang="ko-KR" sz="1100" dirty="0" err="1"/>
                        <a:t>val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25752"/>
                  </a:ext>
                </a:extLst>
              </a:tr>
              <a:tr h="2743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pearson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1200" dirty="0">
                          <a:effectLst/>
                        </a:rPr>
                        <a:t>0.132268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1200" dirty="0">
                          <a:effectLst/>
                        </a:rPr>
                        <a:t>[-0.18, 0.42]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1200" dirty="0">
                          <a:effectLst/>
                        </a:rPr>
                        <a:t>0.397829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259529"/>
                  </a:ext>
                </a:extLst>
              </a:tr>
              <a:tr h="2841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CD11b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pearson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1200" dirty="0">
                          <a:effectLst/>
                        </a:rPr>
                        <a:t>-0.253556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effectLst/>
                        </a:rPr>
                        <a:t>[-0.51, 0.05]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effectLst/>
                        </a:rPr>
                        <a:t>0.100876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01143451"/>
                  </a:ext>
                </a:extLst>
              </a:tr>
              <a:tr h="2743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HLADR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pearson</a:t>
                      </a:r>
                      <a:endParaRPr lang="ko-KR" altLang="en-US" sz="11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effectLst/>
                        </a:rPr>
                        <a:t>-0.305647</a:t>
                      </a: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kern="1200" dirty="0">
                          <a:effectLst/>
                        </a:rPr>
                        <a:t>[-0.56, -0.01]</a:t>
                      </a:r>
                      <a:endParaRPr lang="ko-KR" altLang="en-US" sz="1100" dirty="0">
                        <a:effectLst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effectLst/>
                        </a:rPr>
                        <a:t>0.046241</a:t>
                      </a: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79066"/>
                  </a:ext>
                </a:extLst>
              </a:tr>
              <a:tr h="2743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NK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pearson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1200" dirty="0">
                          <a:effectLst/>
                        </a:rPr>
                        <a:t>-0.231679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effectLst/>
                        </a:rPr>
                        <a:t>[-0.5, 0.07]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effectLst/>
                        </a:rPr>
                        <a:t>0.134947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897869477"/>
                  </a:ext>
                </a:extLst>
              </a:tr>
              <a:tr h="292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NKT1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pearson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1200" dirty="0">
                          <a:effectLst/>
                        </a:rPr>
                        <a:t>-0.138999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1200" dirty="0">
                          <a:effectLst/>
                        </a:rPr>
                        <a:t>[-0.42, 0.17]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effectLst/>
                        </a:rPr>
                        <a:t>0.374033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51693064"/>
                  </a:ext>
                </a:extLst>
              </a:tr>
              <a:tr h="2743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T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pearson</a:t>
                      </a:r>
                      <a:endParaRPr lang="ko-KR" altLang="en-US" sz="11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0.353325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[0.06, 0.59]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effectLst/>
                        </a:rPr>
                        <a:t>0.020117</a:t>
                      </a: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29638"/>
                  </a:ext>
                </a:extLst>
              </a:tr>
              <a:tr h="3526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 + SEX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pearson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0.10035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[-0.21, 0.39]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0.527183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857672"/>
                  </a:ext>
                </a:extLst>
              </a:tr>
              <a:tr h="3526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CD11b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 + SEX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err="1"/>
                        <a:t>pearson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-0.262178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[-0.52, 0.05]</a:t>
                      </a:r>
                      <a:endParaRPr lang="en-US" altLang="ko-KR" sz="1100" dirty="0">
                        <a:effectLst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0.093481</a:t>
                      </a:r>
                      <a:endParaRPr lang="en-US" altLang="ko-KR" sz="1100" dirty="0">
                        <a:effectLst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667451"/>
                  </a:ext>
                </a:extLst>
              </a:tr>
              <a:tr h="2903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HLADR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 + SEX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pearson</a:t>
                      </a:r>
                      <a:endParaRPr lang="ko-KR" altLang="en-US" sz="11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-0.323769</a:t>
                      </a:r>
                      <a:endParaRPr lang="en-US" altLang="ko-KR" sz="1100" dirty="0">
                        <a:effectLst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[-0.57, -0.02]</a:t>
                      </a:r>
                      <a:endParaRPr lang="ko-KR" altLang="en-US" sz="1100" dirty="0">
                        <a:effectLst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0.03647</a:t>
                      </a:r>
                      <a:endParaRPr lang="en-US" altLang="ko-KR" sz="1100" dirty="0">
                        <a:effectLst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241846"/>
                  </a:ext>
                </a:extLst>
              </a:tr>
              <a:tr h="3526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NK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 + SEX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pearson</a:t>
                      </a:r>
                      <a:endParaRPr lang="ko-KR" alt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-0.202946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[-0.48, 0.11]</a:t>
                      </a:r>
                      <a:endParaRPr lang="en-US" altLang="ko-KR" sz="1100" dirty="0">
                        <a:effectLst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0.197393</a:t>
                      </a:r>
                      <a:endParaRPr lang="en-US" altLang="ko-KR" sz="1100" dirty="0">
                        <a:effectLst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683042"/>
                  </a:ext>
                </a:extLst>
              </a:tr>
              <a:tr h="3526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NKT1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 + SEX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pearson</a:t>
                      </a:r>
                      <a:endParaRPr lang="ko-KR" altLang="en-US" sz="11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-0.120495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[-0.41, 0.19]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0.447189</a:t>
                      </a:r>
                      <a:endParaRPr lang="en-US" altLang="ko-KR" sz="1100" dirty="0">
                        <a:effectLst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941834"/>
                  </a:ext>
                </a:extLst>
              </a:tr>
              <a:tr h="3526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T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 + SEX</a:t>
                      </a:r>
                      <a:endParaRPr lang="ko-KR" altLang="en-US" sz="11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pearson</a:t>
                      </a:r>
                      <a:endParaRPr lang="ko-KR" altLang="en-US" sz="11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0.348037</a:t>
                      </a:r>
                      <a:endParaRPr lang="en-US" altLang="ko-KR" sz="1100" dirty="0">
                        <a:effectLst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[0.05, 0.59]</a:t>
                      </a:r>
                      <a:endParaRPr lang="ko-KR" altLang="en-US" sz="1100" dirty="0">
                        <a:effectLst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0.023908</a:t>
                      </a:r>
                      <a:endParaRPr lang="en-US" altLang="ko-KR" sz="1100" dirty="0">
                        <a:effectLst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252989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61DEFA81-D3E8-4ECF-A4C3-58A5AD829B83}"/>
              </a:ext>
            </a:extLst>
          </p:cNvPr>
          <p:cNvSpPr/>
          <p:nvPr/>
        </p:nvSpPr>
        <p:spPr>
          <a:xfrm>
            <a:off x="946637" y="1455656"/>
            <a:ext cx="10132041" cy="46016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>
                <a:latin typeface="프리젠테이션 4 Regular" pitchFamily="2" charset="-127"/>
                <a:ea typeface="프리젠테이션 4 Regular" pitchFamily="2" charset="-127"/>
              </a:rPr>
              <a:t>CI95%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 지표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: 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부분상관계수 𝑟에 대한 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95% 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신뢰구간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(Confidence Interval)- 0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을 포함하지 않으면 유의미한 결과라고 판단</a:t>
            </a:r>
            <a:endParaRPr lang="en-US" altLang="ko-KR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5379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Task1. PAN% </a:t>
            </a:r>
            <a:r>
              <a:rPr lang="ko-KR" altLang="en-US" sz="3600" dirty="0"/>
              <a:t>↔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 Age , partial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least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squares regression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3548"/>
            <a:ext cx="10515600" cy="8545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PAN% &amp; 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나이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사이의 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Partial least squares regression </a:t>
            </a:r>
          </a:p>
          <a:p>
            <a:pPr marL="0" indent="0"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+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결과가 </a:t>
            </a: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유의미한지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알기 위한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permutation test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까지 진행 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41E0AD0-A950-43AA-B22A-F32FC875F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323" y="2079625"/>
            <a:ext cx="4564339" cy="35517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DF67EED-F879-46EF-AA16-29722D751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08117"/>
            <a:ext cx="4439908" cy="3613070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85F88A0-7510-4667-95FC-752188273F31}"/>
              </a:ext>
            </a:extLst>
          </p:cNvPr>
          <p:cNvSpPr txBox="1">
            <a:spLocks/>
          </p:cNvSpPr>
          <p:nvPr/>
        </p:nvSpPr>
        <p:spPr>
          <a:xfrm>
            <a:off x="6418385" y="5802854"/>
            <a:ext cx="10515600" cy="854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-&gt;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유의미하지 않았음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7897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Task1. </a:t>
            </a:r>
            <a:r>
              <a:rPr lang="en-US" altLang="ko-KR" sz="3600" dirty="0" err="1">
                <a:latin typeface="프리젠테이션 5 Medium" pitchFamily="2" charset="-127"/>
                <a:ea typeface="프리젠테이션 5 Medium" pitchFamily="2" charset="-127"/>
              </a:rPr>
              <a:t>Tcell</a:t>
            </a:r>
            <a:r>
              <a:rPr lang="ko-KR" altLang="en-US" sz="3600" dirty="0"/>
              <a:t>↔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 Age partial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correlation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analysis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3548"/>
            <a:ext cx="10515600" cy="8545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Tcell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소분류에는 </a:t>
            </a: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결측치가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존재함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–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먼저 </a:t>
            </a: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결측치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처리를 한 후에 분석을 진행 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BMI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통제변수로 둔 후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T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세포의 소분류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&amp; 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나이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partial correlation analysis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로 분석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73E7DCA-99F2-4316-8B72-0113BF86FC2E}"/>
              </a:ext>
            </a:extLst>
          </p:cNvPr>
          <p:cNvSpPr txBox="1">
            <a:spLocks/>
          </p:cNvSpPr>
          <p:nvPr/>
        </p:nvSpPr>
        <p:spPr>
          <a:xfrm>
            <a:off x="838200" y="1908117"/>
            <a:ext cx="10515600" cy="1104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결측치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처리한 방법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457200" indent="-457200">
              <a:buAutoNum type="arabicPeriod"/>
            </a:pP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결측치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존재하는 행 삭제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– 35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명으로 진행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endParaRPr lang="en-US" altLang="ko-KR" sz="16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BDBF201-56E6-48F7-BD28-031AAF03376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12215" y="2762686"/>
          <a:ext cx="9180000" cy="343178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836000">
                  <a:extLst>
                    <a:ext uri="{9D8B030D-6E8A-4147-A177-3AD203B41FA5}">
                      <a16:colId xmlns:a16="http://schemas.microsoft.com/office/drawing/2014/main" val="3817914715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892634231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291883617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3169242423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4222895381"/>
                    </a:ext>
                  </a:extLst>
                </a:gridCol>
              </a:tblGrid>
              <a:tr h="2677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PAN%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Correlation 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CI95%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 p-</a:t>
                      </a:r>
                      <a:r>
                        <a:rPr lang="en-US" altLang="ko-KR" sz="1600" dirty="0" err="1"/>
                        <a:t>val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2575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NKT2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-0.421784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[-0.67, -0.1]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0.012971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259529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MAIT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-0.190525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[-0.5, 0.16]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0.280422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0114345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gd1T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-0.276126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[-0.56, 0.07]</a:t>
                      </a:r>
                      <a:endParaRPr lang="ko-KR" altLang="en-US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0.113932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179066"/>
                  </a:ext>
                </a:extLst>
              </a:tr>
              <a:tr h="6581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gd2T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-0.282655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[-0.57, 0.06]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0.105292 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897869477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ConvT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-0.491285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[0.18, 0.71]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0.003173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693064"/>
                  </a:ext>
                </a:extLst>
              </a:tr>
            </a:tbl>
          </a:graphicData>
        </a:graphic>
      </p:graphicFrame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B8D5BC7-EA80-486D-9200-4C608513952B}"/>
              </a:ext>
            </a:extLst>
          </p:cNvPr>
          <p:cNvSpPr txBox="1">
            <a:spLocks/>
          </p:cNvSpPr>
          <p:nvPr/>
        </p:nvSpPr>
        <p:spPr>
          <a:xfrm>
            <a:off x="744415" y="6297344"/>
            <a:ext cx="10515600" cy="854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NKT2, </a:t>
            </a: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ConvT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상관관계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938328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Task1. </a:t>
            </a:r>
            <a:r>
              <a:rPr lang="en-US" altLang="ko-KR" sz="3600" dirty="0" err="1">
                <a:latin typeface="프리젠테이션 5 Medium" pitchFamily="2" charset="-127"/>
                <a:ea typeface="프리젠테이션 5 Medium" pitchFamily="2" charset="-127"/>
              </a:rPr>
              <a:t>Tcell</a:t>
            </a:r>
            <a:r>
              <a:rPr lang="ko-KR" altLang="en-US" sz="3600" dirty="0"/>
              <a:t>↔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 Age partial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correlation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analysis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3548"/>
            <a:ext cx="10515600" cy="8545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Tcell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소분류에는 </a:t>
            </a: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결측치가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존재함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–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먼저 </a:t>
            </a: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결측치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처리를 한 후에 분석을 진행 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BMI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통제변수로 둔 후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T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세포의 소분류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&amp; 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나이 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partial correlation analysis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로 분석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73E7DCA-99F2-4316-8B72-0113BF86FC2E}"/>
              </a:ext>
            </a:extLst>
          </p:cNvPr>
          <p:cNvSpPr txBox="1">
            <a:spLocks/>
          </p:cNvSpPr>
          <p:nvPr/>
        </p:nvSpPr>
        <p:spPr>
          <a:xfrm>
            <a:off x="838200" y="1908117"/>
            <a:ext cx="10515600" cy="1104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결측치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처리한 방법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    2. </a:t>
            </a: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결측치를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다중대체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(MICE-</a:t>
            </a: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miceforest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사용한 결과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5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개의 평균을 내 대체함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BDBF201-56E6-48F7-BD28-031AAF033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557361"/>
              </p:ext>
            </p:extLst>
          </p:nvPr>
        </p:nvGraphicFramePr>
        <p:xfrm>
          <a:off x="1412215" y="2762686"/>
          <a:ext cx="9180000" cy="343178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836000">
                  <a:extLst>
                    <a:ext uri="{9D8B030D-6E8A-4147-A177-3AD203B41FA5}">
                      <a16:colId xmlns:a16="http://schemas.microsoft.com/office/drawing/2014/main" val="3817914715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892634231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291883617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3169242423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4222895381"/>
                    </a:ext>
                  </a:extLst>
                </a:gridCol>
              </a:tblGrid>
              <a:tr h="2677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PAN%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Correlation 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CI95%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 p-</a:t>
                      </a:r>
                      <a:r>
                        <a:rPr lang="en-US" altLang="ko-KR" sz="1600" dirty="0" err="1"/>
                        <a:t>val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2575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NKT2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-0.460527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[-0.67, -0.19]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0.001886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259529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MAIT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-0.20576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[-0.48, 0.1]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0.185598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0114345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gd1T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-0.288796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[-0.54, 0.01]</a:t>
                      </a:r>
                      <a:endParaRPr lang="ko-KR" altLang="en-US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0.060354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179066"/>
                  </a:ext>
                </a:extLst>
              </a:tr>
              <a:tr h="6581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gd2T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-0.306314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[-0.56, -0.01]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0.045743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869477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ConvT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0.527967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[0.27, 0.71]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0.000274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693064"/>
                  </a:ext>
                </a:extLst>
              </a:tr>
            </a:tbl>
          </a:graphicData>
        </a:graphic>
      </p:graphicFrame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628FCD9-A631-4015-81DC-CE9D911C5CD0}"/>
              </a:ext>
            </a:extLst>
          </p:cNvPr>
          <p:cNvSpPr txBox="1">
            <a:spLocks/>
          </p:cNvSpPr>
          <p:nvPr/>
        </p:nvSpPr>
        <p:spPr>
          <a:xfrm>
            <a:off x="744415" y="6308774"/>
            <a:ext cx="10515600" cy="854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NKT2, gd2T, </a:t>
            </a: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ConvT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상관관계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964614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Task1. CD20T</a:t>
            </a:r>
            <a:r>
              <a:rPr lang="ko-KR" altLang="en-US" dirty="0"/>
              <a:t>↔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 Age, partial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correlation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analysis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637" y="1016850"/>
            <a:ext cx="10515600" cy="3430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BMI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통제변수로 둔 후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CD20T&amp; 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나이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와 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partial correlation 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분석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일대일로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  <a:p>
            <a:pPr marL="0" indent="0"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FE71F43-6A34-4415-A038-A510DFAE4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239184"/>
              </p:ext>
            </p:extLst>
          </p:nvPr>
        </p:nvGraphicFramePr>
        <p:xfrm>
          <a:off x="1506000" y="1705273"/>
          <a:ext cx="9180000" cy="10668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836000">
                  <a:extLst>
                    <a:ext uri="{9D8B030D-6E8A-4147-A177-3AD203B41FA5}">
                      <a16:colId xmlns:a16="http://schemas.microsoft.com/office/drawing/2014/main" val="3817914715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892634231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291883617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3169242423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4222895381"/>
                    </a:ext>
                  </a:extLst>
                </a:gridCol>
              </a:tblGrid>
              <a:tr h="2677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T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Correlation 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CI95%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 p-</a:t>
                      </a:r>
                      <a:r>
                        <a:rPr lang="en-US" altLang="ko-KR" sz="1600" dirty="0" err="1"/>
                        <a:t>val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25752"/>
                  </a:ext>
                </a:extLst>
              </a:tr>
              <a:tr h="3403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CD20T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pearson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0.220541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[-0.09, 0.49]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0.155277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259529"/>
                  </a:ext>
                </a:extLst>
              </a:tr>
              <a:tr h="3403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CD20T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spearman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0.152191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[-0.2, 0.47]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0.390203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198828"/>
                  </a:ext>
                </a:extLst>
              </a:tr>
            </a:tbl>
          </a:graphicData>
        </a:graphic>
      </p:graphicFrame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A22978E-3315-4837-8DA5-E1E977407C9A}"/>
              </a:ext>
            </a:extLst>
          </p:cNvPr>
          <p:cNvSpPr txBox="1">
            <a:spLocks/>
          </p:cNvSpPr>
          <p:nvPr/>
        </p:nvSpPr>
        <p:spPr>
          <a:xfrm>
            <a:off x="1505437" y="5841150"/>
            <a:ext cx="10515600" cy="975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P-value &gt;0.05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여서 상관관계가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x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435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Task1. B cell </a:t>
            </a:r>
            <a:r>
              <a:rPr lang="ko-KR" altLang="en-US" dirty="0"/>
              <a:t>↔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 Age, partial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correlation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analysis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637" y="1016850"/>
            <a:ext cx="10515600" cy="975852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BMI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통제변수로 둔 후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Bcell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소분류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&amp; 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나이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와 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partial correlation 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분석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일대일로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  <a:p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B cell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소분류에는 </a:t>
            </a: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결측치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x</a:t>
            </a:r>
          </a:p>
          <a:p>
            <a:pPr marL="0" indent="0"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B4EF0FA-A7AF-4630-92D5-502680BD3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876728"/>
              </p:ext>
            </p:extLst>
          </p:nvPr>
        </p:nvGraphicFramePr>
        <p:xfrm>
          <a:off x="1400926" y="2277264"/>
          <a:ext cx="9180000" cy="343178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836000">
                  <a:extLst>
                    <a:ext uri="{9D8B030D-6E8A-4147-A177-3AD203B41FA5}">
                      <a16:colId xmlns:a16="http://schemas.microsoft.com/office/drawing/2014/main" val="3817914715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892634231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291883617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3169242423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4222895381"/>
                    </a:ext>
                  </a:extLst>
                </a:gridCol>
              </a:tblGrid>
              <a:tr h="2677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</a:t>
                      </a:r>
                      <a:r>
                        <a:rPr lang="ko-KR" altLang="en-US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cell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Correlation 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CI95%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 p-</a:t>
                      </a:r>
                      <a:r>
                        <a:rPr lang="en-US" altLang="ko-KR" sz="1600" dirty="0" err="1"/>
                        <a:t>val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2575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Transitional B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-0.202703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[-0.47, 0.1]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0.192361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259529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Memory B 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0.062199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[-0.24, 0.36]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0.691935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0114345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Early Plasma B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0.107399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[-0.2, 0.4]</a:t>
                      </a:r>
                      <a:endParaRPr lang="ko-KR" altLang="en-US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0.493031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179066"/>
                  </a:ext>
                </a:extLst>
              </a:tr>
              <a:tr h="6581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Plasma B 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0.266983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[-0.04, 0.53]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0.083504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69477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ABC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0.021281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[-0.28, 0.32]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0.892256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693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7802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Task1. </a:t>
            </a:r>
            <a:r>
              <a:rPr lang="en-US" altLang="ko-KR" sz="3600" dirty="0" err="1">
                <a:latin typeface="프리젠테이션 5 Medium" pitchFamily="2" charset="-127"/>
                <a:ea typeface="프리젠테이션 5 Medium" pitchFamily="2" charset="-127"/>
              </a:rPr>
              <a:t>ConvT</a:t>
            </a:r>
            <a:r>
              <a:rPr lang="ko-KR" altLang="en-US" dirty="0"/>
              <a:t>↔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 Age, partial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correlation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analysis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637" y="1016850"/>
            <a:ext cx="10515600" cy="1943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ConvT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소분류에는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6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명 </a:t>
            </a: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결측치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BMI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통제변수로 둔 후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ConvT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소분류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&amp; 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나이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와 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partial correlation 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분석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일대일로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  <a:p>
            <a:pPr marL="0" indent="0"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1014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0A7F1-094B-4EA2-B0ED-3AB386D0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결과</a:t>
            </a:r>
            <a:b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Task2</a:t>
            </a:r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68290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Task2. 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간신장대사 지표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&amp; 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면역세포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Sparse CCA 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234" y="1053548"/>
            <a:ext cx="10515600" cy="8545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간 신장 대사 지표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&amp; 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면역세포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-&gt; 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sCCA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로 분석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9051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2364</TotalTime>
  <Words>1415</Words>
  <Application>Microsoft Office PowerPoint</Application>
  <PresentationFormat>와이드스크린</PresentationFormat>
  <Paragraphs>314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1" baseType="lpstr">
      <vt:lpstr>맑은 고딕</vt:lpstr>
      <vt:lpstr>프리젠테이션 3 Light</vt:lpstr>
      <vt:lpstr>프리젠테이션 4 Regular</vt:lpstr>
      <vt:lpstr>프리젠테이션 5 Medium</vt:lpstr>
      <vt:lpstr>Arial</vt:lpstr>
      <vt:lpstr>Calibri</vt:lpstr>
      <vt:lpstr>Wingdings</vt:lpstr>
      <vt:lpstr>Office 테마</vt:lpstr>
      <vt:lpstr>데이터셋 이해</vt:lpstr>
      <vt:lpstr>PowerPoint 프레젠테이션</vt:lpstr>
      <vt:lpstr>PowerPoint 프레젠테이션</vt:lpstr>
      <vt:lpstr>PowerPoint 프레젠테이션</vt:lpstr>
      <vt:lpstr>PowerPoint 프레젠테이션</vt:lpstr>
      <vt:lpstr>통계 분석 기법 정리 </vt:lpstr>
      <vt:lpstr>Canonical correlation analysis (CCA)</vt:lpstr>
      <vt:lpstr>Canonical correlation analysis (CCA)</vt:lpstr>
      <vt:lpstr>Sparse canonical correlation analysis (SCCA)</vt:lpstr>
      <vt:lpstr>Partial correlation analysis</vt:lpstr>
      <vt:lpstr>Partial least squares regression (PLSR)</vt:lpstr>
      <vt:lpstr>Task1. </vt:lpstr>
      <vt:lpstr>Task2. </vt:lpstr>
      <vt:lpstr>결과 Task1</vt:lpstr>
      <vt:lpstr>Task1. PAN% ↔ Age, partial correlation analysis</vt:lpstr>
      <vt:lpstr>Task1. PAN% ↔ Age , partial least squares regression</vt:lpstr>
      <vt:lpstr>Task1. Tcell↔ Age partial correlation analysis</vt:lpstr>
      <vt:lpstr>Task1. Tcell↔ Age partial correlation analysis</vt:lpstr>
      <vt:lpstr>Task1. CD20T↔ Age, partial correlation analysis</vt:lpstr>
      <vt:lpstr>Task1. B cell ↔ Age, partial correlation analysis</vt:lpstr>
      <vt:lpstr>Task1. ConvT↔ Age, partial correlation analysis</vt:lpstr>
      <vt:lpstr>결과 Task2</vt:lpstr>
      <vt:lpstr>Task2. 간신장대사 지표 &amp; 면역세포 Sparse CCA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Partial Correlation Anaylsis</dc:title>
  <dc:creator>nva_kist</dc:creator>
  <cp:lastModifiedBy>nva_kist</cp:lastModifiedBy>
  <cp:revision>138</cp:revision>
  <dcterms:created xsi:type="dcterms:W3CDTF">2026-01-09T05:23:49Z</dcterms:created>
  <dcterms:modified xsi:type="dcterms:W3CDTF">2026-01-20T06:28:39Z</dcterms:modified>
</cp:coreProperties>
</file>