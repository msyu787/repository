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7" r:id="rId1"/>
  </p:sldMasterIdLst>
  <p:notesMasterIdLst>
    <p:notesMasterId r:id="rId26"/>
  </p:notesMasterIdLst>
  <p:handoutMasterIdLst>
    <p:handoutMasterId r:id="rId27"/>
  </p:handoutMasterIdLst>
  <p:sldIdLst>
    <p:sldId id="260" r:id="rId2"/>
    <p:sldId id="278" r:id="rId3"/>
    <p:sldId id="281" r:id="rId4"/>
    <p:sldId id="283" r:id="rId5"/>
    <p:sldId id="287" r:id="rId6"/>
    <p:sldId id="282" r:id="rId7"/>
    <p:sldId id="288" r:id="rId8"/>
    <p:sldId id="284" r:id="rId9"/>
    <p:sldId id="291" r:id="rId10"/>
    <p:sldId id="285" r:id="rId11"/>
    <p:sldId id="292" r:id="rId12"/>
    <p:sldId id="290" r:id="rId13"/>
    <p:sldId id="293" r:id="rId14"/>
    <p:sldId id="289" r:id="rId15"/>
    <p:sldId id="296" r:id="rId16"/>
    <p:sldId id="294" r:id="rId17"/>
    <p:sldId id="297" r:id="rId18"/>
    <p:sldId id="299" r:id="rId19"/>
    <p:sldId id="300" r:id="rId20"/>
    <p:sldId id="301" r:id="rId21"/>
    <p:sldId id="298" r:id="rId22"/>
    <p:sldId id="302" r:id="rId23"/>
    <p:sldId id="305" r:id="rId24"/>
    <p:sldId id="306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2D74"/>
    <a:srgbClr val="B21D1D"/>
    <a:srgbClr val="EDEEF0"/>
    <a:srgbClr val="9CCBD4"/>
    <a:srgbClr val="C9D6EA"/>
    <a:srgbClr val="97A5E1"/>
    <a:srgbClr val="4E5356"/>
    <a:srgbClr val="91A0DF"/>
    <a:srgbClr val="FDC955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70" autoAdjust="0"/>
    <p:restoredTop sz="86142" autoAdjust="0"/>
  </p:normalViewPr>
  <p:slideViewPr>
    <p:cSldViewPr snapToGrid="0">
      <p:cViewPr varScale="1">
        <p:scale>
          <a:sx n="76" d="100"/>
          <a:sy n="76" d="100"/>
        </p:scale>
        <p:origin x="897" y="57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119" d="100"/>
          <a:sy n="119" d="100"/>
        </p:scale>
        <p:origin x="506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1953462F-B019-4552-9721-DA5D1DA0C75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073F97A-7407-4988-A729-9FBC4F74266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180FA3-34BB-47BB-9465-2E5C637FC2B4}" type="datetimeFigureOut">
              <a:rPr lang="ko-KR" altLang="en-US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2026-01-22</a:t>
            </a:fld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AB62D88-9F5F-4A74-BA57-D9D17D0FB0A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6047CBC-DD21-4ABA-9997-46981D2DF87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7EBC75-7ADD-42EC-B21A-5AAA28E7B499}" type="slidenum">
              <a:rPr lang="ko-KR" altLang="en-US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‹#›</a:t>
            </a:fld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8604907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fld id="{611F8237-9E6C-4C29-9792-8E88DFF8D8DB}" type="datetimeFigureOut">
              <a:rPr lang="ko-KR" altLang="en-US" smtClean="0"/>
              <a:pPr/>
              <a:t>2026-01-22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fld id="{DBC86FD0-13F8-4278-8619-2124072FFAB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94061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Noto Sans KR" panose="020B0200000000000000" pitchFamily="50" charset="-127"/>
        <a:ea typeface="Noto Sans KR" panose="020B020000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Noto Sans KR" panose="020B0200000000000000" pitchFamily="50" charset="-127"/>
        <a:ea typeface="Noto Sans KR" panose="020B020000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Noto Sans KR" panose="020B0200000000000000" pitchFamily="50" charset="-127"/>
        <a:ea typeface="Noto Sans KR" panose="020B020000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Noto Sans KR" panose="020B0200000000000000" pitchFamily="50" charset="-127"/>
        <a:ea typeface="Noto Sans KR" panose="020B020000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Noto Sans KR" panose="020B0200000000000000" pitchFamily="50" charset="-127"/>
        <a:ea typeface="Noto Sans KR" panose="020B0200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W</a:t>
            </a:r>
            <a:r>
              <a:rPr lang="ko-KR" altLang="en-US" dirty="0"/>
              <a:t>과 </a:t>
            </a:r>
            <a:r>
              <a:rPr lang="en-US" altLang="ko-KR" dirty="0"/>
              <a:t>zi</a:t>
            </a:r>
            <a:r>
              <a:rPr lang="ko-KR" altLang="en-US" dirty="0"/>
              <a:t>의 </a:t>
            </a:r>
            <a:r>
              <a:rPr lang="ko-KR" altLang="en-US" dirty="0" err="1"/>
              <a:t>내적값이</a:t>
            </a:r>
            <a:r>
              <a:rPr lang="ko-KR" altLang="en-US" dirty="0"/>
              <a:t> </a:t>
            </a:r>
            <a:r>
              <a:rPr lang="ko-KR" altLang="en-US" dirty="0" err="1"/>
              <a:t>예측값임</a:t>
            </a:r>
            <a:r>
              <a:rPr lang="en-US" altLang="ko-KR" dirty="0"/>
              <a:t>, W</a:t>
            </a:r>
            <a:r>
              <a:rPr lang="ko-KR" altLang="en-US" dirty="0"/>
              <a:t>는 회귀계수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C86FD0-13F8-4278-8619-2124072FFAB8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55489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C86FD0-13F8-4278-8619-2124072FFAB8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17273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ko-KR" altLang="en-US" err="1"/>
              <a:t>특잇값</a:t>
            </a:r>
            <a:r>
              <a:rPr lang="en-US" altLang="ko-KR"/>
              <a:t>(singular value, </a:t>
            </a:r>
            <a:r>
              <a:rPr lang="ko-KR" altLang="en-US"/>
              <a:t>𝜎</a:t>
            </a:r>
            <a:r>
              <a:rPr lang="en-US" altLang="ko-KR"/>
              <a:t>σ)</a:t>
            </a:r>
            <a:r>
              <a:rPr lang="ko-KR" altLang="en-US"/>
              <a:t>은 행렬이 어떤 방향으로 벡터를 얼마나 크게 늘리는지</a:t>
            </a:r>
            <a:r>
              <a:rPr lang="en-US" altLang="ko-KR"/>
              <a:t>(</a:t>
            </a:r>
            <a:r>
              <a:rPr lang="ko-KR" altLang="en-US"/>
              <a:t>증폭시키는지</a:t>
            </a:r>
            <a:r>
              <a:rPr lang="en-US" altLang="ko-KR"/>
              <a:t>)</a:t>
            </a:r>
            <a:r>
              <a:rPr lang="ko-KR" altLang="en-US"/>
              <a:t>를 나타내는 크기 값임</a:t>
            </a:r>
            <a:endParaRPr lang="en-US" altLang="ko-KR"/>
          </a:p>
          <a:p>
            <a:pPr marL="171450" indent="-171450">
              <a:buFontTx/>
              <a:buChar char="-"/>
            </a:pPr>
            <a:r>
              <a:rPr lang="en-US" altLang="ko-KR"/>
              <a:t> u = u1(</a:t>
            </a:r>
            <a:r>
              <a:rPr lang="ko-KR" altLang="en-US"/>
              <a:t>첫번째 </a:t>
            </a:r>
            <a:r>
              <a:rPr lang="en-US" altLang="ko-KR"/>
              <a:t>left singular vector), v = v1(</a:t>
            </a:r>
            <a:r>
              <a:rPr lang="ko-KR" altLang="en-US"/>
              <a:t>첫번째 </a:t>
            </a:r>
            <a:r>
              <a:rPr lang="en-US" altLang="ko-KR"/>
              <a:t>right singular vector)</a:t>
            </a:r>
          </a:p>
          <a:p>
            <a:pPr marL="171450" indent="-171450">
              <a:buFontTx/>
              <a:buChar char="-"/>
            </a:pPr>
            <a:r>
              <a:rPr lang="en-US" altLang="ko-KR"/>
              <a:t> u1</a:t>
            </a:r>
            <a:r>
              <a:rPr lang="ko-KR" altLang="en-US"/>
              <a:t>은 </a:t>
            </a:r>
            <a:r>
              <a:rPr lang="en-US" altLang="ko-KR"/>
              <a:t>U</a:t>
            </a:r>
            <a:r>
              <a:rPr lang="ko-KR" altLang="en-US"/>
              <a:t>의 첫번째 </a:t>
            </a:r>
            <a:r>
              <a:rPr lang="ko-KR" altLang="en-US" err="1"/>
              <a:t>열벡터</a:t>
            </a:r>
            <a:r>
              <a:rPr lang="en-US" altLang="ko-KR"/>
              <a:t>, v1</a:t>
            </a:r>
            <a:r>
              <a:rPr lang="ko-KR" altLang="en-US"/>
              <a:t>은 </a:t>
            </a:r>
            <a:r>
              <a:rPr lang="en-US" altLang="ko-KR"/>
              <a:t>V</a:t>
            </a:r>
            <a:r>
              <a:rPr lang="ko-KR" altLang="en-US"/>
              <a:t>의 첫번째 </a:t>
            </a:r>
            <a:r>
              <a:rPr lang="ko-KR" altLang="en-US" err="1"/>
              <a:t>열벡터</a:t>
            </a:r>
            <a:endParaRPr lang="en-US" altLang="ko-KR"/>
          </a:p>
          <a:p>
            <a:pPr marL="171450" indent="-171450">
              <a:buFontTx/>
              <a:buChar char="-"/>
            </a:pPr>
            <a:r>
              <a:rPr lang="ko-KR" altLang="en-US"/>
              <a:t>최적화에서 찾는 </a:t>
            </a:r>
            <a:r>
              <a:rPr lang="en-US" altLang="ko-KR" err="1"/>
              <a:t>u,v</a:t>
            </a:r>
            <a:r>
              <a:rPr lang="en-US" altLang="ko-KR"/>
              <a:t> </a:t>
            </a:r>
            <a:r>
              <a:rPr lang="ko-KR" altLang="en-US"/>
              <a:t>한 쌍이</a:t>
            </a:r>
            <a:r>
              <a:rPr lang="en-US" altLang="ko-KR"/>
              <a:t>, SVD </a:t>
            </a:r>
            <a:r>
              <a:rPr lang="ko-KR" altLang="en-US"/>
              <a:t>결과의 </a:t>
            </a:r>
            <a:r>
              <a:rPr lang="en-US" altLang="ko-KR"/>
              <a:t>U,V </a:t>
            </a:r>
            <a:r>
              <a:rPr lang="ko-KR" altLang="en-US"/>
              <a:t>중 첫 번째 열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C86FD0-13F8-4278-8619-2124072FFAB8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47282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altLang="ko-KR"/>
              <a:t>Grid</a:t>
            </a:r>
            <a:r>
              <a:rPr lang="ko-KR" altLang="en-US"/>
              <a:t> </a:t>
            </a:r>
            <a:r>
              <a:rPr lang="en-US" altLang="ko-KR"/>
              <a:t>search</a:t>
            </a:r>
            <a:r>
              <a:rPr lang="ko-KR" altLang="en-US"/>
              <a:t> </a:t>
            </a:r>
            <a:r>
              <a:rPr lang="en-US" altLang="ko-KR"/>
              <a:t>:</a:t>
            </a:r>
            <a:r>
              <a:rPr lang="ko-KR" altLang="en-US"/>
              <a:t> </a:t>
            </a:r>
            <a:r>
              <a:rPr lang="ko-KR" altLang="en-US" err="1"/>
              <a:t>하이퍼파라미터</a:t>
            </a:r>
            <a:r>
              <a:rPr lang="en-US" altLang="ko-KR"/>
              <a:t>(</a:t>
            </a:r>
            <a:r>
              <a:rPr lang="ko-KR" altLang="en-US"/>
              <a:t>예</a:t>
            </a:r>
            <a:r>
              <a:rPr lang="en-US" altLang="ko-KR"/>
              <a:t>: </a:t>
            </a:r>
            <a:r>
              <a:rPr lang="en-US" altLang="ko-KR" err="1"/>
              <a:t>penaltyu</a:t>
            </a:r>
            <a:r>
              <a:rPr lang="en-US" altLang="ko-KR"/>
              <a:t>, </a:t>
            </a:r>
            <a:r>
              <a:rPr lang="en-US" altLang="ko-KR" err="1"/>
              <a:t>penaltyv</a:t>
            </a:r>
            <a:r>
              <a:rPr lang="en-US" altLang="ko-KR"/>
              <a:t>)</a:t>
            </a:r>
            <a:r>
              <a:rPr lang="ko-KR" altLang="en-US"/>
              <a:t>의 후보 값을 미리 범위로 정해두고</a:t>
            </a:r>
            <a:r>
              <a:rPr lang="en-US" altLang="ko-KR"/>
              <a:t>, </a:t>
            </a:r>
            <a:r>
              <a:rPr lang="ko-KR" altLang="en-US" b="0"/>
              <a:t>모든 조합을 전부 시도해 </a:t>
            </a:r>
            <a:r>
              <a:rPr lang="ko-KR" altLang="en-US"/>
              <a:t>보면서 성능이 가장 좋은 조합을 선택하는 방법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C86FD0-13F8-4278-8619-2124072FFAB8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09057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C86FD0-13F8-4278-8619-2124072FFAB8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79530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err="1"/>
              <a:t>랜덤포레스트</a:t>
            </a:r>
            <a:r>
              <a:rPr lang="en-US" altLang="ko-KR"/>
              <a:t>: decision tree</a:t>
            </a:r>
            <a:r>
              <a:rPr lang="ko-KR" altLang="en-US"/>
              <a:t>를 여러 개 만들어서 그 결과를 평균</a:t>
            </a:r>
            <a:r>
              <a:rPr lang="en-US" altLang="ko-KR"/>
              <a:t>, </a:t>
            </a:r>
            <a:r>
              <a:rPr lang="ko-KR" altLang="en-US"/>
              <a:t>분류 해 쓰는 앙상블 모델임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C86FD0-13F8-4278-8619-2124072FFAB8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7051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C86FD0-13F8-4278-8619-2124072FFAB8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82550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C86FD0-13F8-4278-8619-2124072FFAB8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51083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C86FD0-13F8-4278-8619-2124072FFAB8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52792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C86FD0-13F8-4278-8619-2124072FFAB8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63268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C86FD0-13F8-4278-8619-2124072FFAB8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61446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C86FD0-13F8-4278-8619-2124072FFAB8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12153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C86FD0-13F8-4278-8619-2124072FFAB8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19117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C86FD0-13F8-4278-8619-2124072FFAB8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46113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19318-762D-4FD0-A50B-207ABA46F3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096901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19318-762D-4FD0-A50B-207ABA46F3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921930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19318-762D-4FD0-A50B-207ABA46F3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983160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19318-762D-4FD0-A50B-207ABA46F3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6608833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19318-762D-4FD0-A50B-207ABA46F3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2677552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19318-762D-4FD0-A50B-207ABA46F3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5835097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180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19318-762D-4FD0-A50B-207ABA46F3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9470952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19318-762D-4FD0-A50B-207ABA46F3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684070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19318-762D-4FD0-A50B-207ABA46F3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0798602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19318-762D-4FD0-A50B-207ABA46F3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635574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1">
    <p:bg>
      <p:bgPr>
        <a:gradFill flip="none" rotWithShape="1">
          <a:gsLst>
            <a:gs pos="0">
              <a:schemeClr val="accent5">
                <a:lumMod val="5000"/>
                <a:lumOff val="95000"/>
              </a:schemeClr>
            </a:gs>
            <a:gs pos="50000">
              <a:schemeClr val="accent5">
                <a:lumMod val="45000"/>
                <a:lumOff val="55000"/>
              </a:schemeClr>
            </a:gs>
            <a:gs pos="100000">
              <a:srgbClr val="97A5E1"/>
            </a:gs>
          </a:gsLst>
          <a:path path="rect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:a16="http://schemas.microsoft.com/office/drawing/2014/main" id="{0CDC87A9-7315-436D-BD62-3F89BBBBE317}"/>
              </a:ext>
            </a:extLst>
          </p:cNvPr>
          <p:cNvSpPr/>
          <p:nvPr userDrawn="1"/>
        </p:nvSpPr>
        <p:spPr>
          <a:xfrm>
            <a:off x="-1616213" y="-2520950"/>
            <a:ext cx="15093635" cy="2514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Microsoft YaHei" panose="020B0503020204020204" pitchFamily="34" charset="-122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703CAF99-ED92-43AC-87C1-C64A50E8279A}"/>
              </a:ext>
            </a:extLst>
          </p:cNvPr>
          <p:cNvSpPr/>
          <p:nvPr userDrawn="1"/>
        </p:nvSpPr>
        <p:spPr>
          <a:xfrm rot="16200000">
            <a:off x="-5357641" y="2171701"/>
            <a:ext cx="8199279" cy="2514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Microsoft YaHei" panose="020B0503020204020204" pitchFamily="34" charset="-122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198EF600-CA07-471A-AEC5-6849245E2B24}"/>
              </a:ext>
            </a:extLst>
          </p:cNvPr>
          <p:cNvSpPr/>
          <p:nvPr userDrawn="1"/>
        </p:nvSpPr>
        <p:spPr>
          <a:xfrm>
            <a:off x="-1089273" y="6873085"/>
            <a:ext cx="15093635" cy="3142159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Microsoft YaHei" panose="020B0503020204020204" pitchFamily="34" charset="-122"/>
            </a:endParaRPr>
          </a:p>
        </p:txBody>
      </p: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F72A7438-EBF4-4E48-ADAC-12F161A4CA7E}"/>
              </a:ext>
            </a:extLst>
          </p:cNvPr>
          <p:cNvCxnSpPr>
            <a:cxnSpLocks/>
          </p:cNvCxnSpPr>
          <p:nvPr userDrawn="1"/>
        </p:nvCxnSpPr>
        <p:spPr>
          <a:xfrm>
            <a:off x="546299" y="5618951"/>
            <a:ext cx="11041345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7F0C7033-3798-4208-9878-59E818453FA1}"/>
              </a:ext>
            </a:extLst>
          </p:cNvPr>
          <p:cNvSpPr txBox="1"/>
          <p:nvPr userDrawn="1"/>
        </p:nvSpPr>
        <p:spPr>
          <a:xfrm>
            <a:off x="546297" y="4953549"/>
            <a:ext cx="3641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80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지능</a:t>
            </a:r>
            <a:r>
              <a:rPr lang="en-US" altLang="ko-KR" sz="180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•</a:t>
            </a:r>
            <a:r>
              <a:rPr lang="ko-KR" altLang="en-US" sz="180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인터랙션 연구센터</a:t>
            </a:r>
            <a:endParaRPr lang="en-US" altLang="ko-KR" sz="180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2884E68-801F-4D96-94E8-16A93CEF27B7}"/>
              </a:ext>
            </a:extLst>
          </p:cNvPr>
          <p:cNvSpPr txBox="1"/>
          <p:nvPr userDrawn="1"/>
        </p:nvSpPr>
        <p:spPr>
          <a:xfrm>
            <a:off x="546297" y="4469855"/>
            <a:ext cx="3641073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700">
                <a:solidFill>
                  <a:srgbClr val="1C2D74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N</a:t>
            </a:r>
            <a:r>
              <a:rPr lang="en-US" altLang="ko-KR" sz="170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eural </a:t>
            </a:r>
            <a:r>
              <a:rPr lang="en-US" altLang="ko-KR" sz="1700">
                <a:solidFill>
                  <a:srgbClr val="B21D1D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V</a:t>
            </a:r>
            <a:r>
              <a:rPr lang="en-US" altLang="ko-KR" sz="170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ision </a:t>
            </a:r>
            <a:r>
              <a:rPr lang="en-US" altLang="ko-KR" sz="1700">
                <a:solidFill>
                  <a:srgbClr val="FDBB2D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A</a:t>
            </a:r>
            <a:r>
              <a:rPr lang="en-US" altLang="ko-KR" sz="170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lgorithm Lab.</a:t>
            </a:r>
          </a:p>
        </p:txBody>
      </p:sp>
      <p:pic>
        <p:nvPicPr>
          <p:cNvPr id="39" name="그림 38">
            <a:extLst>
              <a:ext uri="{FF2B5EF4-FFF2-40B4-BE49-F238E27FC236}">
                <a16:creationId xmlns:a16="http://schemas.microsoft.com/office/drawing/2014/main" id="{0F022398-C71D-47D7-958F-5A7F6D493E2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524" b="89286" l="9816" r="90798">
                        <a14:foregroundMark x1="67485" y1="52381" x2="67485" y2="52381"/>
                        <a14:foregroundMark x1="90798" y1="83333" x2="90798" y2="83333"/>
                        <a14:foregroundMark x1="61963" y1="89286" x2="61963" y2="89286"/>
                        <a14:foregroundMark x1="36196" y1="55952" x2="36196" y2="5595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458571" y="5963310"/>
            <a:ext cx="1129073" cy="581855"/>
          </a:xfrm>
          <a:prstGeom prst="rect">
            <a:avLst/>
          </a:prstGeom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E013463D-BAAD-4158-A18E-9ADBA8DEEDF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46298" y="5797792"/>
            <a:ext cx="858443" cy="858443"/>
          </a:xfrm>
          <a:prstGeom prst="rect">
            <a:avLst/>
          </a:prstGeom>
        </p:spPr>
      </p:pic>
      <p:sp>
        <p:nvSpPr>
          <p:cNvPr id="12" name="제목 11">
            <a:extLst>
              <a:ext uri="{FF2B5EF4-FFF2-40B4-BE49-F238E27FC236}">
                <a16:creationId xmlns:a16="http://schemas.microsoft.com/office/drawing/2014/main" id="{D9BD2A7C-A7B9-4DAF-8A78-CB985E67AD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297" y="493760"/>
            <a:ext cx="5140030" cy="1728527"/>
          </a:xfrm>
        </p:spPr>
        <p:txBody>
          <a:bodyPr>
            <a:noAutofit/>
          </a:bodyPr>
          <a:lstStyle>
            <a:lvl1pPr>
              <a:defRPr sz="6000">
                <a:solidFill>
                  <a:schemeClr val="bg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defRPr>
            </a:lvl1pPr>
          </a:lstStyle>
          <a:p>
            <a:r>
              <a:rPr lang="ko-KR" altLang="en-US"/>
              <a:t>제목을 </a:t>
            </a:r>
            <a:br>
              <a:rPr lang="en-US" altLang="ko-KR"/>
            </a:br>
            <a:r>
              <a:rPr lang="ko-KR" altLang="en-US"/>
              <a:t>입력하세요</a:t>
            </a:r>
          </a:p>
        </p:txBody>
      </p:sp>
      <p:sp>
        <p:nvSpPr>
          <p:cNvPr id="18" name="텍스트 개체 틀 17">
            <a:extLst>
              <a:ext uri="{FF2B5EF4-FFF2-40B4-BE49-F238E27FC236}">
                <a16:creationId xmlns:a16="http://schemas.microsoft.com/office/drawing/2014/main" id="{EA0E399E-47C5-488C-9785-67B8711D739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6297" y="4130044"/>
            <a:ext cx="2330642" cy="317045"/>
          </a:xfrm>
        </p:spPr>
        <p:txBody>
          <a:bodyPr>
            <a:normAutofit/>
          </a:bodyPr>
          <a:lstStyle>
            <a:lvl1pPr marL="0" indent="0">
              <a:buNone/>
              <a:defRPr sz="1700"/>
            </a:lvl1pPr>
          </a:lstStyle>
          <a:p>
            <a:pPr lvl="0"/>
            <a:r>
              <a:rPr lang="ko-KR" altLang="en-US"/>
              <a:t>날짜를 입력하세요</a:t>
            </a:r>
            <a:endParaRPr lang="en-US" altLang="ko-KR"/>
          </a:p>
        </p:txBody>
      </p:sp>
      <p:sp>
        <p:nvSpPr>
          <p:cNvPr id="33" name="텍스트 개체 틀 17">
            <a:extLst>
              <a:ext uri="{FF2B5EF4-FFF2-40B4-BE49-F238E27FC236}">
                <a16:creationId xmlns:a16="http://schemas.microsoft.com/office/drawing/2014/main" id="{79608130-51A0-45F4-9055-8828E3EF6EC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297" y="5295404"/>
            <a:ext cx="2330642" cy="323547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ko-KR" altLang="en-US"/>
              <a:t>이름을 입력하세요 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214483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자유형: 도형 47">
            <a:extLst>
              <a:ext uri="{FF2B5EF4-FFF2-40B4-BE49-F238E27FC236}">
                <a16:creationId xmlns:a16="http://schemas.microsoft.com/office/drawing/2014/main" id="{B67C878E-C8CA-401A-B246-61325F0F4A0C}"/>
              </a:ext>
            </a:extLst>
          </p:cNvPr>
          <p:cNvSpPr/>
          <p:nvPr userDrawn="1"/>
        </p:nvSpPr>
        <p:spPr>
          <a:xfrm>
            <a:off x="-885099" y="1776548"/>
            <a:ext cx="4312278" cy="5095962"/>
          </a:xfrm>
          <a:custGeom>
            <a:avLst/>
            <a:gdLst>
              <a:gd name="connsiteX0" fmla="*/ 922705 w 1301909"/>
              <a:gd name="connsiteY0" fmla="*/ 0 h 2382449"/>
              <a:gd name="connsiteX1" fmla="*/ 1281864 w 1301909"/>
              <a:gd name="connsiteY1" fmla="*/ 113203 h 2382449"/>
              <a:gd name="connsiteX2" fmla="*/ 1301909 w 1301909"/>
              <a:gd name="connsiteY2" fmla="*/ 128278 h 2382449"/>
              <a:gd name="connsiteX3" fmla="*/ 1301909 w 1301909"/>
              <a:gd name="connsiteY3" fmla="*/ 2382449 h 2382449"/>
              <a:gd name="connsiteX4" fmla="*/ 225626 w 1301909"/>
              <a:gd name="connsiteY4" fmla="*/ 2382449 h 2382449"/>
              <a:gd name="connsiteX5" fmla="*/ 210701 w 1301909"/>
              <a:gd name="connsiteY5" fmla="*/ 2356812 h 2382449"/>
              <a:gd name="connsiteX6" fmla="*/ 0 w 1301909"/>
              <a:gd name="connsiteY6" fmla="*/ 1440512 h 2382449"/>
              <a:gd name="connsiteX7" fmla="*/ 922705 w 1301909"/>
              <a:gd name="connsiteY7" fmla="*/ 0 h 2382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01909" h="2382449">
                <a:moveTo>
                  <a:pt x="922705" y="0"/>
                </a:moveTo>
                <a:cubicBezTo>
                  <a:pt x="1050104" y="0"/>
                  <a:pt x="1171473" y="40309"/>
                  <a:pt x="1281864" y="113203"/>
                </a:cubicBezTo>
                <a:lnTo>
                  <a:pt x="1301909" y="128278"/>
                </a:lnTo>
                <a:lnTo>
                  <a:pt x="1301909" y="2382449"/>
                </a:lnTo>
                <a:lnTo>
                  <a:pt x="225626" y="2382449"/>
                </a:lnTo>
                <a:lnTo>
                  <a:pt x="210701" y="2356812"/>
                </a:lnTo>
                <a:cubicBezTo>
                  <a:pt x="79072" y="2107806"/>
                  <a:pt x="0" y="1788575"/>
                  <a:pt x="0" y="1440512"/>
                </a:cubicBezTo>
                <a:cubicBezTo>
                  <a:pt x="0" y="644939"/>
                  <a:pt x="413109" y="0"/>
                  <a:pt x="92270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5000"/>
                  <a:lumOff val="95000"/>
                </a:schemeClr>
              </a:gs>
              <a:gs pos="34000">
                <a:srgbClr val="9CCBD4">
                  <a:alpha val="40000"/>
                </a:srgbClr>
              </a:gs>
              <a:gs pos="84000">
                <a:srgbClr val="94A3E0">
                  <a:alpha val="70000"/>
                </a:srgbClr>
              </a:gs>
              <a:gs pos="93000">
                <a:srgbClr val="91A0DF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>
              <a:latin typeface="Microsoft YaHei" panose="020B0503020204020204" pitchFamily="34" charset="-122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0782159-32A9-43F5-A290-6BD607ACD460}"/>
              </a:ext>
            </a:extLst>
          </p:cNvPr>
          <p:cNvSpPr/>
          <p:nvPr userDrawn="1"/>
        </p:nvSpPr>
        <p:spPr>
          <a:xfrm>
            <a:off x="658997" y="-1812"/>
            <a:ext cx="3274373" cy="6874321"/>
          </a:xfrm>
          <a:prstGeom prst="rect">
            <a:avLst/>
          </a:prstGeom>
          <a:solidFill>
            <a:srgbClr val="EDEE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Microsoft YaHei" panose="020B0503020204020204" pitchFamily="34" charset="-122"/>
            </a:endParaRP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4845E8B8-8006-4C76-9887-105E5D0979D7}"/>
              </a:ext>
            </a:extLst>
          </p:cNvPr>
          <p:cNvSpPr/>
          <p:nvPr userDrawn="1"/>
        </p:nvSpPr>
        <p:spPr>
          <a:xfrm>
            <a:off x="-1252003" y="2501243"/>
            <a:ext cx="2330520" cy="2353129"/>
          </a:xfrm>
          <a:prstGeom prst="ellipse">
            <a:avLst/>
          </a:prstGeom>
          <a:gradFill>
            <a:gsLst>
              <a:gs pos="60000">
                <a:srgbClr val="FDC955">
                  <a:alpha val="10000"/>
                </a:srgbClr>
              </a:gs>
              <a:gs pos="0">
                <a:schemeClr val="accent5">
                  <a:lumMod val="5000"/>
                  <a:lumOff val="95000"/>
                </a:schemeClr>
              </a:gs>
              <a:gs pos="90000">
                <a:srgbClr val="FDC955">
                  <a:alpha val="0"/>
                </a:srgbClr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Microsoft YaHei" panose="020B0503020204020204" pitchFamily="34" charset="-122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21F7C000-A04F-4988-BA16-08B125458401}"/>
              </a:ext>
            </a:extLst>
          </p:cNvPr>
          <p:cNvSpPr/>
          <p:nvPr userDrawn="1"/>
        </p:nvSpPr>
        <p:spPr>
          <a:xfrm rot="16200000">
            <a:off x="-5370341" y="2171701"/>
            <a:ext cx="8199279" cy="2514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Microsoft YaHei" panose="020B0503020204020204" pitchFamily="34" charset="-122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9FDC7E8-4648-4221-8998-E587B6F67680}"/>
              </a:ext>
            </a:extLst>
          </p:cNvPr>
          <p:cNvSpPr txBox="1"/>
          <p:nvPr userDrawn="1"/>
        </p:nvSpPr>
        <p:spPr>
          <a:xfrm>
            <a:off x="1085852" y="1493610"/>
            <a:ext cx="26173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>
                <a:solidFill>
                  <a:srgbClr val="4E5356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Contents</a:t>
            </a:r>
            <a:endParaRPr lang="ko-KR" altLang="en-US" sz="4000">
              <a:solidFill>
                <a:srgbClr val="4E5356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2342827F-DEEC-43BA-A7F9-CA3783ACD47C}"/>
              </a:ext>
            </a:extLst>
          </p:cNvPr>
          <p:cNvSpPr/>
          <p:nvPr userDrawn="1"/>
        </p:nvSpPr>
        <p:spPr>
          <a:xfrm rot="5400000" flipV="1">
            <a:off x="812557" y="1822252"/>
            <a:ext cx="449033" cy="45719"/>
          </a:xfrm>
          <a:prstGeom prst="roundRect">
            <a:avLst>
              <a:gd name="adj" fmla="val 27009"/>
            </a:avLst>
          </a:prstGeom>
          <a:solidFill>
            <a:srgbClr val="4E53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Microsoft YaHei" panose="020B0503020204020204" pitchFamily="34" charset="-122"/>
            </a:endParaRP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82E174B2-0EF5-4E22-B891-5D12948BC3AC}"/>
              </a:ext>
            </a:extLst>
          </p:cNvPr>
          <p:cNvSpPr/>
          <p:nvPr userDrawn="1"/>
        </p:nvSpPr>
        <p:spPr>
          <a:xfrm>
            <a:off x="11366500" y="6156023"/>
            <a:ext cx="641350" cy="701977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"/>
                  <a:lumOff val="95000"/>
                </a:schemeClr>
              </a:gs>
              <a:gs pos="30000">
                <a:srgbClr val="C9D6EA"/>
              </a:gs>
              <a:gs pos="100000">
                <a:srgbClr val="97A5E1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Microsoft YaHei" panose="020B0503020204020204" pitchFamily="34" charset="-122"/>
            </a:endParaRPr>
          </a:p>
        </p:txBody>
      </p:sp>
      <p:sp>
        <p:nvSpPr>
          <p:cNvPr id="72" name="슬라이드 번호 개체 틀 1024">
            <a:extLst>
              <a:ext uri="{FF2B5EF4-FFF2-40B4-BE49-F238E27FC236}">
                <a16:creationId xmlns:a16="http://schemas.microsoft.com/office/drawing/2014/main" id="{7919600B-2A76-4F6D-8912-D2C4CBA4DAC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366500" y="6369912"/>
            <a:ext cx="506191" cy="365125"/>
          </a:xfrm>
        </p:spPr>
        <p:txBody>
          <a:bodyPr/>
          <a:lstStyle/>
          <a:p>
            <a:fld id="{32B19318-762D-4FD0-A50B-207ABA46F30B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76" name="그림 75">
            <a:extLst>
              <a:ext uri="{FF2B5EF4-FFF2-40B4-BE49-F238E27FC236}">
                <a16:creationId xmlns:a16="http://schemas.microsoft.com/office/drawing/2014/main" id="{E5D0B0D0-9148-4973-880B-793BDA1A587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524" b="89286" l="9816" r="90798">
                        <a14:foregroundMark x1="67485" y1="52381" x2="67485" y2="52381"/>
                        <a14:foregroundMark x1="90798" y1="83333" x2="90798" y2="83333"/>
                        <a14:foregroundMark x1="61963" y1="89286" x2="61963" y2="89286"/>
                        <a14:foregroundMark x1="36196" y1="55952" x2="36196" y2="5595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2582" y="6509703"/>
            <a:ext cx="437254" cy="225334"/>
          </a:xfrm>
          <a:prstGeom prst="rect">
            <a:avLst/>
          </a:prstGeom>
        </p:spPr>
      </p:pic>
      <p:pic>
        <p:nvPicPr>
          <p:cNvPr id="77" name="그림 76">
            <a:extLst>
              <a:ext uri="{FF2B5EF4-FFF2-40B4-BE49-F238E27FC236}">
                <a16:creationId xmlns:a16="http://schemas.microsoft.com/office/drawing/2014/main" id="{09405367-7FC7-4BEC-9C44-BC6D515D325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32470" y="60416"/>
            <a:ext cx="297478" cy="297478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B2549FAA-D514-4A28-BEC8-393F6D1418AE}"/>
              </a:ext>
            </a:extLst>
          </p:cNvPr>
          <p:cNvSpPr txBox="1"/>
          <p:nvPr userDrawn="1"/>
        </p:nvSpPr>
        <p:spPr>
          <a:xfrm>
            <a:off x="5180693" y="1493610"/>
            <a:ext cx="4136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>
                <a:solidFill>
                  <a:srgbClr val="1C2D74"/>
                </a:solidFill>
                <a:latin typeface="Microsoft YaHei" panose="020B0503020204020204" pitchFamily="34" charset="-122"/>
              </a:rPr>
              <a:t>1</a:t>
            </a:r>
            <a:endParaRPr lang="ko-KR" altLang="en-US" sz="4000">
              <a:solidFill>
                <a:srgbClr val="1C2D7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3A15B3C-FAE7-4163-BF7D-181FCA23E88C}"/>
              </a:ext>
            </a:extLst>
          </p:cNvPr>
          <p:cNvSpPr txBox="1"/>
          <p:nvPr userDrawn="1"/>
        </p:nvSpPr>
        <p:spPr>
          <a:xfrm>
            <a:off x="5180693" y="2429309"/>
            <a:ext cx="4136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>
                <a:solidFill>
                  <a:srgbClr val="1C2D74"/>
                </a:solidFill>
                <a:latin typeface="Microsoft YaHei" panose="020B0503020204020204" pitchFamily="34" charset="-122"/>
              </a:rPr>
              <a:t>2</a:t>
            </a:r>
            <a:endParaRPr lang="ko-KR" altLang="en-US" sz="4000">
              <a:solidFill>
                <a:srgbClr val="1C2D7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5FEEB97-4365-4560-8C6A-0422BEB19CFA}"/>
              </a:ext>
            </a:extLst>
          </p:cNvPr>
          <p:cNvSpPr txBox="1"/>
          <p:nvPr userDrawn="1"/>
        </p:nvSpPr>
        <p:spPr>
          <a:xfrm>
            <a:off x="5180693" y="3363830"/>
            <a:ext cx="4136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>
                <a:solidFill>
                  <a:srgbClr val="1C2D74"/>
                </a:solidFill>
                <a:latin typeface="Microsoft YaHei" panose="020B0503020204020204" pitchFamily="34" charset="-122"/>
              </a:rPr>
              <a:t>3</a:t>
            </a:r>
            <a:endParaRPr lang="ko-KR" altLang="en-US" sz="4000">
              <a:solidFill>
                <a:srgbClr val="1C2D7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6F9856E-C166-45FF-B0CF-DBD3D3E00380}"/>
              </a:ext>
            </a:extLst>
          </p:cNvPr>
          <p:cNvSpPr txBox="1"/>
          <p:nvPr userDrawn="1"/>
        </p:nvSpPr>
        <p:spPr>
          <a:xfrm>
            <a:off x="5180693" y="4303334"/>
            <a:ext cx="4136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>
                <a:solidFill>
                  <a:srgbClr val="1C2D74"/>
                </a:solidFill>
                <a:latin typeface="Microsoft YaHei" panose="020B0503020204020204" pitchFamily="34" charset="-122"/>
              </a:rPr>
              <a:t>4</a:t>
            </a:r>
            <a:endParaRPr lang="ko-KR" altLang="en-US" sz="4000">
              <a:solidFill>
                <a:srgbClr val="1C2D7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8" name="텍스트 개체 틀 17">
            <a:extLst>
              <a:ext uri="{FF2B5EF4-FFF2-40B4-BE49-F238E27FC236}">
                <a16:creationId xmlns:a16="http://schemas.microsoft.com/office/drawing/2014/main" id="{4D16424A-2BE1-43F7-B555-8BE662791D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59583" y="1776548"/>
            <a:ext cx="3633818" cy="513493"/>
          </a:xfrm>
        </p:spPr>
        <p:txBody>
          <a:bodyPr>
            <a:noAutofit/>
          </a:bodyPr>
          <a:lstStyle>
            <a:lvl1pPr marL="0" indent="0">
              <a:buNone/>
              <a:defRPr sz="2500">
                <a:solidFill>
                  <a:srgbClr val="4E5356"/>
                </a:solidFill>
              </a:defRPr>
            </a:lvl1pPr>
          </a:lstStyle>
          <a:p>
            <a:pPr lvl="0"/>
            <a:r>
              <a:rPr lang="ko-KR" altLang="en-US"/>
              <a:t>내용 </a:t>
            </a:r>
            <a:r>
              <a:rPr lang="en-US" altLang="ko-KR"/>
              <a:t>1</a:t>
            </a:r>
            <a:r>
              <a:rPr lang="ko-KR" altLang="en-US"/>
              <a:t>을 입력하세요 </a:t>
            </a:r>
            <a:endParaRPr lang="en-US" altLang="ko-KR"/>
          </a:p>
        </p:txBody>
      </p:sp>
      <p:sp>
        <p:nvSpPr>
          <p:cNvPr id="30" name="텍스트 개체 틀 17">
            <a:extLst>
              <a:ext uri="{FF2B5EF4-FFF2-40B4-BE49-F238E27FC236}">
                <a16:creationId xmlns:a16="http://schemas.microsoft.com/office/drawing/2014/main" id="{B6F648BE-265E-41E1-BE9D-1D0E3969C6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59583" y="2674640"/>
            <a:ext cx="3633818" cy="513493"/>
          </a:xfrm>
        </p:spPr>
        <p:txBody>
          <a:bodyPr>
            <a:noAutofit/>
          </a:bodyPr>
          <a:lstStyle>
            <a:lvl1pPr marL="0" indent="0">
              <a:buNone/>
              <a:defRPr sz="2500">
                <a:solidFill>
                  <a:srgbClr val="4E5356"/>
                </a:solidFill>
              </a:defRPr>
            </a:lvl1pPr>
          </a:lstStyle>
          <a:p>
            <a:pPr lvl="0"/>
            <a:r>
              <a:rPr lang="ko-KR" altLang="en-US"/>
              <a:t>내용 </a:t>
            </a:r>
            <a:r>
              <a:rPr lang="en-US" altLang="ko-KR"/>
              <a:t>2</a:t>
            </a:r>
            <a:r>
              <a:rPr lang="ko-KR" altLang="en-US"/>
              <a:t>를 입력하세요 </a:t>
            </a:r>
            <a:endParaRPr lang="en-US" altLang="ko-KR"/>
          </a:p>
        </p:txBody>
      </p:sp>
      <p:sp>
        <p:nvSpPr>
          <p:cNvPr id="31" name="텍스트 개체 틀 17">
            <a:extLst>
              <a:ext uri="{FF2B5EF4-FFF2-40B4-BE49-F238E27FC236}">
                <a16:creationId xmlns:a16="http://schemas.microsoft.com/office/drawing/2014/main" id="{BAED96D1-7FA0-4C69-BCF1-5BB226E3A1B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59583" y="3646768"/>
            <a:ext cx="3633818" cy="513493"/>
          </a:xfrm>
        </p:spPr>
        <p:txBody>
          <a:bodyPr>
            <a:noAutofit/>
          </a:bodyPr>
          <a:lstStyle>
            <a:lvl1pPr marL="0" indent="0">
              <a:buNone/>
              <a:defRPr sz="2500">
                <a:solidFill>
                  <a:srgbClr val="4E5356"/>
                </a:solidFill>
              </a:defRPr>
            </a:lvl1pPr>
          </a:lstStyle>
          <a:p>
            <a:pPr lvl="0"/>
            <a:r>
              <a:rPr lang="ko-KR" altLang="en-US"/>
              <a:t>내용 </a:t>
            </a:r>
            <a:r>
              <a:rPr lang="en-US" altLang="ko-KR"/>
              <a:t>3</a:t>
            </a:r>
            <a:r>
              <a:rPr lang="ko-KR" altLang="en-US"/>
              <a:t>을 입력하세요 </a:t>
            </a:r>
            <a:endParaRPr lang="en-US" altLang="ko-KR"/>
          </a:p>
        </p:txBody>
      </p:sp>
      <p:sp>
        <p:nvSpPr>
          <p:cNvPr id="32" name="텍스트 개체 틀 17">
            <a:extLst>
              <a:ext uri="{FF2B5EF4-FFF2-40B4-BE49-F238E27FC236}">
                <a16:creationId xmlns:a16="http://schemas.microsoft.com/office/drawing/2014/main" id="{7B435FF1-35BC-4AF9-B92B-BCDCEFDB18A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59583" y="4618896"/>
            <a:ext cx="3633818" cy="513493"/>
          </a:xfrm>
        </p:spPr>
        <p:txBody>
          <a:bodyPr>
            <a:noAutofit/>
          </a:bodyPr>
          <a:lstStyle>
            <a:lvl1pPr marL="0" indent="0">
              <a:buNone/>
              <a:defRPr sz="2500">
                <a:solidFill>
                  <a:srgbClr val="4E5356"/>
                </a:solidFill>
              </a:defRPr>
            </a:lvl1pPr>
          </a:lstStyle>
          <a:p>
            <a:pPr lvl="0"/>
            <a:r>
              <a:rPr lang="ko-KR" altLang="en-US"/>
              <a:t>내용 </a:t>
            </a:r>
            <a:r>
              <a:rPr lang="en-US" altLang="ko-KR"/>
              <a:t>4</a:t>
            </a:r>
            <a:r>
              <a:rPr lang="ko-KR" altLang="en-US"/>
              <a:t>를 입력하세요 </a:t>
            </a:r>
            <a:endParaRPr lang="en-US" altLang="ko-KR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41B064F-703B-4682-9948-E2EE6DF56E5F}"/>
              </a:ext>
            </a:extLst>
          </p:cNvPr>
          <p:cNvSpPr txBox="1"/>
          <p:nvPr userDrawn="1"/>
        </p:nvSpPr>
        <p:spPr>
          <a:xfrm>
            <a:off x="5180693" y="5235305"/>
            <a:ext cx="4136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>
                <a:solidFill>
                  <a:srgbClr val="1C2D74"/>
                </a:solidFill>
                <a:latin typeface="Microsoft YaHei" panose="020B0503020204020204" pitchFamily="34" charset="-122"/>
              </a:rPr>
              <a:t>5</a:t>
            </a:r>
            <a:endParaRPr lang="ko-KR" altLang="en-US" sz="4000">
              <a:solidFill>
                <a:srgbClr val="1C2D7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4" name="텍스트 개체 틀 17">
            <a:extLst>
              <a:ext uri="{FF2B5EF4-FFF2-40B4-BE49-F238E27FC236}">
                <a16:creationId xmlns:a16="http://schemas.microsoft.com/office/drawing/2014/main" id="{41818182-33E9-445D-8F7F-E5271E4C11E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659583" y="5550867"/>
            <a:ext cx="3633818" cy="513493"/>
          </a:xfrm>
        </p:spPr>
        <p:txBody>
          <a:bodyPr>
            <a:noAutofit/>
          </a:bodyPr>
          <a:lstStyle>
            <a:lvl1pPr marL="0" indent="0">
              <a:buNone/>
              <a:defRPr sz="2500">
                <a:solidFill>
                  <a:srgbClr val="4E5356"/>
                </a:solidFill>
              </a:defRPr>
            </a:lvl1pPr>
          </a:lstStyle>
          <a:p>
            <a:pPr lvl="0"/>
            <a:r>
              <a:rPr lang="ko-KR" altLang="en-US"/>
              <a:t>내용 </a:t>
            </a:r>
            <a:r>
              <a:rPr lang="en-US" altLang="ko-KR"/>
              <a:t>5</a:t>
            </a:r>
            <a:r>
              <a:rPr lang="ko-KR" altLang="en-US"/>
              <a:t>를 입력하세요 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915074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화면 전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자유형: 도형 20">
            <a:extLst>
              <a:ext uri="{FF2B5EF4-FFF2-40B4-BE49-F238E27FC236}">
                <a16:creationId xmlns:a16="http://schemas.microsoft.com/office/drawing/2014/main" id="{02F79FAB-912E-46DD-93A7-3293C7A5A212}"/>
              </a:ext>
            </a:extLst>
          </p:cNvPr>
          <p:cNvSpPr/>
          <p:nvPr userDrawn="1"/>
        </p:nvSpPr>
        <p:spPr>
          <a:xfrm>
            <a:off x="10263798" y="4159706"/>
            <a:ext cx="1928202" cy="2353130"/>
          </a:xfrm>
          <a:custGeom>
            <a:avLst/>
            <a:gdLst>
              <a:gd name="connsiteX0" fmla="*/ 1165260 w 1928202"/>
              <a:gd name="connsiteY0" fmla="*/ 0 h 2353130"/>
              <a:gd name="connsiteX1" fmla="*/ 1906474 w 1928202"/>
              <a:gd name="connsiteY1" fmla="*/ 268670 h 2353130"/>
              <a:gd name="connsiteX2" fmla="*/ 1928202 w 1928202"/>
              <a:gd name="connsiteY2" fmla="*/ 288610 h 2353130"/>
              <a:gd name="connsiteX3" fmla="*/ 1928202 w 1928202"/>
              <a:gd name="connsiteY3" fmla="*/ 2064520 h 2353130"/>
              <a:gd name="connsiteX4" fmla="*/ 1906474 w 1928202"/>
              <a:gd name="connsiteY4" fmla="*/ 2084460 h 2353130"/>
              <a:gd name="connsiteX5" fmla="*/ 1165260 w 1928202"/>
              <a:gd name="connsiteY5" fmla="*/ 2353130 h 2353130"/>
              <a:gd name="connsiteX6" fmla="*/ 0 w 1928202"/>
              <a:gd name="connsiteY6" fmla="*/ 1176565 h 2353130"/>
              <a:gd name="connsiteX7" fmla="*/ 1165260 w 1928202"/>
              <a:gd name="connsiteY7" fmla="*/ 0 h 2353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928202" h="2353130">
                <a:moveTo>
                  <a:pt x="1165260" y="0"/>
                </a:moveTo>
                <a:cubicBezTo>
                  <a:pt x="1446815" y="0"/>
                  <a:pt x="1705048" y="100827"/>
                  <a:pt x="1906474" y="268670"/>
                </a:cubicBezTo>
                <a:lnTo>
                  <a:pt x="1928202" y="288610"/>
                </a:lnTo>
                <a:lnTo>
                  <a:pt x="1928202" y="2064520"/>
                </a:lnTo>
                <a:lnTo>
                  <a:pt x="1906474" y="2084460"/>
                </a:lnTo>
                <a:cubicBezTo>
                  <a:pt x="1705048" y="2252304"/>
                  <a:pt x="1446815" y="2353130"/>
                  <a:pt x="1165260" y="2353130"/>
                </a:cubicBezTo>
                <a:cubicBezTo>
                  <a:pt x="521705" y="2353130"/>
                  <a:pt x="0" y="1826364"/>
                  <a:pt x="0" y="1176565"/>
                </a:cubicBezTo>
                <a:cubicBezTo>
                  <a:pt x="0" y="526766"/>
                  <a:pt x="521705" y="0"/>
                  <a:pt x="1165260" y="0"/>
                </a:cubicBezTo>
                <a:close/>
              </a:path>
            </a:pathLst>
          </a:custGeom>
          <a:gradFill>
            <a:gsLst>
              <a:gs pos="60000">
                <a:srgbClr val="9CCBD4"/>
              </a:gs>
              <a:gs pos="0">
                <a:schemeClr val="accent5">
                  <a:lumMod val="5000"/>
                  <a:lumOff val="95000"/>
                </a:schemeClr>
              </a:gs>
              <a:gs pos="90000">
                <a:srgbClr val="9CCBD4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>
              <a:latin typeface="Microsoft YaHei" panose="020B0503020204020204" pitchFamily="34" charset="-122"/>
            </a:endParaRPr>
          </a:p>
        </p:txBody>
      </p:sp>
      <p:sp>
        <p:nvSpPr>
          <p:cNvPr id="17" name="자유형: 도형 16">
            <a:extLst>
              <a:ext uri="{FF2B5EF4-FFF2-40B4-BE49-F238E27FC236}">
                <a16:creationId xmlns:a16="http://schemas.microsoft.com/office/drawing/2014/main" id="{AE950E6E-14E2-48D0-BD0E-4714338D95B6}"/>
              </a:ext>
            </a:extLst>
          </p:cNvPr>
          <p:cNvSpPr/>
          <p:nvPr userDrawn="1"/>
        </p:nvSpPr>
        <p:spPr>
          <a:xfrm rot="20274614">
            <a:off x="-225716" y="-345889"/>
            <a:ext cx="2252071" cy="2249823"/>
          </a:xfrm>
          <a:custGeom>
            <a:avLst/>
            <a:gdLst>
              <a:gd name="connsiteX0" fmla="*/ 610940 w 2252071"/>
              <a:gd name="connsiteY0" fmla="*/ 0 h 2249823"/>
              <a:gd name="connsiteX1" fmla="*/ 584762 w 2252071"/>
              <a:gd name="connsiteY1" fmla="*/ 64501 h 2249823"/>
              <a:gd name="connsiteX2" fmla="*/ 2198076 w 2252071"/>
              <a:gd name="connsiteY2" fmla="*/ 719264 h 2249823"/>
              <a:gd name="connsiteX3" fmla="*/ 2199683 w 2252071"/>
              <a:gd name="connsiteY3" fmla="*/ 723384 h 2249823"/>
              <a:gd name="connsiteX4" fmla="*/ 2252071 w 2252071"/>
              <a:gd name="connsiteY4" fmla="*/ 1073258 h 2249823"/>
              <a:gd name="connsiteX5" fmla="*/ 1086811 w 2252071"/>
              <a:gd name="connsiteY5" fmla="*/ 2249823 h 2249823"/>
              <a:gd name="connsiteX6" fmla="*/ 13123 w 2252071"/>
              <a:gd name="connsiteY6" fmla="*/ 1531230 h 2249823"/>
              <a:gd name="connsiteX7" fmla="*/ 0 w 2252071"/>
              <a:gd name="connsiteY7" fmla="*/ 1495029 h 2249823"/>
              <a:gd name="connsiteX8" fmla="*/ 605729 w 2252071"/>
              <a:gd name="connsiteY8" fmla="*/ 2534 h 22498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52071" h="2249823">
                <a:moveTo>
                  <a:pt x="610940" y="0"/>
                </a:moveTo>
                <a:lnTo>
                  <a:pt x="584762" y="64501"/>
                </a:lnTo>
                <a:lnTo>
                  <a:pt x="2198076" y="719264"/>
                </a:lnTo>
                <a:lnTo>
                  <a:pt x="2199683" y="723384"/>
                </a:lnTo>
                <a:cubicBezTo>
                  <a:pt x="2233730" y="833909"/>
                  <a:pt x="2252071" y="951421"/>
                  <a:pt x="2252071" y="1073258"/>
                </a:cubicBezTo>
                <a:cubicBezTo>
                  <a:pt x="2252071" y="1723057"/>
                  <a:pt x="1730366" y="2249823"/>
                  <a:pt x="1086811" y="2249823"/>
                </a:cubicBezTo>
                <a:cubicBezTo>
                  <a:pt x="604145" y="2249823"/>
                  <a:pt x="190019" y="1953517"/>
                  <a:pt x="13123" y="1531230"/>
                </a:cubicBezTo>
                <a:lnTo>
                  <a:pt x="0" y="1495029"/>
                </a:lnTo>
                <a:lnTo>
                  <a:pt x="605729" y="2534"/>
                </a:lnTo>
                <a:close/>
              </a:path>
            </a:pathLst>
          </a:custGeom>
          <a:gradFill>
            <a:gsLst>
              <a:gs pos="60000">
                <a:srgbClr val="97A5E1"/>
              </a:gs>
              <a:gs pos="0">
                <a:schemeClr val="accent5">
                  <a:lumMod val="5000"/>
                  <a:lumOff val="95000"/>
                </a:schemeClr>
              </a:gs>
              <a:gs pos="90000">
                <a:srgbClr val="97A5E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>
              <a:latin typeface="Microsoft YaHei" panose="020B0503020204020204" pitchFamily="34" charset="-122"/>
            </a:endParaRPr>
          </a:p>
        </p:txBody>
      </p:sp>
      <p:sp>
        <p:nvSpPr>
          <p:cNvPr id="19" name="자유형: 도형 18">
            <a:extLst>
              <a:ext uri="{FF2B5EF4-FFF2-40B4-BE49-F238E27FC236}">
                <a16:creationId xmlns:a16="http://schemas.microsoft.com/office/drawing/2014/main" id="{6AAA5606-4ECF-48FC-99DD-A182E15E71A6}"/>
              </a:ext>
            </a:extLst>
          </p:cNvPr>
          <p:cNvSpPr/>
          <p:nvPr userDrawn="1"/>
        </p:nvSpPr>
        <p:spPr>
          <a:xfrm>
            <a:off x="9454171" y="4940306"/>
            <a:ext cx="2330520" cy="1917695"/>
          </a:xfrm>
          <a:custGeom>
            <a:avLst/>
            <a:gdLst>
              <a:gd name="connsiteX0" fmla="*/ 1165260 w 2330520"/>
              <a:gd name="connsiteY0" fmla="*/ 0 h 1917695"/>
              <a:gd name="connsiteX1" fmla="*/ 2330520 w 2330520"/>
              <a:gd name="connsiteY1" fmla="*/ 1176565 h 1917695"/>
              <a:gd name="connsiteX2" fmla="*/ 2131512 w 2330520"/>
              <a:gd name="connsiteY2" fmla="*/ 1834394 h 1917695"/>
              <a:gd name="connsiteX3" fmla="*/ 2069819 w 2330520"/>
              <a:gd name="connsiteY3" fmla="*/ 1917695 h 1917695"/>
              <a:gd name="connsiteX4" fmla="*/ 260701 w 2330520"/>
              <a:gd name="connsiteY4" fmla="*/ 1917695 h 1917695"/>
              <a:gd name="connsiteX5" fmla="*/ 199008 w 2330520"/>
              <a:gd name="connsiteY5" fmla="*/ 1834394 h 1917695"/>
              <a:gd name="connsiteX6" fmla="*/ 0 w 2330520"/>
              <a:gd name="connsiteY6" fmla="*/ 1176565 h 1917695"/>
              <a:gd name="connsiteX7" fmla="*/ 1165260 w 2330520"/>
              <a:gd name="connsiteY7" fmla="*/ 0 h 1917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330520" h="1917695">
                <a:moveTo>
                  <a:pt x="1165260" y="0"/>
                </a:moveTo>
                <a:cubicBezTo>
                  <a:pt x="1808815" y="0"/>
                  <a:pt x="2330520" y="526766"/>
                  <a:pt x="2330520" y="1176565"/>
                </a:cubicBezTo>
                <a:cubicBezTo>
                  <a:pt x="2330520" y="1420240"/>
                  <a:pt x="2257155" y="1646613"/>
                  <a:pt x="2131512" y="1834394"/>
                </a:cubicBezTo>
                <a:lnTo>
                  <a:pt x="2069819" y="1917695"/>
                </a:lnTo>
                <a:lnTo>
                  <a:pt x="260701" y="1917695"/>
                </a:lnTo>
                <a:lnTo>
                  <a:pt x="199008" y="1834394"/>
                </a:lnTo>
                <a:cubicBezTo>
                  <a:pt x="73365" y="1646613"/>
                  <a:pt x="0" y="1420240"/>
                  <a:pt x="0" y="1176565"/>
                </a:cubicBezTo>
                <a:cubicBezTo>
                  <a:pt x="0" y="526766"/>
                  <a:pt x="521705" y="0"/>
                  <a:pt x="1165260" y="0"/>
                </a:cubicBezTo>
                <a:close/>
              </a:path>
            </a:pathLst>
          </a:custGeom>
          <a:gradFill>
            <a:gsLst>
              <a:gs pos="60000">
                <a:srgbClr val="FDC955">
                  <a:alpha val="10000"/>
                </a:srgbClr>
              </a:gs>
              <a:gs pos="0">
                <a:schemeClr val="accent5">
                  <a:lumMod val="5000"/>
                  <a:lumOff val="95000"/>
                </a:schemeClr>
              </a:gs>
              <a:gs pos="90000">
                <a:srgbClr val="FDC955">
                  <a:alpha val="0"/>
                </a:srgbClr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>
              <a:latin typeface="Microsoft YaHei" panose="020B0503020204020204" pitchFamily="34" charset="-122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5A76FB0-5B23-442E-B782-305539C906BC}"/>
              </a:ext>
            </a:extLst>
          </p:cNvPr>
          <p:cNvSpPr/>
          <p:nvPr userDrawn="1"/>
        </p:nvSpPr>
        <p:spPr>
          <a:xfrm rot="5400000">
            <a:off x="4105275" y="-2642960"/>
            <a:ext cx="3981451" cy="12192000"/>
          </a:xfrm>
          <a:prstGeom prst="rect">
            <a:avLst/>
          </a:prstGeom>
          <a:solidFill>
            <a:srgbClr val="EDEEF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Microsoft YaHei" panose="020B0503020204020204" pitchFamily="34" charset="-122"/>
            </a:endParaRPr>
          </a:p>
        </p:txBody>
      </p:sp>
      <p:sp>
        <p:nvSpPr>
          <p:cNvPr id="23" name="텍스트 개체 틀 17">
            <a:extLst>
              <a:ext uri="{FF2B5EF4-FFF2-40B4-BE49-F238E27FC236}">
                <a16:creationId xmlns:a16="http://schemas.microsoft.com/office/drawing/2014/main" id="{6B4147C4-3BBD-44BB-B55D-86FAF7049C9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162801" y="3043452"/>
            <a:ext cx="6143123" cy="819176"/>
          </a:xfrm>
        </p:spPr>
        <p:txBody>
          <a:bodyPr>
            <a:noAutofit/>
          </a:bodyPr>
          <a:lstStyle>
            <a:lvl1pPr marL="0" indent="0" algn="ctr">
              <a:buNone/>
              <a:defRPr sz="5500">
                <a:solidFill>
                  <a:srgbClr val="4E5356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Pretendard Black" panose="02000A03000000020004" pitchFamily="50" charset="-127"/>
              </a:defRPr>
            </a:lvl1pPr>
          </a:lstStyle>
          <a:p>
            <a:pPr lvl="0"/>
            <a:r>
              <a:rPr lang="ko-KR" altLang="en-US"/>
              <a:t>내용 </a:t>
            </a:r>
            <a:r>
              <a:rPr lang="en-US" altLang="ko-KR"/>
              <a:t>n</a:t>
            </a:r>
            <a:r>
              <a:rPr lang="ko-KR" altLang="en-US"/>
              <a:t>을 입력하세요 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377865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내용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슬라이드 번호 개체 틀 1024">
            <a:extLst>
              <a:ext uri="{FF2B5EF4-FFF2-40B4-BE49-F238E27FC236}">
                <a16:creationId xmlns:a16="http://schemas.microsoft.com/office/drawing/2014/main" id="{1B1955CC-C4C3-4FDC-849A-8AA73B8072A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366500" y="6369912"/>
            <a:ext cx="506191" cy="365125"/>
          </a:xfrm>
        </p:spPr>
        <p:txBody>
          <a:bodyPr/>
          <a:lstStyle/>
          <a:p>
            <a:fld id="{32B19318-762D-4FD0-A50B-207ABA46F30B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DFFAD536-AB0A-4DC6-A158-D59865CB41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524" b="89286" l="9816" r="90798">
                        <a14:foregroundMark x1="67485" y1="52381" x2="67485" y2="52381"/>
                        <a14:foregroundMark x1="90798" y1="83333" x2="90798" y2="83333"/>
                        <a14:foregroundMark x1="61963" y1="89286" x2="61963" y2="89286"/>
                        <a14:foregroundMark x1="36196" y1="55952" x2="36196" y2="5595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2582" y="6509703"/>
            <a:ext cx="437254" cy="225334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693D5193-FE20-4F60-AA44-EE490943185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32470" y="60416"/>
            <a:ext cx="297478" cy="297478"/>
          </a:xfrm>
          <a:prstGeom prst="rect">
            <a:avLst/>
          </a:prstGeom>
        </p:spPr>
      </p:pic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FB54CE8A-2D1E-4B66-9706-B2D8EFD596E3}"/>
              </a:ext>
            </a:extLst>
          </p:cNvPr>
          <p:cNvCxnSpPr>
            <a:cxnSpLocks/>
          </p:cNvCxnSpPr>
          <p:nvPr userDrawn="1"/>
        </p:nvCxnSpPr>
        <p:spPr>
          <a:xfrm flipV="1">
            <a:off x="950064" y="390710"/>
            <a:ext cx="10767791" cy="3490"/>
          </a:xfrm>
          <a:prstGeom prst="line">
            <a:avLst/>
          </a:prstGeom>
          <a:ln w="28575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텍스트 개체 틀 35">
            <a:extLst>
              <a:ext uri="{FF2B5EF4-FFF2-40B4-BE49-F238E27FC236}">
                <a16:creationId xmlns:a16="http://schemas.microsoft.com/office/drawing/2014/main" id="{0018A51C-AFBC-4971-A7E0-95BE5061AA0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50064" y="71451"/>
            <a:ext cx="1532396" cy="249238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rgbClr val="1C2D74"/>
                </a:solidFill>
              </a:defRPr>
            </a:lvl1pPr>
          </a:lstStyle>
          <a:p>
            <a:pPr lvl="0"/>
            <a:r>
              <a:rPr lang="ko-KR" altLang="en-US"/>
              <a:t>내용 </a:t>
            </a:r>
            <a:r>
              <a:rPr lang="en-US" altLang="ko-KR"/>
              <a:t>1</a:t>
            </a:r>
            <a:endParaRPr lang="ko-KR" altLang="en-US"/>
          </a:p>
        </p:txBody>
      </p:sp>
      <p:sp>
        <p:nvSpPr>
          <p:cNvPr id="17" name="텍스트 개체 틀 35">
            <a:extLst>
              <a:ext uri="{FF2B5EF4-FFF2-40B4-BE49-F238E27FC236}">
                <a16:creationId xmlns:a16="http://schemas.microsoft.com/office/drawing/2014/main" id="{1C7E371A-DC0F-437E-A756-EFB12E2D447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014856" y="71451"/>
            <a:ext cx="1532396" cy="249238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rgbClr val="4E5356"/>
                </a:solidFill>
              </a:defRPr>
            </a:lvl1pPr>
          </a:lstStyle>
          <a:p>
            <a:pPr lvl="0"/>
            <a:r>
              <a:rPr lang="ko-KR" altLang="en-US"/>
              <a:t>내용 </a:t>
            </a:r>
            <a:r>
              <a:rPr lang="en-US" altLang="ko-KR"/>
              <a:t>3</a:t>
            </a:r>
            <a:endParaRPr lang="ko-KR" altLang="en-US"/>
          </a:p>
        </p:txBody>
      </p:sp>
      <p:sp>
        <p:nvSpPr>
          <p:cNvPr id="18" name="텍스트 개체 틀 35">
            <a:extLst>
              <a:ext uri="{FF2B5EF4-FFF2-40B4-BE49-F238E27FC236}">
                <a16:creationId xmlns:a16="http://schemas.microsoft.com/office/drawing/2014/main" id="{B231079D-11AF-44DF-94AD-7467126E553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547252" y="71451"/>
            <a:ext cx="1532396" cy="249238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rgbClr val="4E5356"/>
                </a:solidFill>
              </a:defRPr>
            </a:lvl1pPr>
          </a:lstStyle>
          <a:p>
            <a:pPr lvl="0"/>
            <a:r>
              <a:rPr lang="ko-KR" altLang="en-US"/>
              <a:t>내용 </a:t>
            </a:r>
            <a:r>
              <a:rPr lang="en-US" altLang="ko-KR"/>
              <a:t>4</a:t>
            </a:r>
            <a:endParaRPr lang="ko-KR" altLang="en-US"/>
          </a:p>
        </p:txBody>
      </p:sp>
      <p:sp>
        <p:nvSpPr>
          <p:cNvPr id="19" name="텍스트 개체 틀 35">
            <a:extLst>
              <a:ext uri="{FF2B5EF4-FFF2-40B4-BE49-F238E27FC236}">
                <a16:creationId xmlns:a16="http://schemas.microsoft.com/office/drawing/2014/main" id="{41093A69-B55F-4410-88AF-76E1BD916AA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50063" y="426003"/>
            <a:ext cx="3064793" cy="443020"/>
          </a:xfrm>
        </p:spPr>
        <p:txBody>
          <a:bodyPr>
            <a:noAutofit/>
          </a:bodyPr>
          <a:lstStyle>
            <a:lvl1pPr marL="0" indent="0">
              <a:buNone/>
              <a:defRPr sz="2800">
                <a:solidFill>
                  <a:schemeClr val="tx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defRPr>
            </a:lvl1pPr>
          </a:lstStyle>
          <a:p>
            <a:pPr lvl="0"/>
            <a:r>
              <a:rPr lang="ko-KR" altLang="en-US"/>
              <a:t>내용 １</a:t>
            </a:r>
          </a:p>
        </p:txBody>
      </p:sp>
      <p:sp>
        <p:nvSpPr>
          <p:cNvPr id="21" name="자유형: 도형 20">
            <a:extLst>
              <a:ext uri="{FF2B5EF4-FFF2-40B4-BE49-F238E27FC236}">
                <a16:creationId xmlns:a16="http://schemas.microsoft.com/office/drawing/2014/main" id="{A43D3898-B291-4DC6-B6E3-B2ACD2ECA812}"/>
              </a:ext>
            </a:extLst>
          </p:cNvPr>
          <p:cNvSpPr/>
          <p:nvPr userDrawn="1"/>
        </p:nvSpPr>
        <p:spPr>
          <a:xfrm rot="10800000">
            <a:off x="520399" y="0"/>
            <a:ext cx="428017" cy="900826"/>
          </a:xfrm>
          <a:custGeom>
            <a:avLst/>
            <a:gdLst>
              <a:gd name="connsiteX0" fmla="*/ 428017 w 428017"/>
              <a:gd name="connsiteY0" fmla="*/ 1198519 h 1198519"/>
              <a:gd name="connsiteX1" fmla="*/ 0 w 428017"/>
              <a:gd name="connsiteY1" fmla="*/ 1198519 h 1198519"/>
              <a:gd name="connsiteX2" fmla="*/ 0 w 428017"/>
              <a:gd name="connsiteY2" fmla="*/ 23712 h 1198519"/>
              <a:gd name="connsiteX3" fmla="*/ 23712 w 428017"/>
              <a:gd name="connsiteY3" fmla="*/ 0 h 1198519"/>
              <a:gd name="connsiteX4" fmla="*/ 404305 w 428017"/>
              <a:gd name="connsiteY4" fmla="*/ 0 h 1198519"/>
              <a:gd name="connsiteX5" fmla="*/ 428017 w 428017"/>
              <a:gd name="connsiteY5" fmla="*/ 23712 h 1198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28017" h="1198519">
                <a:moveTo>
                  <a:pt x="428017" y="1198519"/>
                </a:moveTo>
                <a:lnTo>
                  <a:pt x="0" y="1198519"/>
                </a:lnTo>
                <a:lnTo>
                  <a:pt x="0" y="23712"/>
                </a:lnTo>
                <a:cubicBezTo>
                  <a:pt x="0" y="10616"/>
                  <a:pt x="10616" y="0"/>
                  <a:pt x="23712" y="0"/>
                </a:cubicBezTo>
                <a:lnTo>
                  <a:pt x="404305" y="0"/>
                </a:lnTo>
                <a:cubicBezTo>
                  <a:pt x="417401" y="0"/>
                  <a:pt x="428017" y="10616"/>
                  <a:pt x="428017" y="23712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5000"/>
                  <a:lumOff val="95000"/>
                </a:schemeClr>
              </a:gs>
              <a:gs pos="30000">
                <a:srgbClr val="C9D6EA"/>
              </a:gs>
              <a:gs pos="100000">
                <a:srgbClr val="97A5E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>
              <a:latin typeface="Microsoft YaHei" panose="020B0503020204020204" pitchFamily="34" charset="-122"/>
            </a:endParaRPr>
          </a:p>
        </p:txBody>
      </p:sp>
      <p:sp>
        <p:nvSpPr>
          <p:cNvPr id="22" name="텍스트 개체 틀 35">
            <a:extLst>
              <a:ext uri="{FF2B5EF4-FFF2-40B4-BE49-F238E27FC236}">
                <a16:creationId xmlns:a16="http://schemas.microsoft.com/office/drawing/2014/main" id="{3441A62F-B3BC-459C-9C01-666BA323624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903564" y="71451"/>
            <a:ext cx="1814291" cy="249238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rgbClr val="4E5356"/>
                </a:solidFill>
              </a:defRPr>
            </a:lvl1pPr>
          </a:lstStyle>
          <a:p>
            <a:pPr lvl="0"/>
            <a:r>
              <a:rPr lang="en-US" altLang="ko-KR"/>
              <a:t>ppt</a:t>
            </a:r>
            <a:r>
              <a:rPr lang="ko-KR" altLang="en-US"/>
              <a:t>제목을입력하세요</a:t>
            </a:r>
          </a:p>
        </p:txBody>
      </p:sp>
      <p:sp>
        <p:nvSpPr>
          <p:cNvPr id="27" name="텍스트 개체 틀 35">
            <a:extLst>
              <a:ext uri="{FF2B5EF4-FFF2-40B4-BE49-F238E27FC236}">
                <a16:creationId xmlns:a16="http://schemas.microsoft.com/office/drawing/2014/main" id="{C23C9414-6BCC-48D2-A4E7-25BDD7EE85E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079648" y="71451"/>
            <a:ext cx="1532396" cy="249238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rgbClr val="4E5356"/>
                </a:solidFill>
              </a:defRPr>
            </a:lvl1pPr>
          </a:lstStyle>
          <a:p>
            <a:pPr lvl="0"/>
            <a:r>
              <a:rPr lang="ko-KR" altLang="en-US"/>
              <a:t>내용 </a:t>
            </a:r>
            <a:r>
              <a:rPr lang="en-US" altLang="ko-KR"/>
              <a:t>5</a:t>
            </a:r>
            <a:endParaRPr lang="ko-KR" altLang="en-US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39F00744-08C2-4BEC-A189-617E5C335317}"/>
              </a:ext>
            </a:extLst>
          </p:cNvPr>
          <p:cNvSpPr/>
          <p:nvPr userDrawn="1"/>
        </p:nvSpPr>
        <p:spPr>
          <a:xfrm>
            <a:off x="948417" y="367850"/>
            <a:ext cx="1532396" cy="45719"/>
          </a:xfrm>
          <a:prstGeom prst="roundRect">
            <a:avLst/>
          </a:prstGeom>
          <a:solidFill>
            <a:srgbClr val="1C2D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Microsoft YaHei" panose="020B0503020204020204" pitchFamily="34" charset="-122"/>
            </a:endParaRPr>
          </a:p>
        </p:txBody>
      </p:sp>
      <p:sp>
        <p:nvSpPr>
          <p:cNvPr id="25" name="텍스트 개체 틀 35">
            <a:extLst>
              <a:ext uri="{FF2B5EF4-FFF2-40B4-BE49-F238E27FC236}">
                <a16:creationId xmlns:a16="http://schemas.microsoft.com/office/drawing/2014/main" id="{D99BA3F7-6A76-4BA7-B02D-5737C9AB69C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482460" y="71451"/>
            <a:ext cx="1532396" cy="249238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rgbClr val="4E5356"/>
                </a:solidFill>
              </a:defRPr>
            </a:lvl1pPr>
          </a:lstStyle>
          <a:p>
            <a:pPr lvl="0"/>
            <a:r>
              <a:rPr lang="ko-KR" altLang="en-US"/>
              <a:t>내용 </a:t>
            </a:r>
            <a:r>
              <a:rPr lang="en-US" altLang="ko-KR"/>
              <a:t>2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91293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2">
    <p:bg>
      <p:bgPr>
        <a:gradFill flip="none" rotWithShape="1">
          <a:gsLst>
            <a:gs pos="0">
              <a:schemeClr val="accent5">
                <a:lumMod val="5000"/>
                <a:lumOff val="95000"/>
              </a:schemeClr>
            </a:gs>
            <a:gs pos="50000">
              <a:schemeClr val="accent5">
                <a:lumMod val="45000"/>
                <a:lumOff val="55000"/>
              </a:schemeClr>
            </a:gs>
            <a:gs pos="100000">
              <a:srgbClr val="97A5E1"/>
            </a:gs>
          </a:gsLst>
          <a:path path="rect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자유형: 도형 21">
            <a:extLst>
              <a:ext uri="{FF2B5EF4-FFF2-40B4-BE49-F238E27FC236}">
                <a16:creationId xmlns:a16="http://schemas.microsoft.com/office/drawing/2014/main" id="{C808B203-F523-4D2B-AFCE-DFC0F8F62649}"/>
              </a:ext>
            </a:extLst>
          </p:cNvPr>
          <p:cNvSpPr/>
          <p:nvPr userDrawn="1"/>
        </p:nvSpPr>
        <p:spPr>
          <a:xfrm>
            <a:off x="-3209665" y="-2031635"/>
            <a:ext cx="7082703" cy="7561166"/>
          </a:xfrm>
          <a:custGeom>
            <a:avLst/>
            <a:gdLst>
              <a:gd name="connsiteX0" fmla="*/ 534563 w 5381712"/>
              <a:gd name="connsiteY0" fmla="*/ 0 h 4778008"/>
              <a:gd name="connsiteX1" fmla="*/ 4847150 w 5381712"/>
              <a:gd name="connsiteY1" fmla="*/ 0 h 4778008"/>
              <a:gd name="connsiteX2" fmla="*/ 4922157 w 5381712"/>
              <a:gd name="connsiteY2" fmla="*/ 111568 h 4778008"/>
              <a:gd name="connsiteX3" fmla="*/ 5381712 w 5381712"/>
              <a:gd name="connsiteY3" fmla="*/ 1784992 h 4778008"/>
              <a:gd name="connsiteX4" fmla="*/ 2690856 w 5381712"/>
              <a:gd name="connsiteY4" fmla="*/ 4778008 h 4778008"/>
              <a:gd name="connsiteX5" fmla="*/ 0 w 5381712"/>
              <a:gd name="connsiteY5" fmla="*/ 1784992 h 4778008"/>
              <a:gd name="connsiteX6" fmla="*/ 459556 w 5381712"/>
              <a:gd name="connsiteY6" fmla="*/ 111568 h 4778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381712" h="4778008">
                <a:moveTo>
                  <a:pt x="534563" y="0"/>
                </a:moveTo>
                <a:lnTo>
                  <a:pt x="4847150" y="0"/>
                </a:lnTo>
                <a:lnTo>
                  <a:pt x="4922157" y="111568"/>
                </a:lnTo>
                <a:cubicBezTo>
                  <a:pt x="5212296" y="589257"/>
                  <a:pt x="5381712" y="1165118"/>
                  <a:pt x="5381712" y="1784992"/>
                </a:cubicBezTo>
                <a:cubicBezTo>
                  <a:pt x="5381712" y="3437989"/>
                  <a:pt x="4176975" y="4778008"/>
                  <a:pt x="2690856" y="4778008"/>
                </a:cubicBezTo>
                <a:cubicBezTo>
                  <a:pt x="1204737" y="4778008"/>
                  <a:pt x="0" y="3437989"/>
                  <a:pt x="0" y="1784992"/>
                </a:cubicBezTo>
                <a:cubicBezTo>
                  <a:pt x="0" y="1165118"/>
                  <a:pt x="169416" y="589257"/>
                  <a:pt x="459556" y="111568"/>
                </a:cubicBezTo>
                <a:close/>
              </a:path>
            </a:pathLst>
          </a:custGeom>
          <a:gradFill flip="none" rotWithShape="1">
            <a:gsLst>
              <a:gs pos="15000">
                <a:srgbClr val="FDBB2D">
                  <a:alpha val="35000"/>
                </a:srgbClr>
              </a:gs>
              <a:gs pos="0">
                <a:srgbClr val="FDBB2D">
                  <a:alpha val="40000"/>
                </a:srgbClr>
              </a:gs>
              <a:gs pos="60000">
                <a:srgbClr val="FDBB2D">
                  <a:alpha val="0"/>
                </a:srgb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>
              <a:latin typeface="Microsoft YaHei" panose="020B0503020204020204" pitchFamily="34" charset="-122"/>
            </a:endParaRPr>
          </a:p>
        </p:txBody>
      </p:sp>
      <p:sp>
        <p:nvSpPr>
          <p:cNvPr id="20" name="자유형: 도형 19">
            <a:extLst>
              <a:ext uri="{FF2B5EF4-FFF2-40B4-BE49-F238E27FC236}">
                <a16:creationId xmlns:a16="http://schemas.microsoft.com/office/drawing/2014/main" id="{A39E53BB-52FA-43FF-AFCE-A6744540A2EB}"/>
              </a:ext>
            </a:extLst>
          </p:cNvPr>
          <p:cNvSpPr/>
          <p:nvPr userDrawn="1"/>
        </p:nvSpPr>
        <p:spPr>
          <a:xfrm>
            <a:off x="1004094" y="-1147317"/>
            <a:ext cx="7415248" cy="5594406"/>
          </a:xfrm>
          <a:custGeom>
            <a:avLst/>
            <a:gdLst>
              <a:gd name="connsiteX0" fmla="*/ 227205 w 6627582"/>
              <a:gd name="connsiteY0" fmla="*/ 0 h 4804417"/>
              <a:gd name="connsiteX1" fmla="*/ 6400377 w 6627582"/>
              <a:gd name="connsiteY1" fmla="*/ 0 h 4804417"/>
              <a:gd name="connsiteX2" fmla="*/ 6478601 w 6627582"/>
              <a:gd name="connsiteY2" fmla="*/ 227526 h 4804417"/>
              <a:gd name="connsiteX3" fmla="*/ 6627582 w 6627582"/>
              <a:gd name="connsiteY3" fmla="*/ 1276593 h 4804417"/>
              <a:gd name="connsiteX4" fmla="*/ 3313791 w 6627582"/>
              <a:gd name="connsiteY4" fmla="*/ 4804417 h 4804417"/>
              <a:gd name="connsiteX5" fmla="*/ 0 w 6627582"/>
              <a:gd name="connsiteY5" fmla="*/ 1276593 h 4804417"/>
              <a:gd name="connsiteX6" fmla="*/ 148982 w 6627582"/>
              <a:gd name="connsiteY6" fmla="*/ 227526 h 4804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27582" h="4804417">
                <a:moveTo>
                  <a:pt x="227205" y="0"/>
                </a:moveTo>
                <a:lnTo>
                  <a:pt x="6400377" y="0"/>
                </a:lnTo>
                <a:lnTo>
                  <a:pt x="6478601" y="227526"/>
                </a:lnTo>
                <a:cubicBezTo>
                  <a:pt x="6575423" y="558926"/>
                  <a:pt x="6627582" y="911275"/>
                  <a:pt x="6627582" y="1276593"/>
                </a:cubicBezTo>
                <a:cubicBezTo>
                  <a:pt x="6627582" y="3224956"/>
                  <a:pt x="5143947" y="4804417"/>
                  <a:pt x="3313791" y="4804417"/>
                </a:cubicBezTo>
                <a:cubicBezTo>
                  <a:pt x="1483635" y="4804417"/>
                  <a:pt x="0" y="3224956"/>
                  <a:pt x="0" y="1276593"/>
                </a:cubicBezTo>
                <a:cubicBezTo>
                  <a:pt x="0" y="911275"/>
                  <a:pt x="52159" y="558926"/>
                  <a:pt x="148982" y="227526"/>
                </a:cubicBezTo>
                <a:close/>
              </a:path>
            </a:pathLst>
          </a:custGeom>
          <a:gradFill flip="none" rotWithShape="1">
            <a:gsLst>
              <a:gs pos="60000">
                <a:srgbClr val="9CCBD4">
                  <a:alpha val="0"/>
                </a:srgbClr>
              </a:gs>
              <a:gs pos="15000">
                <a:srgbClr val="9CCBD4"/>
              </a:gs>
              <a:gs pos="0">
                <a:srgbClr val="9CCBD4"/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>
              <a:latin typeface="Microsoft YaHei" panose="020B0503020204020204" pitchFamily="34" charset="-122"/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A4AF9BAD-4D12-4B0F-A748-373FEADCC305}"/>
              </a:ext>
            </a:extLst>
          </p:cNvPr>
          <p:cNvSpPr/>
          <p:nvPr userDrawn="1"/>
        </p:nvSpPr>
        <p:spPr>
          <a:xfrm>
            <a:off x="-1772063" y="2264601"/>
            <a:ext cx="9154601" cy="8199278"/>
          </a:xfrm>
          <a:prstGeom prst="ellipse">
            <a:avLst/>
          </a:prstGeom>
          <a:gradFill flip="none" rotWithShape="1">
            <a:gsLst>
              <a:gs pos="60000">
                <a:srgbClr val="91A0DF">
                  <a:alpha val="49804"/>
                </a:srgbClr>
              </a:gs>
              <a:gs pos="15000">
                <a:srgbClr val="97A5E1"/>
              </a:gs>
              <a:gs pos="0">
                <a:srgbClr val="97A5E1"/>
              </a:gs>
              <a:gs pos="90000">
                <a:srgbClr val="97A5E1">
                  <a:alpha val="0"/>
                </a:srgb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Microsoft YaHei" panose="020B0503020204020204" pitchFamily="34" charset="-122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0CDC87A9-7315-436D-BD62-3F89BBBBE317}"/>
              </a:ext>
            </a:extLst>
          </p:cNvPr>
          <p:cNvSpPr/>
          <p:nvPr userDrawn="1"/>
        </p:nvSpPr>
        <p:spPr>
          <a:xfrm>
            <a:off x="-1616213" y="-2520950"/>
            <a:ext cx="15093635" cy="2514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Microsoft YaHei" panose="020B0503020204020204" pitchFamily="34" charset="-122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703CAF99-ED92-43AC-87C1-C64A50E8279A}"/>
              </a:ext>
            </a:extLst>
          </p:cNvPr>
          <p:cNvSpPr/>
          <p:nvPr userDrawn="1"/>
        </p:nvSpPr>
        <p:spPr>
          <a:xfrm rot="16200000">
            <a:off x="-5357641" y="2171701"/>
            <a:ext cx="8199279" cy="2514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Microsoft YaHei" panose="020B0503020204020204" pitchFamily="34" charset="-122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198EF600-CA07-471A-AEC5-6849245E2B24}"/>
              </a:ext>
            </a:extLst>
          </p:cNvPr>
          <p:cNvSpPr/>
          <p:nvPr userDrawn="1"/>
        </p:nvSpPr>
        <p:spPr>
          <a:xfrm>
            <a:off x="-1089273" y="6873085"/>
            <a:ext cx="15093635" cy="3142159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Microsoft YaHei" panose="020B0503020204020204" pitchFamily="34" charset="-122"/>
            </a:endParaRPr>
          </a:p>
        </p:txBody>
      </p: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F72A7438-EBF4-4E48-ADAC-12F161A4CA7E}"/>
              </a:ext>
            </a:extLst>
          </p:cNvPr>
          <p:cNvCxnSpPr>
            <a:cxnSpLocks/>
          </p:cNvCxnSpPr>
          <p:nvPr userDrawn="1"/>
        </p:nvCxnSpPr>
        <p:spPr>
          <a:xfrm>
            <a:off x="546299" y="5618951"/>
            <a:ext cx="11041345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7F0C7033-3798-4208-9878-59E818453FA1}"/>
              </a:ext>
            </a:extLst>
          </p:cNvPr>
          <p:cNvSpPr txBox="1"/>
          <p:nvPr userDrawn="1"/>
        </p:nvSpPr>
        <p:spPr>
          <a:xfrm>
            <a:off x="546297" y="4953549"/>
            <a:ext cx="3641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80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지능</a:t>
            </a:r>
            <a:r>
              <a:rPr lang="en-US" altLang="ko-KR" sz="180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•</a:t>
            </a:r>
            <a:r>
              <a:rPr lang="ko-KR" altLang="en-US" sz="180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인터랙션 연구센터</a:t>
            </a:r>
            <a:endParaRPr lang="en-US" altLang="ko-KR" sz="180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2884E68-801F-4D96-94E8-16A93CEF27B7}"/>
              </a:ext>
            </a:extLst>
          </p:cNvPr>
          <p:cNvSpPr txBox="1"/>
          <p:nvPr userDrawn="1"/>
        </p:nvSpPr>
        <p:spPr>
          <a:xfrm>
            <a:off x="546297" y="4469855"/>
            <a:ext cx="3641073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700">
                <a:solidFill>
                  <a:srgbClr val="1C2D74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N</a:t>
            </a:r>
            <a:r>
              <a:rPr lang="en-US" altLang="ko-KR" sz="170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eural </a:t>
            </a:r>
            <a:r>
              <a:rPr lang="en-US" altLang="ko-KR" sz="1700">
                <a:solidFill>
                  <a:srgbClr val="B21D1D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V</a:t>
            </a:r>
            <a:r>
              <a:rPr lang="en-US" altLang="ko-KR" sz="170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ision </a:t>
            </a:r>
            <a:r>
              <a:rPr lang="en-US" altLang="ko-KR" sz="1700">
                <a:solidFill>
                  <a:srgbClr val="FDBB2D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A</a:t>
            </a:r>
            <a:r>
              <a:rPr lang="en-US" altLang="ko-KR" sz="170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lgorithm Lab.</a:t>
            </a:r>
          </a:p>
        </p:txBody>
      </p:sp>
      <p:pic>
        <p:nvPicPr>
          <p:cNvPr id="39" name="그림 38">
            <a:extLst>
              <a:ext uri="{FF2B5EF4-FFF2-40B4-BE49-F238E27FC236}">
                <a16:creationId xmlns:a16="http://schemas.microsoft.com/office/drawing/2014/main" id="{0F022398-C71D-47D7-958F-5A7F6D493E2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524" b="89286" l="9816" r="90798">
                        <a14:foregroundMark x1="67485" y1="52381" x2="67485" y2="52381"/>
                        <a14:foregroundMark x1="90798" y1="83333" x2="90798" y2="83333"/>
                        <a14:foregroundMark x1="61963" y1="89286" x2="61963" y2="89286"/>
                        <a14:foregroundMark x1="36196" y1="55952" x2="36196" y2="5595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458571" y="5963310"/>
            <a:ext cx="1129073" cy="581855"/>
          </a:xfrm>
          <a:prstGeom prst="rect">
            <a:avLst/>
          </a:prstGeom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E013463D-BAAD-4158-A18E-9ADBA8DEEDF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46298" y="5797792"/>
            <a:ext cx="858443" cy="858443"/>
          </a:xfrm>
          <a:prstGeom prst="rect">
            <a:avLst/>
          </a:prstGeom>
        </p:spPr>
      </p:pic>
      <p:sp>
        <p:nvSpPr>
          <p:cNvPr id="12" name="제목 11">
            <a:extLst>
              <a:ext uri="{FF2B5EF4-FFF2-40B4-BE49-F238E27FC236}">
                <a16:creationId xmlns:a16="http://schemas.microsoft.com/office/drawing/2014/main" id="{D9BD2A7C-A7B9-4DAF-8A78-CB985E67AD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297" y="493760"/>
            <a:ext cx="5140030" cy="1728527"/>
          </a:xfrm>
        </p:spPr>
        <p:txBody>
          <a:bodyPr>
            <a:noAutofit/>
          </a:bodyPr>
          <a:lstStyle>
            <a:lvl1pPr>
              <a:defRPr sz="6000">
                <a:solidFill>
                  <a:schemeClr val="bg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defRPr>
            </a:lvl1pPr>
          </a:lstStyle>
          <a:p>
            <a:r>
              <a:rPr lang="ko-KR" altLang="en-US"/>
              <a:t>제목을 </a:t>
            </a:r>
            <a:br>
              <a:rPr lang="en-US" altLang="ko-KR"/>
            </a:br>
            <a:r>
              <a:rPr lang="ko-KR" altLang="en-US"/>
              <a:t>입력하세요</a:t>
            </a:r>
          </a:p>
        </p:txBody>
      </p:sp>
      <p:sp>
        <p:nvSpPr>
          <p:cNvPr id="18" name="텍스트 개체 틀 17">
            <a:extLst>
              <a:ext uri="{FF2B5EF4-FFF2-40B4-BE49-F238E27FC236}">
                <a16:creationId xmlns:a16="http://schemas.microsoft.com/office/drawing/2014/main" id="{EA0E399E-47C5-488C-9785-67B8711D739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6297" y="4130044"/>
            <a:ext cx="2330642" cy="317045"/>
          </a:xfrm>
        </p:spPr>
        <p:txBody>
          <a:bodyPr>
            <a:normAutofit/>
          </a:bodyPr>
          <a:lstStyle>
            <a:lvl1pPr marL="0" indent="0">
              <a:buNone/>
              <a:defRPr sz="1700"/>
            </a:lvl1pPr>
          </a:lstStyle>
          <a:p>
            <a:pPr lvl="0"/>
            <a:r>
              <a:rPr lang="ko-KR" altLang="en-US"/>
              <a:t>날짜를 입력하세요</a:t>
            </a:r>
            <a:endParaRPr lang="en-US" altLang="ko-KR"/>
          </a:p>
        </p:txBody>
      </p:sp>
      <p:sp>
        <p:nvSpPr>
          <p:cNvPr id="33" name="텍스트 개체 틀 17">
            <a:extLst>
              <a:ext uri="{FF2B5EF4-FFF2-40B4-BE49-F238E27FC236}">
                <a16:creationId xmlns:a16="http://schemas.microsoft.com/office/drawing/2014/main" id="{79608130-51A0-45F4-9055-8828E3EF6EC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297" y="5295404"/>
            <a:ext cx="2330642" cy="323547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ko-KR" altLang="en-US"/>
              <a:t>이름을 입력하세요 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6437619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슬라이드 번호 개체 틀 1024">
            <a:extLst>
              <a:ext uri="{FF2B5EF4-FFF2-40B4-BE49-F238E27FC236}">
                <a16:creationId xmlns:a16="http://schemas.microsoft.com/office/drawing/2014/main" id="{1B1955CC-C4C3-4FDC-849A-8AA73B8072A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366500" y="6369912"/>
            <a:ext cx="506191" cy="365125"/>
          </a:xfrm>
        </p:spPr>
        <p:txBody>
          <a:bodyPr/>
          <a:lstStyle/>
          <a:p>
            <a:fld id="{32B19318-762D-4FD0-A50B-207ABA46F30B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DFFAD536-AB0A-4DC6-A158-D59865CB41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524" b="89286" l="9816" r="90798">
                        <a14:foregroundMark x1="67485" y1="52381" x2="67485" y2="52381"/>
                        <a14:foregroundMark x1="90798" y1="83333" x2="90798" y2="83333"/>
                        <a14:foregroundMark x1="61963" y1="89286" x2="61963" y2="89286"/>
                        <a14:foregroundMark x1="36196" y1="55952" x2="36196" y2="5595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2582" y="6509703"/>
            <a:ext cx="437254" cy="225334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693D5193-FE20-4F60-AA44-EE490943185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32470" y="60416"/>
            <a:ext cx="297478" cy="297478"/>
          </a:xfrm>
          <a:prstGeom prst="rect">
            <a:avLst/>
          </a:prstGeom>
        </p:spPr>
      </p:pic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B4B957D9-F777-4279-AA65-ECD39C5FF576}"/>
              </a:ext>
            </a:extLst>
          </p:cNvPr>
          <p:cNvCxnSpPr>
            <a:cxnSpLocks/>
          </p:cNvCxnSpPr>
          <p:nvPr userDrawn="1"/>
        </p:nvCxnSpPr>
        <p:spPr>
          <a:xfrm flipV="1">
            <a:off x="950064" y="390710"/>
            <a:ext cx="10767791" cy="3490"/>
          </a:xfrm>
          <a:prstGeom prst="line">
            <a:avLst/>
          </a:prstGeom>
          <a:ln w="28575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텍스트 개체 틀 35">
            <a:extLst>
              <a:ext uri="{FF2B5EF4-FFF2-40B4-BE49-F238E27FC236}">
                <a16:creationId xmlns:a16="http://schemas.microsoft.com/office/drawing/2014/main" id="{00085872-7230-4C8B-99C4-9395825E0C3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50064" y="71451"/>
            <a:ext cx="1532396" cy="249238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ko-KR" altLang="en-US"/>
              <a:t>내용 </a:t>
            </a:r>
            <a:r>
              <a:rPr lang="en-US" altLang="ko-KR"/>
              <a:t>1</a:t>
            </a:r>
            <a:endParaRPr lang="ko-KR" altLang="en-US"/>
          </a:p>
        </p:txBody>
      </p:sp>
      <p:sp>
        <p:nvSpPr>
          <p:cNvPr id="18" name="텍스트 개체 틀 35">
            <a:extLst>
              <a:ext uri="{FF2B5EF4-FFF2-40B4-BE49-F238E27FC236}">
                <a16:creationId xmlns:a16="http://schemas.microsoft.com/office/drawing/2014/main" id="{0F3AD715-F1CC-4410-8195-380A9B8DFB7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014856" y="71451"/>
            <a:ext cx="1532396" cy="249238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rgbClr val="4E5356"/>
                </a:solidFill>
              </a:defRPr>
            </a:lvl1pPr>
          </a:lstStyle>
          <a:p>
            <a:pPr lvl="0"/>
            <a:r>
              <a:rPr lang="ko-KR" altLang="en-US"/>
              <a:t>내용 </a:t>
            </a:r>
            <a:r>
              <a:rPr lang="en-US" altLang="ko-KR"/>
              <a:t>3</a:t>
            </a:r>
            <a:endParaRPr lang="ko-KR" altLang="en-US"/>
          </a:p>
        </p:txBody>
      </p:sp>
      <p:sp>
        <p:nvSpPr>
          <p:cNvPr id="19" name="텍스트 개체 틀 35">
            <a:extLst>
              <a:ext uri="{FF2B5EF4-FFF2-40B4-BE49-F238E27FC236}">
                <a16:creationId xmlns:a16="http://schemas.microsoft.com/office/drawing/2014/main" id="{96C1EE21-E2E5-4979-9EB5-09479AE2D99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547252" y="71451"/>
            <a:ext cx="1532396" cy="249238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rgbClr val="4E5356"/>
                </a:solidFill>
              </a:defRPr>
            </a:lvl1pPr>
          </a:lstStyle>
          <a:p>
            <a:pPr lvl="0"/>
            <a:r>
              <a:rPr lang="ko-KR" altLang="en-US"/>
              <a:t>내용 </a:t>
            </a:r>
            <a:r>
              <a:rPr lang="en-US" altLang="ko-KR"/>
              <a:t>4</a:t>
            </a:r>
            <a:endParaRPr lang="ko-KR" altLang="en-US"/>
          </a:p>
        </p:txBody>
      </p:sp>
      <p:sp>
        <p:nvSpPr>
          <p:cNvPr id="20" name="텍스트 개체 틀 35">
            <a:extLst>
              <a:ext uri="{FF2B5EF4-FFF2-40B4-BE49-F238E27FC236}">
                <a16:creationId xmlns:a16="http://schemas.microsoft.com/office/drawing/2014/main" id="{40BB9D48-FB3E-45DD-885A-11E9752E25F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50063" y="426003"/>
            <a:ext cx="3064793" cy="443020"/>
          </a:xfrm>
        </p:spPr>
        <p:txBody>
          <a:bodyPr>
            <a:noAutofit/>
          </a:bodyPr>
          <a:lstStyle>
            <a:lvl1pPr marL="0" indent="0">
              <a:buNone/>
              <a:defRPr sz="2800">
                <a:solidFill>
                  <a:schemeClr val="tx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defRPr>
            </a:lvl1pPr>
          </a:lstStyle>
          <a:p>
            <a:pPr lvl="0"/>
            <a:r>
              <a:rPr lang="ko-KR" altLang="en-US"/>
              <a:t>내용 </a:t>
            </a:r>
            <a:r>
              <a:rPr lang="en-US" altLang="ko-KR"/>
              <a:t>2</a:t>
            </a:r>
            <a:endParaRPr lang="ko-KR" altLang="en-US"/>
          </a:p>
        </p:txBody>
      </p:sp>
      <p:sp>
        <p:nvSpPr>
          <p:cNvPr id="22" name="자유형: 도형 21">
            <a:extLst>
              <a:ext uri="{FF2B5EF4-FFF2-40B4-BE49-F238E27FC236}">
                <a16:creationId xmlns:a16="http://schemas.microsoft.com/office/drawing/2014/main" id="{1F6B3F4E-EDBC-4866-99B6-38013DB26762}"/>
              </a:ext>
            </a:extLst>
          </p:cNvPr>
          <p:cNvSpPr/>
          <p:nvPr userDrawn="1"/>
        </p:nvSpPr>
        <p:spPr>
          <a:xfrm rot="10800000">
            <a:off x="520399" y="0"/>
            <a:ext cx="428017" cy="900826"/>
          </a:xfrm>
          <a:custGeom>
            <a:avLst/>
            <a:gdLst>
              <a:gd name="connsiteX0" fmla="*/ 428017 w 428017"/>
              <a:gd name="connsiteY0" fmla="*/ 1198519 h 1198519"/>
              <a:gd name="connsiteX1" fmla="*/ 0 w 428017"/>
              <a:gd name="connsiteY1" fmla="*/ 1198519 h 1198519"/>
              <a:gd name="connsiteX2" fmla="*/ 0 w 428017"/>
              <a:gd name="connsiteY2" fmla="*/ 23712 h 1198519"/>
              <a:gd name="connsiteX3" fmla="*/ 23712 w 428017"/>
              <a:gd name="connsiteY3" fmla="*/ 0 h 1198519"/>
              <a:gd name="connsiteX4" fmla="*/ 404305 w 428017"/>
              <a:gd name="connsiteY4" fmla="*/ 0 h 1198519"/>
              <a:gd name="connsiteX5" fmla="*/ 428017 w 428017"/>
              <a:gd name="connsiteY5" fmla="*/ 23712 h 1198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28017" h="1198519">
                <a:moveTo>
                  <a:pt x="428017" y="1198519"/>
                </a:moveTo>
                <a:lnTo>
                  <a:pt x="0" y="1198519"/>
                </a:lnTo>
                <a:lnTo>
                  <a:pt x="0" y="23712"/>
                </a:lnTo>
                <a:cubicBezTo>
                  <a:pt x="0" y="10616"/>
                  <a:pt x="10616" y="0"/>
                  <a:pt x="23712" y="0"/>
                </a:cubicBezTo>
                <a:lnTo>
                  <a:pt x="404305" y="0"/>
                </a:lnTo>
                <a:cubicBezTo>
                  <a:pt x="417401" y="0"/>
                  <a:pt x="428017" y="10616"/>
                  <a:pt x="428017" y="23712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5000"/>
                  <a:lumOff val="95000"/>
                </a:schemeClr>
              </a:gs>
              <a:gs pos="30000">
                <a:srgbClr val="C9D6EA"/>
              </a:gs>
              <a:gs pos="100000">
                <a:srgbClr val="97A5E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>
              <a:latin typeface="Microsoft YaHei" panose="020B0503020204020204" pitchFamily="34" charset="-122"/>
            </a:endParaRPr>
          </a:p>
        </p:txBody>
      </p:sp>
      <p:sp>
        <p:nvSpPr>
          <p:cNvPr id="25" name="텍스트 개체 틀 35">
            <a:extLst>
              <a:ext uri="{FF2B5EF4-FFF2-40B4-BE49-F238E27FC236}">
                <a16:creationId xmlns:a16="http://schemas.microsoft.com/office/drawing/2014/main" id="{3DDD597A-C357-4057-8720-BE994A49763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903564" y="71451"/>
            <a:ext cx="1814291" cy="249238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rgbClr val="4E5356"/>
                </a:solidFill>
              </a:defRPr>
            </a:lvl1pPr>
          </a:lstStyle>
          <a:p>
            <a:pPr lvl="0"/>
            <a:r>
              <a:rPr lang="en-US" altLang="ko-KR"/>
              <a:t>ppt</a:t>
            </a:r>
            <a:r>
              <a:rPr lang="ko-KR" altLang="en-US"/>
              <a:t>제목을입력하세요</a:t>
            </a:r>
          </a:p>
        </p:txBody>
      </p:sp>
      <p:sp>
        <p:nvSpPr>
          <p:cNvPr id="26" name="텍스트 개체 틀 35">
            <a:extLst>
              <a:ext uri="{FF2B5EF4-FFF2-40B4-BE49-F238E27FC236}">
                <a16:creationId xmlns:a16="http://schemas.microsoft.com/office/drawing/2014/main" id="{2A54D92B-4D8B-4C04-8B08-9D2BE69E4C3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079648" y="71451"/>
            <a:ext cx="1532396" cy="249238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rgbClr val="4E5356"/>
                </a:solidFill>
              </a:defRPr>
            </a:lvl1pPr>
          </a:lstStyle>
          <a:p>
            <a:pPr lvl="0"/>
            <a:r>
              <a:rPr lang="ko-KR" altLang="en-US"/>
              <a:t>내용 </a:t>
            </a:r>
            <a:r>
              <a:rPr lang="en-US" altLang="ko-KR"/>
              <a:t>5</a:t>
            </a:r>
            <a:endParaRPr lang="ko-KR" altLang="en-US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2B871920-7D80-4B4E-93D5-16B4918E73B5}"/>
              </a:ext>
            </a:extLst>
          </p:cNvPr>
          <p:cNvSpPr/>
          <p:nvPr userDrawn="1"/>
        </p:nvSpPr>
        <p:spPr>
          <a:xfrm>
            <a:off x="2482460" y="361720"/>
            <a:ext cx="1532396" cy="45719"/>
          </a:xfrm>
          <a:prstGeom prst="roundRect">
            <a:avLst/>
          </a:prstGeom>
          <a:solidFill>
            <a:srgbClr val="1C2D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Microsoft YaHei" panose="020B0503020204020204" pitchFamily="34" charset="-122"/>
            </a:endParaRPr>
          </a:p>
        </p:txBody>
      </p:sp>
      <p:sp>
        <p:nvSpPr>
          <p:cNvPr id="28" name="텍스트 개체 틀 35">
            <a:extLst>
              <a:ext uri="{FF2B5EF4-FFF2-40B4-BE49-F238E27FC236}">
                <a16:creationId xmlns:a16="http://schemas.microsoft.com/office/drawing/2014/main" id="{0FCDCDC7-0F83-4E02-8112-C6EC3608D6D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482460" y="71451"/>
            <a:ext cx="1532396" cy="249238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rgbClr val="1C2D74"/>
                </a:solidFill>
              </a:defRPr>
            </a:lvl1pPr>
          </a:lstStyle>
          <a:p>
            <a:pPr lvl="0"/>
            <a:r>
              <a:rPr lang="ko-KR" altLang="en-US"/>
              <a:t>내용 </a:t>
            </a:r>
            <a:r>
              <a:rPr lang="en-US" altLang="ko-KR"/>
              <a:t>2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143082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내용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슬라이드 번호 개체 틀 1024">
            <a:extLst>
              <a:ext uri="{FF2B5EF4-FFF2-40B4-BE49-F238E27FC236}">
                <a16:creationId xmlns:a16="http://schemas.microsoft.com/office/drawing/2014/main" id="{1B1955CC-C4C3-4FDC-849A-8AA73B8072A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366500" y="6369912"/>
            <a:ext cx="506191" cy="365125"/>
          </a:xfrm>
        </p:spPr>
        <p:txBody>
          <a:bodyPr/>
          <a:lstStyle/>
          <a:p>
            <a:fld id="{32B19318-762D-4FD0-A50B-207ABA46F30B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DFFAD536-AB0A-4DC6-A158-D59865CB41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524" b="89286" l="9816" r="90798">
                        <a14:foregroundMark x1="67485" y1="52381" x2="67485" y2="52381"/>
                        <a14:foregroundMark x1="90798" y1="83333" x2="90798" y2="83333"/>
                        <a14:foregroundMark x1="61963" y1="89286" x2="61963" y2="89286"/>
                        <a14:foregroundMark x1="36196" y1="55952" x2="36196" y2="5595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2582" y="6509703"/>
            <a:ext cx="437254" cy="225334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693D5193-FE20-4F60-AA44-EE490943185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32470" y="60416"/>
            <a:ext cx="297478" cy="297478"/>
          </a:xfrm>
          <a:prstGeom prst="rect">
            <a:avLst/>
          </a:prstGeom>
        </p:spPr>
      </p:pic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B4B957D9-F777-4279-AA65-ECD39C5FF576}"/>
              </a:ext>
            </a:extLst>
          </p:cNvPr>
          <p:cNvCxnSpPr>
            <a:cxnSpLocks/>
          </p:cNvCxnSpPr>
          <p:nvPr userDrawn="1"/>
        </p:nvCxnSpPr>
        <p:spPr>
          <a:xfrm flipV="1">
            <a:off x="950064" y="390710"/>
            <a:ext cx="10767791" cy="3490"/>
          </a:xfrm>
          <a:prstGeom prst="line">
            <a:avLst/>
          </a:prstGeom>
          <a:ln w="28575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텍스트 개체 틀 35">
            <a:extLst>
              <a:ext uri="{FF2B5EF4-FFF2-40B4-BE49-F238E27FC236}">
                <a16:creationId xmlns:a16="http://schemas.microsoft.com/office/drawing/2014/main" id="{00085872-7230-4C8B-99C4-9395825E0C3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50064" y="71451"/>
            <a:ext cx="1532396" cy="249238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ko-KR" altLang="en-US"/>
              <a:t>내용 </a:t>
            </a:r>
            <a:r>
              <a:rPr lang="en-US" altLang="ko-KR"/>
              <a:t>1</a:t>
            </a:r>
            <a:endParaRPr lang="ko-KR" altLang="en-US"/>
          </a:p>
        </p:txBody>
      </p:sp>
      <p:sp>
        <p:nvSpPr>
          <p:cNvPr id="18" name="텍스트 개체 틀 35">
            <a:extLst>
              <a:ext uri="{FF2B5EF4-FFF2-40B4-BE49-F238E27FC236}">
                <a16:creationId xmlns:a16="http://schemas.microsoft.com/office/drawing/2014/main" id="{0F3AD715-F1CC-4410-8195-380A9B8DFB7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014856" y="71451"/>
            <a:ext cx="1532396" cy="249238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rgbClr val="1C2D74"/>
                </a:solidFill>
              </a:defRPr>
            </a:lvl1pPr>
          </a:lstStyle>
          <a:p>
            <a:pPr lvl="0"/>
            <a:r>
              <a:rPr lang="ko-KR" altLang="en-US"/>
              <a:t>내용 </a:t>
            </a:r>
            <a:r>
              <a:rPr lang="en-US" altLang="ko-KR"/>
              <a:t>3</a:t>
            </a:r>
            <a:endParaRPr lang="ko-KR" altLang="en-US"/>
          </a:p>
        </p:txBody>
      </p:sp>
      <p:sp>
        <p:nvSpPr>
          <p:cNvPr id="19" name="텍스트 개체 틀 35">
            <a:extLst>
              <a:ext uri="{FF2B5EF4-FFF2-40B4-BE49-F238E27FC236}">
                <a16:creationId xmlns:a16="http://schemas.microsoft.com/office/drawing/2014/main" id="{96C1EE21-E2E5-4979-9EB5-09479AE2D99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547252" y="71451"/>
            <a:ext cx="1532396" cy="249238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rgbClr val="4E5356"/>
                </a:solidFill>
              </a:defRPr>
            </a:lvl1pPr>
          </a:lstStyle>
          <a:p>
            <a:pPr lvl="0"/>
            <a:r>
              <a:rPr lang="ko-KR" altLang="en-US"/>
              <a:t>내용 </a:t>
            </a:r>
            <a:r>
              <a:rPr lang="en-US" altLang="ko-KR"/>
              <a:t>4</a:t>
            </a:r>
            <a:endParaRPr lang="ko-KR" altLang="en-US"/>
          </a:p>
        </p:txBody>
      </p:sp>
      <p:sp>
        <p:nvSpPr>
          <p:cNvPr id="20" name="텍스트 개체 틀 35">
            <a:extLst>
              <a:ext uri="{FF2B5EF4-FFF2-40B4-BE49-F238E27FC236}">
                <a16:creationId xmlns:a16="http://schemas.microsoft.com/office/drawing/2014/main" id="{40BB9D48-FB3E-45DD-885A-11E9752E25F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50063" y="426003"/>
            <a:ext cx="3064793" cy="443020"/>
          </a:xfrm>
        </p:spPr>
        <p:txBody>
          <a:bodyPr>
            <a:noAutofit/>
          </a:bodyPr>
          <a:lstStyle>
            <a:lvl1pPr marL="0" indent="0">
              <a:buNone/>
              <a:defRPr sz="2800">
                <a:solidFill>
                  <a:schemeClr val="tx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defRPr>
            </a:lvl1pPr>
          </a:lstStyle>
          <a:p>
            <a:pPr lvl="0"/>
            <a:r>
              <a:rPr lang="ko-KR" altLang="en-US"/>
              <a:t>내용 </a:t>
            </a:r>
            <a:r>
              <a:rPr lang="en-US" altLang="ko-KR"/>
              <a:t>3</a:t>
            </a:r>
            <a:endParaRPr lang="ko-KR" altLang="en-US"/>
          </a:p>
        </p:txBody>
      </p:sp>
      <p:sp>
        <p:nvSpPr>
          <p:cNvPr id="22" name="자유형: 도형 21">
            <a:extLst>
              <a:ext uri="{FF2B5EF4-FFF2-40B4-BE49-F238E27FC236}">
                <a16:creationId xmlns:a16="http://schemas.microsoft.com/office/drawing/2014/main" id="{1F6B3F4E-EDBC-4866-99B6-38013DB26762}"/>
              </a:ext>
            </a:extLst>
          </p:cNvPr>
          <p:cNvSpPr/>
          <p:nvPr userDrawn="1"/>
        </p:nvSpPr>
        <p:spPr>
          <a:xfrm rot="10800000">
            <a:off x="520399" y="0"/>
            <a:ext cx="428017" cy="900826"/>
          </a:xfrm>
          <a:custGeom>
            <a:avLst/>
            <a:gdLst>
              <a:gd name="connsiteX0" fmla="*/ 428017 w 428017"/>
              <a:gd name="connsiteY0" fmla="*/ 1198519 h 1198519"/>
              <a:gd name="connsiteX1" fmla="*/ 0 w 428017"/>
              <a:gd name="connsiteY1" fmla="*/ 1198519 h 1198519"/>
              <a:gd name="connsiteX2" fmla="*/ 0 w 428017"/>
              <a:gd name="connsiteY2" fmla="*/ 23712 h 1198519"/>
              <a:gd name="connsiteX3" fmla="*/ 23712 w 428017"/>
              <a:gd name="connsiteY3" fmla="*/ 0 h 1198519"/>
              <a:gd name="connsiteX4" fmla="*/ 404305 w 428017"/>
              <a:gd name="connsiteY4" fmla="*/ 0 h 1198519"/>
              <a:gd name="connsiteX5" fmla="*/ 428017 w 428017"/>
              <a:gd name="connsiteY5" fmla="*/ 23712 h 1198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28017" h="1198519">
                <a:moveTo>
                  <a:pt x="428017" y="1198519"/>
                </a:moveTo>
                <a:lnTo>
                  <a:pt x="0" y="1198519"/>
                </a:lnTo>
                <a:lnTo>
                  <a:pt x="0" y="23712"/>
                </a:lnTo>
                <a:cubicBezTo>
                  <a:pt x="0" y="10616"/>
                  <a:pt x="10616" y="0"/>
                  <a:pt x="23712" y="0"/>
                </a:cubicBezTo>
                <a:lnTo>
                  <a:pt x="404305" y="0"/>
                </a:lnTo>
                <a:cubicBezTo>
                  <a:pt x="417401" y="0"/>
                  <a:pt x="428017" y="10616"/>
                  <a:pt x="428017" y="23712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5000"/>
                  <a:lumOff val="95000"/>
                </a:schemeClr>
              </a:gs>
              <a:gs pos="30000">
                <a:srgbClr val="C9D6EA"/>
              </a:gs>
              <a:gs pos="100000">
                <a:srgbClr val="97A5E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>
              <a:latin typeface="Microsoft YaHei" panose="020B0503020204020204" pitchFamily="34" charset="-122"/>
            </a:endParaRPr>
          </a:p>
        </p:txBody>
      </p:sp>
      <p:sp>
        <p:nvSpPr>
          <p:cNvPr id="25" name="텍스트 개체 틀 35">
            <a:extLst>
              <a:ext uri="{FF2B5EF4-FFF2-40B4-BE49-F238E27FC236}">
                <a16:creationId xmlns:a16="http://schemas.microsoft.com/office/drawing/2014/main" id="{3DDD597A-C357-4057-8720-BE994A49763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903564" y="71451"/>
            <a:ext cx="1814291" cy="249238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rgbClr val="4E5356"/>
                </a:solidFill>
              </a:defRPr>
            </a:lvl1pPr>
          </a:lstStyle>
          <a:p>
            <a:pPr lvl="0"/>
            <a:r>
              <a:rPr lang="en-US" altLang="ko-KR"/>
              <a:t>ppt</a:t>
            </a:r>
            <a:r>
              <a:rPr lang="ko-KR" altLang="en-US"/>
              <a:t>제목을입력하세요</a:t>
            </a:r>
          </a:p>
        </p:txBody>
      </p:sp>
      <p:sp>
        <p:nvSpPr>
          <p:cNvPr id="26" name="텍스트 개체 틀 35">
            <a:extLst>
              <a:ext uri="{FF2B5EF4-FFF2-40B4-BE49-F238E27FC236}">
                <a16:creationId xmlns:a16="http://schemas.microsoft.com/office/drawing/2014/main" id="{2A54D92B-4D8B-4C04-8B08-9D2BE69E4C3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079648" y="71451"/>
            <a:ext cx="1532396" cy="249238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rgbClr val="4E5356"/>
                </a:solidFill>
              </a:defRPr>
            </a:lvl1pPr>
          </a:lstStyle>
          <a:p>
            <a:pPr lvl="0"/>
            <a:r>
              <a:rPr lang="ko-KR" altLang="en-US"/>
              <a:t>내용 </a:t>
            </a:r>
            <a:r>
              <a:rPr lang="en-US" altLang="ko-KR"/>
              <a:t>5</a:t>
            </a:r>
            <a:endParaRPr lang="ko-KR" altLang="en-US"/>
          </a:p>
        </p:txBody>
      </p:sp>
      <p:sp>
        <p:nvSpPr>
          <p:cNvPr id="28" name="텍스트 개체 틀 35">
            <a:extLst>
              <a:ext uri="{FF2B5EF4-FFF2-40B4-BE49-F238E27FC236}">
                <a16:creationId xmlns:a16="http://schemas.microsoft.com/office/drawing/2014/main" id="{0FCDCDC7-0F83-4E02-8112-C6EC3608D6D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482460" y="71451"/>
            <a:ext cx="1532396" cy="249238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ko-KR" altLang="en-US"/>
              <a:t>내용 </a:t>
            </a:r>
            <a:r>
              <a:rPr lang="en-US" altLang="ko-KR"/>
              <a:t>2</a:t>
            </a:r>
            <a:endParaRPr lang="ko-KR" altLang="en-US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3848AE4D-74BE-482A-8840-49CCDE86AADB}"/>
              </a:ext>
            </a:extLst>
          </p:cNvPr>
          <p:cNvSpPr/>
          <p:nvPr userDrawn="1"/>
        </p:nvSpPr>
        <p:spPr>
          <a:xfrm>
            <a:off x="4014856" y="361720"/>
            <a:ext cx="1532396" cy="45719"/>
          </a:xfrm>
          <a:prstGeom prst="roundRect">
            <a:avLst/>
          </a:prstGeom>
          <a:solidFill>
            <a:srgbClr val="1C2D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1138131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내용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슬라이드 번호 개체 틀 1024">
            <a:extLst>
              <a:ext uri="{FF2B5EF4-FFF2-40B4-BE49-F238E27FC236}">
                <a16:creationId xmlns:a16="http://schemas.microsoft.com/office/drawing/2014/main" id="{1B1955CC-C4C3-4FDC-849A-8AA73B8072A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366500" y="6369912"/>
            <a:ext cx="506191" cy="365125"/>
          </a:xfrm>
        </p:spPr>
        <p:txBody>
          <a:bodyPr/>
          <a:lstStyle/>
          <a:p>
            <a:fld id="{32B19318-762D-4FD0-A50B-207ABA46F30B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DFFAD536-AB0A-4DC6-A158-D59865CB41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524" b="89286" l="9816" r="90798">
                        <a14:foregroundMark x1="67485" y1="52381" x2="67485" y2="52381"/>
                        <a14:foregroundMark x1="90798" y1="83333" x2="90798" y2="83333"/>
                        <a14:foregroundMark x1="61963" y1="89286" x2="61963" y2="89286"/>
                        <a14:foregroundMark x1="36196" y1="55952" x2="36196" y2="5595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2582" y="6509703"/>
            <a:ext cx="437254" cy="225334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693D5193-FE20-4F60-AA44-EE490943185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32470" y="60416"/>
            <a:ext cx="297478" cy="297478"/>
          </a:xfrm>
          <a:prstGeom prst="rect">
            <a:avLst/>
          </a:prstGeom>
        </p:spPr>
      </p:pic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B4B957D9-F777-4279-AA65-ECD39C5FF576}"/>
              </a:ext>
            </a:extLst>
          </p:cNvPr>
          <p:cNvCxnSpPr>
            <a:cxnSpLocks/>
          </p:cNvCxnSpPr>
          <p:nvPr userDrawn="1"/>
        </p:nvCxnSpPr>
        <p:spPr>
          <a:xfrm flipV="1">
            <a:off x="950064" y="390710"/>
            <a:ext cx="10767791" cy="3490"/>
          </a:xfrm>
          <a:prstGeom prst="line">
            <a:avLst/>
          </a:prstGeom>
          <a:ln w="28575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텍스트 개체 틀 35">
            <a:extLst>
              <a:ext uri="{FF2B5EF4-FFF2-40B4-BE49-F238E27FC236}">
                <a16:creationId xmlns:a16="http://schemas.microsoft.com/office/drawing/2014/main" id="{00085872-7230-4C8B-99C4-9395825E0C3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50064" y="71451"/>
            <a:ext cx="1532396" cy="249238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ko-KR" altLang="en-US"/>
              <a:t>내용 </a:t>
            </a:r>
            <a:r>
              <a:rPr lang="en-US" altLang="ko-KR"/>
              <a:t>1</a:t>
            </a:r>
            <a:endParaRPr lang="ko-KR" altLang="en-US"/>
          </a:p>
        </p:txBody>
      </p:sp>
      <p:sp>
        <p:nvSpPr>
          <p:cNvPr id="18" name="텍스트 개체 틀 35">
            <a:extLst>
              <a:ext uri="{FF2B5EF4-FFF2-40B4-BE49-F238E27FC236}">
                <a16:creationId xmlns:a16="http://schemas.microsoft.com/office/drawing/2014/main" id="{0F3AD715-F1CC-4410-8195-380A9B8DFB7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014856" y="71451"/>
            <a:ext cx="1532396" cy="249238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rgbClr val="4E5356"/>
                </a:solidFill>
              </a:defRPr>
            </a:lvl1pPr>
          </a:lstStyle>
          <a:p>
            <a:pPr lvl="0"/>
            <a:r>
              <a:rPr lang="ko-KR" altLang="en-US"/>
              <a:t>내용 </a:t>
            </a:r>
            <a:r>
              <a:rPr lang="en-US" altLang="ko-KR"/>
              <a:t>3</a:t>
            </a:r>
            <a:endParaRPr lang="ko-KR" altLang="en-US"/>
          </a:p>
        </p:txBody>
      </p:sp>
      <p:sp>
        <p:nvSpPr>
          <p:cNvPr id="19" name="텍스트 개체 틀 35">
            <a:extLst>
              <a:ext uri="{FF2B5EF4-FFF2-40B4-BE49-F238E27FC236}">
                <a16:creationId xmlns:a16="http://schemas.microsoft.com/office/drawing/2014/main" id="{96C1EE21-E2E5-4979-9EB5-09479AE2D99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547252" y="71451"/>
            <a:ext cx="1532396" cy="249238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rgbClr val="4E5356"/>
                </a:solidFill>
              </a:defRPr>
            </a:lvl1pPr>
          </a:lstStyle>
          <a:p>
            <a:pPr lvl="0"/>
            <a:r>
              <a:rPr lang="ko-KR" altLang="en-US"/>
              <a:t>내용 </a:t>
            </a:r>
            <a:r>
              <a:rPr lang="en-US" altLang="ko-KR"/>
              <a:t>4</a:t>
            </a:r>
            <a:endParaRPr lang="ko-KR" altLang="en-US"/>
          </a:p>
        </p:txBody>
      </p:sp>
      <p:sp>
        <p:nvSpPr>
          <p:cNvPr id="20" name="텍스트 개체 틀 35">
            <a:extLst>
              <a:ext uri="{FF2B5EF4-FFF2-40B4-BE49-F238E27FC236}">
                <a16:creationId xmlns:a16="http://schemas.microsoft.com/office/drawing/2014/main" id="{40BB9D48-FB3E-45DD-885A-11E9752E25F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50063" y="426003"/>
            <a:ext cx="3064793" cy="443020"/>
          </a:xfrm>
        </p:spPr>
        <p:txBody>
          <a:bodyPr>
            <a:noAutofit/>
          </a:bodyPr>
          <a:lstStyle>
            <a:lvl1pPr marL="0" indent="0">
              <a:buNone/>
              <a:defRPr sz="2800">
                <a:solidFill>
                  <a:schemeClr val="tx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defRPr>
            </a:lvl1pPr>
          </a:lstStyle>
          <a:p>
            <a:pPr lvl="0"/>
            <a:r>
              <a:rPr lang="ko-KR" altLang="en-US"/>
              <a:t>내용 </a:t>
            </a:r>
            <a:r>
              <a:rPr lang="en-US" altLang="ko-KR"/>
              <a:t>4</a:t>
            </a:r>
            <a:endParaRPr lang="ko-KR" altLang="en-US"/>
          </a:p>
        </p:txBody>
      </p:sp>
      <p:sp>
        <p:nvSpPr>
          <p:cNvPr id="22" name="자유형: 도형 21">
            <a:extLst>
              <a:ext uri="{FF2B5EF4-FFF2-40B4-BE49-F238E27FC236}">
                <a16:creationId xmlns:a16="http://schemas.microsoft.com/office/drawing/2014/main" id="{1F6B3F4E-EDBC-4866-99B6-38013DB26762}"/>
              </a:ext>
            </a:extLst>
          </p:cNvPr>
          <p:cNvSpPr/>
          <p:nvPr userDrawn="1"/>
        </p:nvSpPr>
        <p:spPr>
          <a:xfrm rot="10800000">
            <a:off x="520399" y="0"/>
            <a:ext cx="428017" cy="900826"/>
          </a:xfrm>
          <a:custGeom>
            <a:avLst/>
            <a:gdLst>
              <a:gd name="connsiteX0" fmla="*/ 428017 w 428017"/>
              <a:gd name="connsiteY0" fmla="*/ 1198519 h 1198519"/>
              <a:gd name="connsiteX1" fmla="*/ 0 w 428017"/>
              <a:gd name="connsiteY1" fmla="*/ 1198519 h 1198519"/>
              <a:gd name="connsiteX2" fmla="*/ 0 w 428017"/>
              <a:gd name="connsiteY2" fmla="*/ 23712 h 1198519"/>
              <a:gd name="connsiteX3" fmla="*/ 23712 w 428017"/>
              <a:gd name="connsiteY3" fmla="*/ 0 h 1198519"/>
              <a:gd name="connsiteX4" fmla="*/ 404305 w 428017"/>
              <a:gd name="connsiteY4" fmla="*/ 0 h 1198519"/>
              <a:gd name="connsiteX5" fmla="*/ 428017 w 428017"/>
              <a:gd name="connsiteY5" fmla="*/ 23712 h 1198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28017" h="1198519">
                <a:moveTo>
                  <a:pt x="428017" y="1198519"/>
                </a:moveTo>
                <a:lnTo>
                  <a:pt x="0" y="1198519"/>
                </a:lnTo>
                <a:lnTo>
                  <a:pt x="0" y="23712"/>
                </a:lnTo>
                <a:cubicBezTo>
                  <a:pt x="0" y="10616"/>
                  <a:pt x="10616" y="0"/>
                  <a:pt x="23712" y="0"/>
                </a:cubicBezTo>
                <a:lnTo>
                  <a:pt x="404305" y="0"/>
                </a:lnTo>
                <a:cubicBezTo>
                  <a:pt x="417401" y="0"/>
                  <a:pt x="428017" y="10616"/>
                  <a:pt x="428017" y="23712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5000"/>
                  <a:lumOff val="95000"/>
                </a:schemeClr>
              </a:gs>
              <a:gs pos="30000">
                <a:srgbClr val="C9D6EA"/>
              </a:gs>
              <a:gs pos="100000">
                <a:srgbClr val="97A5E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>
              <a:latin typeface="Microsoft YaHei" panose="020B0503020204020204" pitchFamily="34" charset="-122"/>
            </a:endParaRPr>
          </a:p>
        </p:txBody>
      </p:sp>
      <p:sp>
        <p:nvSpPr>
          <p:cNvPr id="25" name="텍스트 개체 틀 35">
            <a:extLst>
              <a:ext uri="{FF2B5EF4-FFF2-40B4-BE49-F238E27FC236}">
                <a16:creationId xmlns:a16="http://schemas.microsoft.com/office/drawing/2014/main" id="{3DDD597A-C357-4057-8720-BE994A49763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903564" y="71451"/>
            <a:ext cx="1814291" cy="249238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rgbClr val="4E5356"/>
                </a:solidFill>
              </a:defRPr>
            </a:lvl1pPr>
          </a:lstStyle>
          <a:p>
            <a:pPr lvl="0"/>
            <a:r>
              <a:rPr lang="en-US" altLang="ko-KR"/>
              <a:t>ppt</a:t>
            </a:r>
            <a:r>
              <a:rPr lang="ko-KR" altLang="en-US"/>
              <a:t>제목을입력하세요</a:t>
            </a:r>
          </a:p>
        </p:txBody>
      </p:sp>
      <p:sp>
        <p:nvSpPr>
          <p:cNvPr id="26" name="텍스트 개체 틀 35">
            <a:extLst>
              <a:ext uri="{FF2B5EF4-FFF2-40B4-BE49-F238E27FC236}">
                <a16:creationId xmlns:a16="http://schemas.microsoft.com/office/drawing/2014/main" id="{2A54D92B-4D8B-4C04-8B08-9D2BE69E4C3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079648" y="71451"/>
            <a:ext cx="1532396" cy="249238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rgbClr val="4E5356"/>
                </a:solidFill>
              </a:defRPr>
            </a:lvl1pPr>
          </a:lstStyle>
          <a:p>
            <a:pPr lvl="0"/>
            <a:r>
              <a:rPr lang="ko-KR" altLang="en-US"/>
              <a:t>내용 </a:t>
            </a:r>
            <a:r>
              <a:rPr lang="en-US" altLang="ko-KR"/>
              <a:t>5</a:t>
            </a:r>
            <a:endParaRPr lang="ko-KR" altLang="en-US"/>
          </a:p>
        </p:txBody>
      </p:sp>
      <p:sp>
        <p:nvSpPr>
          <p:cNvPr id="28" name="텍스트 개체 틀 35">
            <a:extLst>
              <a:ext uri="{FF2B5EF4-FFF2-40B4-BE49-F238E27FC236}">
                <a16:creationId xmlns:a16="http://schemas.microsoft.com/office/drawing/2014/main" id="{0FCDCDC7-0F83-4E02-8112-C6EC3608D6D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482460" y="71451"/>
            <a:ext cx="1532396" cy="249238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ko-KR" altLang="en-US"/>
              <a:t>내용 </a:t>
            </a:r>
            <a:r>
              <a:rPr lang="en-US" altLang="ko-KR"/>
              <a:t>2</a:t>
            </a:r>
            <a:endParaRPr lang="ko-KR" altLang="en-US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6C4917D4-DC5B-4FBE-895F-9E6B3DAB69AB}"/>
              </a:ext>
            </a:extLst>
          </p:cNvPr>
          <p:cNvSpPr/>
          <p:nvPr userDrawn="1"/>
        </p:nvSpPr>
        <p:spPr>
          <a:xfrm>
            <a:off x="5547252" y="354611"/>
            <a:ext cx="1532396" cy="45719"/>
          </a:xfrm>
          <a:prstGeom prst="roundRect">
            <a:avLst/>
          </a:prstGeom>
          <a:solidFill>
            <a:srgbClr val="1C2D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785751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내용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슬라이드 번호 개체 틀 1024">
            <a:extLst>
              <a:ext uri="{FF2B5EF4-FFF2-40B4-BE49-F238E27FC236}">
                <a16:creationId xmlns:a16="http://schemas.microsoft.com/office/drawing/2014/main" id="{1B1955CC-C4C3-4FDC-849A-8AA73B8072A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366500" y="6369912"/>
            <a:ext cx="506191" cy="365125"/>
          </a:xfrm>
        </p:spPr>
        <p:txBody>
          <a:bodyPr/>
          <a:lstStyle/>
          <a:p>
            <a:fld id="{32B19318-762D-4FD0-A50B-207ABA46F30B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DFFAD536-AB0A-4DC6-A158-D59865CB41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524" b="89286" l="9816" r="90798">
                        <a14:foregroundMark x1="67485" y1="52381" x2="67485" y2="52381"/>
                        <a14:foregroundMark x1="90798" y1="83333" x2="90798" y2="83333"/>
                        <a14:foregroundMark x1="61963" y1="89286" x2="61963" y2="89286"/>
                        <a14:foregroundMark x1="36196" y1="55952" x2="36196" y2="5595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2582" y="6509703"/>
            <a:ext cx="437254" cy="225334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693D5193-FE20-4F60-AA44-EE490943185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32470" y="60416"/>
            <a:ext cx="297478" cy="297478"/>
          </a:xfrm>
          <a:prstGeom prst="rect">
            <a:avLst/>
          </a:prstGeom>
        </p:spPr>
      </p:pic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B4B957D9-F777-4279-AA65-ECD39C5FF576}"/>
              </a:ext>
            </a:extLst>
          </p:cNvPr>
          <p:cNvCxnSpPr>
            <a:cxnSpLocks/>
          </p:cNvCxnSpPr>
          <p:nvPr userDrawn="1"/>
        </p:nvCxnSpPr>
        <p:spPr>
          <a:xfrm flipV="1">
            <a:off x="950064" y="390710"/>
            <a:ext cx="10767791" cy="3490"/>
          </a:xfrm>
          <a:prstGeom prst="line">
            <a:avLst/>
          </a:prstGeom>
          <a:ln w="28575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텍스트 개체 틀 35">
            <a:extLst>
              <a:ext uri="{FF2B5EF4-FFF2-40B4-BE49-F238E27FC236}">
                <a16:creationId xmlns:a16="http://schemas.microsoft.com/office/drawing/2014/main" id="{00085872-7230-4C8B-99C4-9395825E0C3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50064" y="71451"/>
            <a:ext cx="1532396" cy="249238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ko-KR" altLang="en-US"/>
              <a:t>내용 </a:t>
            </a:r>
            <a:r>
              <a:rPr lang="en-US" altLang="ko-KR"/>
              <a:t>1</a:t>
            </a:r>
            <a:endParaRPr lang="ko-KR" altLang="en-US"/>
          </a:p>
        </p:txBody>
      </p:sp>
      <p:sp>
        <p:nvSpPr>
          <p:cNvPr id="18" name="텍스트 개체 틀 35">
            <a:extLst>
              <a:ext uri="{FF2B5EF4-FFF2-40B4-BE49-F238E27FC236}">
                <a16:creationId xmlns:a16="http://schemas.microsoft.com/office/drawing/2014/main" id="{0F3AD715-F1CC-4410-8195-380A9B8DFB7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014856" y="71451"/>
            <a:ext cx="1532396" cy="249238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ko-KR" altLang="en-US"/>
              <a:t>내용 </a:t>
            </a:r>
            <a:r>
              <a:rPr lang="en-US" altLang="ko-KR"/>
              <a:t>3</a:t>
            </a:r>
            <a:endParaRPr lang="ko-KR" altLang="en-US"/>
          </a:p>
        </p:txBody>
      </p:sp>
      <p:sp>
        <p:nvSpPr>
          <p:cNvPr id="19" name="텍스트 개체 틀 35">
            <a:extLst>
              <a:ext uri="{FF2B5EF4-FFF2-40B4-BE49-F238E27FC236}">
                <a16:creationId xmlns:a16="http://schemas.microsoft.com/office/drawing/2014/main" id="{96C1EE21-E2E5-4979-9EB5-09479AE2D99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547252" y="71451"/>
            <a:ext cx="1532396" cy="249238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ko-KR" altLang="en-US"/>
              <a:t>내용 </a:t>
            </a:r>
            <a:r>
              <a:rPr lang="en-US" altLang="ko-KR"/>
              <a:t>4</a:t>
            </a:r>
            <a:endParaRPr lang="ko-KR" altLang="en-US"/>
          </a:p>
        </p:txBody>
      </p:sp>
      <p:sp>
        <p:nvSpPr>
          <p:cNvPr id="20" name="텍스트 개체 틀 35">
            <a:extLst>
              <a:ext uri="{FF2B5EF4-FFF2-40B4-BE49-F238E27FC236}">
                <a16:creationId xmlns:a16="http://schemas.microsoft.com/office/drawing/2014/main" id="{40BB9D48-FB3E-45DD-885A-11E9752E25F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50063" y="426003"/>
            <a:ext cx="3064793" cy="443020"/>
          </a:xfrm>
        </p:spPr>
        <p:txBody>
          <a:bodyPr>
            <a:noAutofit/>
          </a:bodyPr>
          <a:lstStyle>
            <a:lvl1pPr marL="0" indent="0">
              <a:buNone/>
              <a:defRPr sz="2800">
                <a:solidFill>
                  <a:schemeClr val="tx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defRPr>
            </a:lvl1pPr>
          </a:lstStyle>
          <a:p>
            <a:pPr lvl="0"/>
            <a:r>
              <a:rPr lang="ko-KR" altLang="en-US"/>
              <a:t>내용 </a:t>
            </a:r>
            <a:r>
              <a:rPr lang="en-US" altLang="ko-KR"/>
              <a:t>5</a:t>
            </a:r>
            <a:endParaRPr lang="ko-KR" altLang="en-US"/>
          </a:p>
        </p:txBody>
      </p:sp>
      <p:sp>
        <p:nvSpPr>
          <p:cNvPr id="22" name="자유형: 도형 21">
            <a:extLst>
              <a:ext uri="{FF2B5EF4-FFF2-40B4-BE49-F238E27FC236}">
                <a16:creationId xmlns:a16="http://schemas.microsoft.com/office/drawing/2014/main" id="{1F6B3F4E-EDBC-4866-99B6-38013DB26762}"/>
              </a:ext>
            </a:extLst>
          </p:cNvPr>
          <p:cNvSpPr/>
          <p:nvPr userDrawn="1"/>
        </p:nvSpPr>
        <p:spPr>
          <a:xfrm rot="10800000">
            <a:off x="520399" y="0"/>
            <a:ext cx="428017" cy="900826"/>
          </a:xfrm>
          <a:custGeom>
            <a:avLst/>
            <a:gdLst>
              <a:gd name="connsiteX0" fmla="*/ 428017 w 428017"/>
              <a:gd name="connsiteY0" fmla="*/ 1198519 h 1198519"/>
              <a:gd name="connsiteX1" fmla="*/ 0 w 428017"/>
              <a:gd name="connsiteY1" fmla="*/ 1198519 h 1198519"/>
              <a:gd name="connsiteX2" fmla="*/ 0 w 428017"/>
              <a:gd name="connsiteY2" fmla="*/ 23712 h 1198519"/>
              <a:gd name="connsiteX3" fmla="*/ 23712 w 428017"/>
              <a:gd name="connsiteY3" fmla="*/ 0 h 1198519"/>
              <a:gd name="connsiteX4" fmla="*/ 404305 w 428017"/>
              <a:gd name="connsiteY4" fmla="*/ 0 h 1198519"/>
              <a:gd name="connsiteX5" fmla="*/ 428017 w 428017"/>
              <a:gd name="connsiteY5" fmla="*/ 23712 h 1198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28017" h="1198519">
                <a:moveTo>
                  <a:pt x="428017" y="1198519"/>
                </a:moveTo>
                <a:lnTo>
                  <a:pt x="0" y="1198519"/>
                </a:lnTo>
                <a:lnTo>
                  <a:pt x="0" y="23712"/>
                </a:lnTo>
                <a:cubicBezTo>
                  <a:pt x="0" y="10616"/>
                  <a:pt x="10616" y="0"/>
                  <a:pt x="23712" y="0"/>
                </a:cubicBezTo>
                <a:lnTo>
                  <a:pt x="404305" y="0"/>
                </a:lnTo>
                <a:cubicBezTo>
                  <a:pt x="417401" y="0"/>
                  <a:pt x="428017" y="10616"/>
                  <a:pt x="428017" y="23712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5000"/>
                  <a:lumOff val="95000"/>
                </a:schemeClr>
              </a:gs>
              <a:gs pos="30000">
                <a:srgbClr val="C9D6EA"/>
              </a:gs>
              <a:gs pos="100000">
                <a:srgbClr val="97A5E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>
              <a:latin typeface="Microsoft YaHei" panose="020B0503020204020204" pitchFamily="34" charset="-122"/>
            </a:endParaRPr>
          </a:p>
        </p:txBody>
      </p:sp>
      <p:sp>
        <p:nvSpPr>
          <p:cNvPr id="25" name="텍스트 개체 틀 35">
            <a:extLst>
              <a:ext uri="{FF2B5EF4-FFF2-40B4-BE49-F238E27FC236}">
                <a16:creationId xmlns:a16="http://schemas.microsoft.com/office/drawing/2014/main" id="{3DDD597A-C357-4057-8720-BE994A49763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903564" y="71451"/>
            <a:ext cx="1814291" cy="249238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rgbClr val="4E5356"/>
                </a:solidFill>
              </a:defRPr>
            </a:lvl1pPr>
          </a:lstStyle>
          <a:p>
            <a:pPr lvl="0"/>
            <a:r>
              <a:rPr lang="en-US" altLang="ko-KR"/>
              <a:t>ppt</a:t>
            </a:r>
            <a:r>
              <a:rPr lang="ko-KR" altLang="en-US"/>
              <a:t>제목을입력하세요</a:t>
            </a:r>
          </a:p>
        </p:txBody>
      </p:sp>
      <p:sp>
        <p:nvSpPr>
          <p:cNvPr id="26" name="텍스트 개체 틀 35">
            <a:extLst>
              <a:ext uri="{FF2B5EF4-FFF2-40B4-BE49-F238E27FC236}">
                <a16:creationId xmlns:a16="http://schemas.microsoft.com/office/drawing/2014/main" id="{2A54D92B-4D8B-4C04-8B08-9D2BE69E4C3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079648" y="71451"/>
            <a:ext cx="1532396" cy="249238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lvl="0"/>
            <a:r>
              <a:rPr lang="ko-KR" altLang="en-US"/>
              <a:t>내용 </a:t>
            </a:r>
            <a:r>
              <a:rPr lang="en-US" altLang="ko-KR"/>
              <a:t>5</a:t>
            </a:r>
            <a:endParaRPr lang="ko-KR" altLang="en-US"/>
          </a:p>
        </p:txBody>
      </p:sp>
      <p:sp>
        <p:nvSpPr>
          <p:cNvPr id="28" name="텍스트 개체 틀 35">
            <a:extLst>
              <a:ext uri="{FF2B5EF4-FFF2-40B4-BE49-F238E27FC236}">
                <a16:creationId xmlns:a16="http://schemas.microsoft.com/office/drawing/2014/main" id="{0FCDCDC7-0F83-4E02-8112-C6EC3608D6D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482460" y="71451"/>
            <a:ext cx="1532396" cy="249238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ko-KR" altLang="en-US"/>
              <a:t>내용 </a:t>
            </a:r>
            <a:r>
              <a:rPr lang="en-US" altLang="ko-KR"/>
              <a:t>2</a:t>
            </a:r>
            <a:endParaRPr lang="ko-KR" altLang="en-US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2638071B-4D0A-4ECE-B24C-29066F41872F}"/>
              </a:ext>
            </a:extLst>
          </p:cNvPr>
          <p:cNvSpPr/>
          <p:nvPr userDrawn="1"/>
        </p:nvSpPr>
        <p:spPr>
          <a:xfrm>
            <a:off x="7100157" y="361720"/>
            <a:ext cx="1532396" cy="45719"/>
          </a:xfrm>
          <a:prstGeom prst="roundRect">
            <a:avLst/>
          </a:prstGeom>
          <a:solidFill>
            <a:srgbClr val="1C2D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82946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Microsoft YaHei" panose="020B0503020204020204" pitchFamily="34" charset="-122"/>
              </a:defRPr>
            </a:lvl1pPr>
          </a:lstStyle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Microsoft YaHei" panose="020B0503020204020204" pitchFamily="34" charset="-122"/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Microsoft YaHei" panose="020B0503020204020204" pitchFamily="34" charset="-122"/>
              </a:defRPr>
            </a:lvl1pPr>
          </a:lstStyle>
          <a:p>
            <a:fld id="{32B19318-762D-4FD0-A50B-207ABA46F30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139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0" r:id="rId13"/>
    <p:sldLayoutId id="2147483701" r:id="rId14"/>
    <p:sldLayoutId id="2147483702" r:id="rId15"/>
    <p:sldLayoutId id="2147483667" r:id="rId16"/>
    <p:sldLayoutId id="2147483661" r:id="rId17"/>
    <p:sldLayoutId id="2147483668" r:id="rId18"/>
    <p:sldLayoutId id="2147483669" r:id="rId19"/>
    <p:sldLayoutId id="2147483670" r:id="rId20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Microsoft YaHei" panose="020B0503020204020204" pitchFamily="34" charset="-122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Microsoft YaHei" panose="020B0503020204020204" pitchFamily="34" charset="-122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icrosoft YaHei" panose="020B0503020204020204" pitchFamily="34" charset="-122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icrosoft YaHei" panose="020B0503020204020204" pitchFamily="34" charset="-122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icrosoft YaHei" panose="020B0503020204020204" pitchFamily="34" charset="-122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icrosoft YaHei" panose="020B0503020204020204" pitchFamily="34" charset="-122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10" Type="http://schemas.openxmlformats.org/officeDocument/2006/relationships/image" Target="../media/image50.png"/><Relationship Id="rId4" Type="http://schemas.openxmlformats.org/officeDocument/2006/relationships/image" Target="../media/image44.png"/><Relationship Id="rId9" Type="http://schemas.openxmlformats.org/officeDocument/2006/relationships/image" Target="../media/image49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5.pn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10" Type="http://schemas.openxmlformats.org/officeDocument/2006/relationships/image" Target="../media/image56.png"/><Relationship Id="rId4" Type="http://schemas.openxmlformats.org/officeDocument/2006/relationships/image" Target="../media/image46.png"/><Relationship Id="rId9" Type="http://schemas.openxmlformats.org/officeDocument/2006/relationships/image" Target="../media/image55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C0876F-1BD4-4C48-9319-CFBA0D172F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296" y="493760"/>
            <a:ext cx="10415618" cy="1728527"/>
          </a:xfrm>
        </p:spPr>
        <p:txBody>
          <a:bodyPr/>
          <a:lstStyle/>
          <a:p>
            <a:r>
              <a:rPr lang="en-US" altLang="ko-KR" sz="4400">
                <a:latin typeface="Microsoft YaHei" panose="020B0503020204020204" pitchFamily="34" charset="-122"/>
                <a:ea typeface="프리젠테이션 5 Medium" pitchFamily="2" charset="-127"/>
                <a:cs typeface="Arial" panose="020B0604020202020204" pitchFamily="34" charset="0"/>
              </a:rPr>
              <a:t>Biomarker</a:t>
            </a:r>
            <a:r>
              <a:rPr lang="ko-KR" altLang="en-US" sz="4400">
                <a:latin typeface="Microsoft YaHei" panose="020B0503020204020204" pitchFamily="34" charset="-122"/>
                <a:ea typeface="프리젠테이션 5 Medium" pitchFamily="2" charset="-127"/>
                <a:cs typeface="Arial" panose="020B0604020202020204" pitchFamily="34" charset="0"/>
              </a:rPr>
              <a:t> </a:t>
            </a:r>
            <a:r>
              <a:rPr lang="en-US" altLang="ko-KR" sz="4400">
                <a:latin typeface="Microsoft YaHei" panose="020B0503020204020204" pitchFamily="34" charset="-122"/>
                <a:ea typeface="프리젠테이션 5 Medium" pitchFamily="2" charset="-127"/>
                <a:cs typeface="Arial" panose="020B0604020202020204" pitchFamily="34" charset="0"/>
              </a:rPr>
              <a:t>Analysis</a:t>
            </a:r>
            <a:r>
              <a:rPr lang="ko-KR" altLang="en-US" sz="4400">
                <a:latin typeface="Microsoft YaHei" panose="020B0503020204020204" pitchFamily="34" charset="-122"/>
                <a:ea typeface="프리젠테이션 5 Medium" pitchFamily="2" charset="-127"/>
                <a:cs typeface="Arial" panose="020B0604020202020204" pitchFamily="34" charset="0"/>
              </a:rPr>
              <a:t> </a:t>
            </a:r>
            <a:r>
              <a:rPr lang="en-US" altLang="ko-KR" sz="4400">
                <a:latin typeface="Microsoft YaHei" panose="020B0503020204020204" pitchFamily="34" charset="-122"/>
                <a:ea typeface="프리젠테이션 5 Medium" pitchFamily="2" charset="-127"/>
                <a:cs typeface="Arial" panose="020B0604020202020204" pitchFamily="34" charset="0"/>
              </a:rPr>
              <a:t>Result</a:t>
            </a:r>
            <a:endParaRPr lang="ko-KR" altLang="en-US" sz="4400">
              <a:latin typeface="Microsoft YaHei" panose="020B0503020204020204" pitchFamily="34" charset="-122"/>
              <a:ea typeface="프리젠테이션 5 Medium" pitchFamily="2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28339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132959B-8F92-43EC-AAB9-5AF8CB3BCE6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2B19318-762D-4FD0-A50B-207ABA46F30B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B00B17-5269-46C2-81DA-378CEF1FBFE9}"/>
              </a:ext>
            </a:extLst>
          </p:cNvPr>
          <p:cNvSpPr txBox="1"/>
          <p:nvPr/>
        </p:nvSpPr>
        <p:spPr>
          <a:xfrm>
            <a:off x="5715000" y="1579912"/>
            <a:ext cx="5651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+mn-ea"/>
                <a:cs typeface="Arial" panose="020B0604020202020204" pitchFamily="34" charset="0"/>
              </a:rPr>
              <a:t>통계 분석 기법</a:t>
            </a:r>
            <a:r>
              <a:rPr lang="en-US" altLang="ko-KR" sz="2400" dirty="0">
                <a:latin typeface="+mn-ea"/>
                <a:cs typeface="Arial" panose="020B0604020202020204" pitchFamily="34" charset="0"/>
              </a:rPr>
              <a:t>,</a:t>
            </a:r>
            <a:r>
              <a:rPr lang="ko-KR" altLang="en-US" sz="2400" dirty="0">
                <a:latin typeface="+mn-ea"/>
                <a:cs typeface="Arial" panose="020B0604020202020204" pitchFamily="34" charset="0"/>
              </a:rPr>
              <a:t> 샘플 데이터셋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02E7C2-EAE4-4D8A-941D-53A26148424F}"/>
              </a:ext>
            </a:extLst>
          </p:cNvPr>
          <p:cNvSpPr txBox="1"/>
          <p:nvPr/>
        </p:nvSpPr>
        <p:spPr>
          <a:xfrm>
            <a:off x="5780313" y="3570287"/>
            <a:ext cx="93222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 err="1">
                <a:latin typeface="+mn-ea"/>
                <a:cs typeface="Arial" panose="020B0604020202020204" pitchFamily="34" charset="0"/>
              </a:rPr>
              <a:t>바이오마커</a:t>
            </a:r>
            <a:r>
              <a:rPr lang="en-US" altLang="ko-KR" sz="2400" dirty="0">
                <a:latin typeface="+mn-ea"/>
                <a:cs typeface="Arial" panose="020B0604020202020204" pitchFamily="34" charset="0"/>
              </a:rPr>
              <a:t> </a:t>
            </a:r>
            <a:r>
              <a:rPr lang="ko-KR" altLang="en-US" sz="2400" dirty="0">
                <a:latin typeface="+mn-ea"/>
                <a:cs typeface="Arial" panose="020B0604020202020204" pitchFamily="34" charset="0"/>
              </a:rPr>
              <a:t>데이터셋 분석 결과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953AED-B478-46C7-B7CF-98A1495F5A2B}"/>
              </a:ext>
            </a:extLst>
          </p:cNvPr>
          <p:cNvSpPr txBox="1"/>
          <p:nvPr/>
        </p:nvSpPr>
        <p:spPr>
          <a:xfrm>
            <a:off x="5780312" y="2575099"/>
            <a:ext cx="93222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 err="1">
                <a:latin typeface="+mn-ea"/>
                <a:cs typeface="Arial" panose="020B0604020202020204" pitchFamily="34" charset="0"/>
              </a:rPr>
              <a:t>바이오마커</a:t>
            </a:r>
            <a:r>
              <a:rPr lang="ko-KR" altLang="en-US" sz="2400" dirty="0">
                <a:latin typeface="+mn-ea"/>
                <a:cs typeface="Arial" panose="020B0604020202020204" pitchFamily="34" charset="0"/>
              </a:rPr>
              <a:t> 데이터셋 이해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5576ECF-F377-489C-96E3-84607F725615}"/>
              </a:ext>
            </a:extLst>
          </p:cNvPr>
          <p:cNvSpPr/>
          <p:nvPr/>
        </p:nvSpPr>
        <p:spPr>
          <a:xfrm>
            <a:off x="4972050" y="4397120"/>
            <a:ext cx="971550" cy="17619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71436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EC736457-E8A2-46E0-9829-CD4460234FF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sz="4000"/>
              <a:t>1.</a:t>
            </a:r>
            <a:r>
              <a:rPr lang="ko-KR" altLang="en-US" sz="4000"/>
              <a:t> 통계 분석 기법</a:t>
            </a:r>
            <a:r>
              <a:rPr lang="en-US" altLang="ko-KR" sz="4000"/>
              <a:t> </a:t>
            </a:r>
            <a:endParaRPr lang="ko-KR" altLang="en-US" sz="4000"/>
          </a:p>
        </p:txBody>
      </p:sp>
    </p:spTree>
    <p:extLst>
      <p:ext uri="{BB962C8B-B14F-4D97-AF65-F5344CB8AC3E}">
        <p14:creationId xmlns:p14="http://schemas.microsoft.com/office/powerpoint/2010/main" val="37676767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415CE3D-03F6-4D09-9321-3D7FF3AF008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2B19318-762D-4FD0-A50B-207ABA46F30B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8B428AD-D08B-42BA-B289-D0DF1A1C81F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ko-KR" altLang="en-US">
                <a:ea typeface="Noto Sans KR" panose="020B0200000000000000" pitchFamily="50" charset="-127"/>
                <a:cs typeface="Arial" panose="020B0604020202020204" pitchFamily="34" charset="0"/>
              </a:rPr>
              <a:t>통계 분석 기법</a:t>
            </a:r>
          </a:p>
          <a:p>
            <a:r>
              <a:rPr lang="en-US" altLang="ko-KR">
                <a:cs typeface="Arial" panose="020B0604020202020204" pitchFamily="34" charset="0"/>
              </a:rPr>
              <a:t> </a:t>
            </a:r>
            <a:endParaRPr lang="ko-KR" altLang="en-US">
              <a:cs typeface="Arial" panose="020B0604020202020204" pitchFamily="34" charset="0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A9B8AF3-4FB1-4D41-BD6B-CBB401DE110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686B527-6459-4135-BE6D-D3190704AFA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2FC6C974-24DD-4A53-9CEC-41E5D8DF709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50062" y="426003"/>
            <a:ext cx="8479688" cy="443020"/>
          </a:xfrm>
        </p:spPr>
        <p:txBody>
          <a:bodyPr/>
          <a:lstStyle/>
          <a:p>
            <a:r>
              <a:rPr lang="en-US" altLang="ko-KR">
                <a:latin typeface="Microsoft YaHei" panose="020B0503020204020204" pitchFamily="34" charset="-122"/>
                <a:cs typeface="Arial" panose="020B0604020202020204" pitchFamily="34" charset="0"/>
              </a:rPr>
              <a:t>1. Partial correlation analysis (</a:t>
            </a:r>
            <a:r>
              <a:rPr lang="ko-KR" altLang="en-US">
                <a:latin typeface="Microsoft YaHei" panose="020B0503020204020204" pitchFamily="34" charset="-122"/>
                <a:cs typeface="Arial" panose="020B0604020202020204" pitchFamily="34" charset="0"/>
              </a:rPr>
              <a:t>부분 상관 분석</a:t>
            </a:r>
            <a:r>
              <a:rPr lang="en-US" altLang="ko-KR">
                <a:latin typeface="Microsoft YaHei" panose="020B0503020204020204" pitchFamily="34" charset="-122"/>
                <a:cs typeface="Arial" panose="020B0604020202020204" pitchFamily="34" charset="0"/>
              </a:rPr>
              <a:t>)</a:t>
            </a:r>
            <a:endParaRPr lang="ko-KR" altLang="en-US">
              <a:latin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D3E0EDE-2E24-49F7-9FD2-6E26E5B9BAD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0459354" y="71451"/>
            <a:ext cx="1814291" cy="249238"/>
          </a:xfrm>
        </p:spPr>
        <p:txBody>
          <a:bodyPr/>
          <a:lstStyle/>
          <a:p>
            <a:r>
              <a:rPr lang="en-US" altLang="ko-KR">
                <a:ea typeface="프리젠테이션 5 Medium" pitchFamily="2" charset="-127"/>
                <a:cs typeface="Arial" panose="020B0604020202020204" pitchFamily="34" charset="0"/>
              </a:rPr>
              <a:t>Biomarker</a:t>
            </a:r>
            <a:r>
              <a:rPr lang="ko-KR" altLang="en-US">
                <a:ea typeface="프리젠테이션 5 Medium" pitchFamily="2" charset="-127"/>
                <a:cs typeface="Arial" panose="020B0604020202020204" pitchFamily="34" charset="0"/>
              </a:rPr>
              <a:t> </a:t>
            </a:r>
            <a:r>
              <a:rPr lang="en-US" altLang="ko-KR">
                <a:ea typeface="프리젠테이션 5 Medium" pitchFamily="2" charset="-127"/>
                <a:cs typeface="Arial" panose="020B0604020202020204" pitchFamily="34" charset="0"/>
              </a:rPr>
              <a:t>Analysis</a:t>
            </a:r>
            <a:endParaRPr lang="ko-KR" altLang="en-US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520D3A65-1146-4CEF-9EAB-A72C53CBF77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D1590CB3-04AB-41F4-8980-BF850BE9A28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EF893A-DA80-40DA-8197-4C37E3A49B93}"/>
              </a:ext>
            </a:extLst>
          </p:cNvPr>
          <p:cNvSpPr txBox="1"/>
          <p:nvPr/>
        </p:nvSpPr>
        <p:spPr>
          <a:xfrm>
            <a:off x="1028700" y="998933"/>
            <a:ext cx="10648950" cy="1703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특정 변수를 제외</a:t>
            </a:r>
            <a:r>
              <a:rPr lang="en-US" altLang="ko-KR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/ </a:t>
            </a:r>
            <a:r>
              <a:rPr lang="ko-KR" altLang="en-US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제거한 상태로</a:t>
            </a:r>
            <a:r>
              <a:rPr lang="en-US" altLang="ko-KR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, </a:t>
            </a:r>
            <a:r>
              <a:rPr lang="ko-KR" altLang="en-US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두 변수 사이의 상관 관계를 분석하고 싶을 때 사용되는 기법</a:t>
            </a:r>
            <a:endParaRPr lang="en-US" altLang="ko-KR">
              <a:latin typeface="Noto Sans KR" panose="020B0200000000000000" pitchFamily="50" charset="-127"/>
              <a:ea typeface="Noto Sans KR" panose="020B0200000000000000" pitchFamily="50" charset="-127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X, Y </a:t>
            </a:r>
            <a:r>
              <a:rPr lang="ko-KR" altLang="en-US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사이의 </a:t>
            </a:r>
            <a:r>
              <a:rPr lang="en-US" altLang="ko-KR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partial correlation</a:t>
            </a:r>
            <a:r>
              <a:rPr lang="ko-KR" altLang="en-US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을 구해야 되고</a:t>
            </a:r>
            <a:r>
              <a:rPr lang="en-US" altLang="ko-KR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, Z={z1, z2, …, </a:t>
            </a:r>
            <a:r>
              <a:rPr lang="en-US" altLang="ko-KR" err="1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zn</a:t>
            </a:r>
            <a:r>
              <a:rPr lang="en-US" altLang="ko-KR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}</a:t>
            </a:r>
            <a:r>
              <a:rPr lang="ko-KR" altLang="en-US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이 </a:t>
            </a:r>
            <a:r>
              <a:rPr lang="en-US" altLang="ko-KR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controlling variable </a:t>
            </a:r>
            <a:r>
              <a:rPr lang="ko-KR" altLang="en-US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라고 가정할 때</a:t>
            </a:r>
            <a:r>
              <a:rPr lang="en-US" altLang="ko-KR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, (X,Z), (Y,Z) </a:t>
            </a:r>
            <a:r>
              <a:rPr lang="ko-KR" altLang="en-US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두개의 </a:t>
            </a:r>
            <a:r>
              <a:rPr lang="en-US" altLang="ko-KR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linear regression</a:t>
            </a:r>
            <a:r>
              <a:rPr lang="ko-KR" altLang="en-US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의 결과의 </a:t>
            </a:r>
            <a:r>
              <a:rPr lang="ko-KR" altLang="en-US" err="1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잔차를</a:t>
            </a:r>
            <a:r>
              <a:rPr lang="ko-KR" altLang="en-US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 이용해 </a:t>
            </a:r>
            <a:r>
              <a:rPr lang="en-US" altLang="ko-KR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correlation</a:t>
            </a:r>
            <a:r>
              <a:rPr lang="ko-KR" altLang="en-US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을 구함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>
              <a:latin typeface="Microsoft YaHei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45EDBD60-8797-4667-88F3-DC6D142660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7821" y="2345353"/>
            <a:ext cx="3786514" cy="1565504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DC038CBB-06D4-41BC-AE7B-C837CD8487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7821" y="3754993"/>
            <a:ext cx="800212" cy="43821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FF49985-5ED7-404C-8EAD-D2E8A64341E4}"/>
              </a:ext>
            </a:extLst>
          </p:cNvPr>
          <p:cNvSpPr txBox="1"/>
          <p:nvPr/>
        </p:nvSpPr>
        <p:spPr>
          <a:xfrm>
            <a:off x="2988033" y="3834440"/>
            <a:ext cx="50490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:</a:t>
            </a:r>
            <a:r>
              <a:rPr lang="ko-KR" altLang="en-US" sz="1600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 </a:t>
            </a:r>
            <a:r>
              <a:rPr lang="en-US" altLang="ko-KR" sz="1600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w</a:t>
            </a:r>
            <a:r>
              <a:rPr lang="ko-KR" altLang="en-US" sz="1600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는 회귀계수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D28756FB-C907-4469-A54B-6ADF9CFAEA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2817" y="3093674"/>
            <a:ext cx="2598454" cy="840167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0179B1FF-53F8-4F61-A83C-9C01C89BA8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50670" y="4180180"/>
            <a:ext cx="6471827" cy="178319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7B3BD55-D262-4A33-931C-8AD8F4220C3F}"/>
              </a:ext>
            </a:extLst>
          </p:cNvPr>
          <p:cNvSpPr txBox="1"/>
          <p:nvPr/>
        </p:nvSpPr>
        <p:spPr>
          <a:xfrm>
            <a:off x="6883662" y="2701963"/>
            <a:ext cx="50490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Z</a:t>
            </a:r>
            <a:r>
              <a:rPr lang="ko-KR" altLang="en-US" sz="160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로 설명되지 않은 부분을 계산한다 </a:t>
            </a:r>
            <a:r>
              <a:rPr lang="en-US" altLang="ko-KR" sz="160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(</a:t>
            </a:r>
            <a:r>
              <a:rPr lang="ko-KR" altLang="en-US" sz="1600" err="1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잔차</a:t>
            </a:r>
            <a:r>
              <a:rPr lang="en-US" altLang="ko-KR" sz="160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)</a:t>
            </a:r>
            <a:endParaRPr lang="ko-KR" altLang="en-US" sz="1600">
              <a:solidFill>
                <a:srgbClr val="FF000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ECBC69C-4B9C-49A7-ADA2-6206E8B878A1}"/>
              </a:ext>
            </a:extLst>
          </p:cNvPr>
          <p:cNvSpPr txBox="1"/>
          <p:nvPr/>
        </p:nvSpPr>
        <p:spPr>
          <a:xfrm>
            <a:off x="6628572" y="5245701"/>
            <a:ext cx="50490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err="1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잔차들</a:t>
            </a:r>
            <a:r>
              <a:rPr lang="ko-KR" altLang="en-US" sz="160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 간의 </a:t>
            </a:r>
            <a:r>
              <a:rPr lang="en-US" altLang="ko-KR" sz="1600" err="1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pearson</a:t>
            </a:r>
            <a:r>
              <a:rPr lang="ko-KR" altLang="en-US" sz="160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 상관계수를 구한다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774484E-E908-4420-B305-0F8652B646DD}"/>
              </a:ext>
            </a:extLst>
          </p:cNvPr>
          <p:cNvSpPr/>
          <p:nvPr/>
        </p:nvSpPr>
        <p:spPr>
          <a:xfrm>
            <a:off x="1426464" y="6187512"/>
            <a:ext cx="9520238" cy="59111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>
                <a:solidFill>
                  <a:schemeClr val="tx1"/>
                </a:solidFill>
                <a:latin typeface="Microsoft YaHei" panose="020B0503020204020204" pitchFamily="34" charset="-122"/>
                <a:cs typeface="Arial" panose="020B0604020202020204" pitchFamily="34" charset="0"/>
              </a:rPr>
              <a:t>필요한 이유</a:t>
            </a:r>
            <a:r>
              <a:rPr lang="en-US" altLang="ko-KR" sz="1600">
                <a:solidFill>
                  <a:schemeClr val="tx1"/>
                </a:solidFill>
                <a:latin typeface="Microsoft YaHei" panose="020B0503020204020204" pitchFamily="34" charset="-122"/>
                <a:cs typeface="Arial" panose="020B0604020202020204" pitchFamily="34" charset="0"/>
              </a:rPr>
              <a:t>: </a:t>
            </a:r>
            <a:r>
              <a:rPr lang="ko-KR" altLang="en-US" sz="1600">
                <a:solidFill>
                  <a:schemeClr val="tx1"/>
                </a:solidFill>
                <a:latin typeface="Microsoft YaHei" panose="020B0503020204020204" pitchFamily="34" charset="-122"/>
                <a:cs typeface="Arial" panose="020B0604020202020204" pitchFamily="34" charset="0"/>
              </a:rPr>
              <a:t>상관관계 분석 시에 </a:t>
            </a:r>
            <a:r>
              <a:rPr lang="en-US" altLang="ko-KR" sz="1600">
                <a:solidFill>
                  <a:schemeClr val="tx1"/>
                </a:solidFill>
                <a:latin typeface="Microsoft YaHei" panose="020B0503020204020204" pitchFamily="34" charset="-122"/>
                <a:cs typeface="Arial" panose="020B0604020202020204" pitchFamily="34" charset="0"/>
              </a:rPr>
              <a:t>BMI </a:t>
            </a:r>
            <a:r>
              <a:rPr lang="ko-KR" altLang="en-US" sz="1600">
                <a:solidFill>
                  <a:schemeClr val="tx1"/>
                </a:solidFill>
                <a:latin typeface="Microsoft YaHei" panose="020B0503020204020204" pitchFamily="34" charset="-122"/>
                <a:cs typeface="Arial" panose="020B0604020202020204" pitchFamily="34" charset="0"/>
              </a:rPr>
              <a:t>또는 성별 등을 통제하고 분석하고 싶을 때 필요한 방식임</a:t>
            </a:r>
          </a:p>
        </p:txBody>
      </p:sp>
    </p:spTree>
    <p:extLst>
      <p:ext uri="{BB962C8B-B14F-4D97-AF65-F5344CB8AC3E}">
        <p14:creationId xmlns:p14="http://schemas.microsoft.com/office/powerpoint/2010/main" val="39503893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415CE3D-03F6-4D09-9321-3D7FF3AF008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2B19318-762D-4FD0-A50B-207ABA46F30B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8B428AD-D08B-42BA-B289-D0DF1A1C81F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ko-KR" altLang="en-US">
                <a:ea typeface="Noto Sans KR" panose="020B0200000000000000" pitchFamily="50" charset="-127"/>
                <a:cs typeface="Arial" panose="020B0604020202020204" pitchFamily="34" charset="0"/>
              </a:rPr>
              <a:t>샘플 데이터 결과</a:t>
            </a:r>
            <a:r>
              <a:rPr lang="en-US" altLang="ko-KR">
                <a:cs typeface="Arial" panose="020B0604020202020204" pitchFamily="34" charset="0"/>
              </a:rPr>
              <a:t> </a:t>
            </a:r>
            <a:endParaRPr lang="ko-KR" altLang="en-US">
              <a:cs typeface="Arial" panose="020B0604020202020204" pitchFamily="34" charset="0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A9B8AF3-4FB1-4D41-BD6B-CBB401DE110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686B527-6459-4135-BE6D-D3190704AFA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2FC6C974-24DD-4A53-9CEC-41E5D8DF709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50062" y="426003"/>
            <a:ext cx="8479688" cy="443020"/>
          </a:xfrm>
        </p:spPr>
        <p:txBody>
          <a:bodyPr/>
          <a:lstStyle/>
          <a:p>
            <a:r>
              <a:rPr lang="en-US" altLang="ko-KR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1. Partial correlation analysis (</a:t>
            </a:r>
            <a:r>
              <a:rPr lang="ko-KR" altLang="en-US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부분 상관 분석</a:t>
            </a:r>
            <a:r>
              <a:rPr lang="en-US" altLang="ko-KR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)</a:t>
            </a:r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  <a:cs typeface="Arial" panose="020B0604020202020204" pitchFamily="34" charset="0"/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D3E0EDE-2E24-49F7-9FD2-6E26E5B9BAD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0459354" y="71451"/>
            <a:ext cx="1814291" cy="249238"/>
          </a:xfrm>
        </p:spPr>
        <p:txBody>
          <a:bodyPr/>
          <a:lstStyle/>
          <a:p>
            <a:r>
              <a:rPr lang="en-US" altLang="ko-KR">
                <a:ea typeface="프리젠테이션 5 Medium" pitchFamily="2" charset="-127"/>
                <a:cs typeface="Arial" panose="020B0604020202020204" pitchFamily="34" charset="0"/>
              </a:rPr>
              <a:t>Biomarker</a:t>
            </a:r>
            <a:r>
              <a:rPr lang="ko-KR" altLang="en-US">
                <a:ea typeface="프리젠테이션 5 Medium" pitchFamily="2" charset="-127"/>
                <a:cs typeface="Arial" panose="020B0604020202020204" pitchFamily="34" charset="0"/>
              </a:rPr>
              <a:t> </a:t>
            </a:r>
            <a:r>
              <a:rPr lang="en-US" altLang="ko-KR">
                <a:ea typeface="프리젠테이션 5 Medium" pitchFamily="2" charset="-127"/>
                <a:cs typeface="Arial" panose="020B0604020202020204" pitchFamily="34" charset="0"/>
              </a:rPr>
              <a:t>Analysis</a:t>
            </a:r>
            <a:endParaRPr lang="ko-KR" altLang="en-US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520D3A65-1146-4CEF-9EAB-A72C53CBF77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D1590CB3-04AB-41F4-8980-BF850BE9A28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73E873F8-0BAE-426C-9C25-1A187ED19F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469" y="1967350"/>
            <a:ext cx="11353062" cy="693453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DEEAF707-CAA7-4F09-84D7-9EF0668A91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7851" y="2809269"/>
            <a:ext cx="4991797" cy="71447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07D986F9-1822-4E90-B388-AD2F9065AB7B}"/>
              </a:ext>
            </a:extLst>
          </p:cNvPr>
          <p:cNvSpPr/>
          <p:nvPr/>
        </p:nvSpPr>
        <p:spPr>
          <a:xfrm>
            <a:off x="1102024" y="2812014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ko-KR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 </a:t>
            </a:r>
            <a:r>
              <a:rPr lang="ko-KR" altLang="en-US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결과</a:t>
            </a:r>
            <a:endParaRPr lang="en-US" altLang="ko-KR">
              <a:latin typeface="Microsoft YaHei" panose="020B0503020204020204" pitchFamily="34" charset="-122"/>
              <a:ea typeface="Noto Sans KR" panose="020B0200000000000000" pitchFamily="50" charset="-127"/>
              <a:cs typeface="Arial" panose="020B0604020202020204" pitchFamily="34" charset="0"/>
            </a:endParaRP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8D4E1A22-37E6-424D-BD2E-8DA0514D1B4F}"/>
              </a:ext>
            </a:extLst>
          </p:cNvPr>
          <p:cNvGrpSpPr/>
          <p:nvPr/>
        </p:nvGrpSpPr>
        <p:grpSpPr>
          <a:xfrm>
            <a:off x="887781" y="3781697"/>
            <a:ext cx="10416438" cy="1911034"/>
            <a:chOff x="902926" y="4458878"/>
            <a:chExt cx="10416438" cy="1911034"/>
          </a:xfrm>
        </p:grpSpPr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26B48B5C-0FF5-494D-A3AD-E0ED8676CDBC}"/>
                </a:ext>
              </a:extLst>
            </p:cNvPr>
            <p:cNvSpPr/>
            <p:nvPr/>
          </p:nvSpPr>
          <p:spPr>
            <a:xfrm>
              <a:off x="902926" y="4458878"/>
              <a:ext cx="10409382" cy="1911034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1B9F893B-4D54-4038-99D7-8BA8B66ADF59}"/>
                </a:ext>
              </a:extLst>
            </p:cNvPr>
            <p:cNvSpPr/>
            <p:nvPr/>
          </p:nvSpPr>
          <p:spPr>
            <a:xfrm>
              <a:off x="909982" y="4631450"/>
              <a:ext cx="10409382" cy="14366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u"/>
              </a:pPr>
              <a:r>
                <a:rPr lang="en-US" altLang="ko-KR" sz="1500">
                  <a:latin typeface="Noto Sans KR" panose="020B0200000000000000" pitchFamily="50" charset="-127"/>
                  <a:ea typeface="Noto Sans KR" panose="020B0200000000000000" pitchFamily="50" charset="-127"/>
                  <a:cs typeface="Arial" panose="020B0604020202020204" pitchFamily="34" charset="0"/>
                </a:rPr>
                <a:t>r : </a:t>
              </a:r>
              <a:r>
                <a:rPr lang="ko-KR" altLang="en-US" sz="1500">
                  <a:latin typeface="Noto Sans KR" panose="020B0200000000000000" pitchFamily="50" charset="-127"/>
                  <a:ea typeface="Noto Sans KR" panose="020B0200000000000000" pitchFamily="50" charset="-127"/>
                  <a:cs typeface="Arial" panose="020B0604020202020204" pitchFamily="34" charset="0"/>
                </a:rPr>
                <a:t>상관계수 값으로</a:t>
              </a:r>
              <a:r>
                <a:rPr lang="en-US" altLang="ko-KR" sz="1500">
                  <a:latin typeface="Noto Sans KR" panose="020B0200000000000000" pitchFamily="50" charset="-127"/>
                  <a:ea typeface="Noto Sans KR" panose="020B0200000000000000" pitchFamily="50" charset="-127"/>
                  <a:cs typeface="Arial" panose="020B0604020202020204" pitchFamily="34" charset="0"/>
                </a:rPr>
                <a:t>, -1</a:t>
              </a:r>
              <a:r>
                <a:rPr lang="ko-KR" altLang="en-US" sz="1500">
                  <a:latin typeface="Noto Sans KR" panose="020B0200000000000000" pitchFamily="50" charset="-127"/>
                  <a:ea typeface="Noto Sans KR" panose="020B0200000000000000" pitchFamily="50" charset="-127"/>
                  <a:cs typeface="Arial" panose="020B0604020202020204" pitchFamily="34" charset="0"/>
                </a:rPr>
                <a:t>부터 </a:t>
              </a:r>
              <a:r>
                <a:rPr lang="en-US" altLang="ko-KR" sz="1500">
                  <a:latin typeface="Noto Sans KR" panose="020B0200000000000000" pitchFamily="50" charset="-127"/>
                  <a:ea typeface="Noto Sans KR" panose="020B0200000000000000" pitchFamily="50" charset="-127"/>
                  <a:cs typeface="Arial" panose="020B0604020202020204" pitchFamily="34" charset="0"/>
                </a:rPr>
                <a:t>1</a:t>
              </a:r>
              <a:r>
                <a:rPr lang="ko-KR" altLang="en-US" sz="1500">
                  <a:latin typeface="Noto Sans KR" panose="020B0200000000000000" pitchFamily="50" charset="-127"/>
                  <a:ea typeface="Noto Sans KR" panose="020B0200000000000000" pitchFamily="50" charset="-127"/>
                  <a:cs typeface="Arial" panose="020B0604020202020204" pitchFamily="34" charset="0"/>
                </a:rPr>
                <a:t>까지의 범위를 가지고 있으며 </a:t>
              </a:r>
              <a:r>
                <a:rPr lang="en-US" altLang="ko-KR" sz="1500">
                  <a:latin typeface="Noto Sans KR" panose="020B0200000000000000" pitchFamily="50" charset="-127"/>
                  <a:ea typeface="Noto Sans KR" panose="020B0200000000000000" pitchFamily="50" charset="-127"/>
                  <a:cs typeface="Arial" panose="020B0604020202020204" pitchFamily="34" charset="0"/>
                </a:rPr>
                <a:t>0</a:t>
              </a:r>
              <a:r>
                <a:rPr lang="ko-KR" altLang="en-US" sz="1500">
                  <a:latin typeface="Noto Sans KR" panose="020B0200000000000000" pitchFamily="50" charset="-127"/>
                  <a:ea typeface="Noto Sans KR" panose="020B0200000000000000" pitchFamily="50" charset="-127"/>
                  <a:cs typeface="Arial" panose="020B0604020202020204" pitchFamily="34" charset="0"/>
                </a:rPr>
                <a:t>에 가까워질 수록 관계가 없음</a:t>
              </a:r>
              <a:endParaRPr lang="en-US" altLang="ko-KR" sz="15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endParaRP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u"/>
              </a:pPr>
              <a:r>
                <a:rPr lang="en-US" altLang="ko-KR" sz="1500">
                  <a:latin typeface="Noto Sans KR" panose="020B0200000000000000" pitchFamily="50" charset="-127"/>
                  <a:ea typeface="Noto Sans KR" panose="020B0200000000000000" pitchFamily="50" charset="-127"/>
                  <a:cs typeface="Arial" panose="020B0604020202020204" pitchFamily="34" charset="0"/>
                </a:rPr>
                <a:t>CI95%</a:t>
              </a:r>
              <a:r>
                <a:rPr lang="ko-KR" altLang="en-US" sz="1500">
                  <a:latin typeface="Noto Sans KR" panose="020B0200000000000000" pitchFamily="50" charset="-127"/>
                  <a:ea typeface="Noto Sans KR" panose="020B0200000000000000" pitchFamily="50" charset="-127"/>
                  <a:cs typeface="Arial" panose="020B0604020202020204" pitchFamily="34" charset="0"/>
                </a:rPr>
                <a:t> 지표</a:t>
              </a:r>
              <a:r>
                <a:rPr lang="en-US" altLang="ko-KR" sz="1500">
                  <a:latin typeface="Noto Sans KR" panose="020B0200000000000000" pitchFamily="50" charset="-127"/>
                  <a:ea typeface="Noto Sans KR" panose="020B0200000000000000" pitchFamily="50" charset="-127"/>
                  <a:cs typeface="Arial" panose="020B0604020202020204" pitchFamily="34" charset="0"/>
                </a:rPr>
                <a:t>: </a:t>
              </a:r>
              <a:r>
                <a:rPr lang="ko-KR" altLang="en-US" sz="1500">
                  <a:latin typeface="Noto Sans KR" panose="020B0200000000000000" pitchFamily="50" charset="-127"/>
                  <a:ea typeface="Noto Sans KR" panose="020B0200000000000000" pitchFamily="50" charset="-127"/>
                  <a:cs typeface="Arial" panose="020B0604020202020204" pitchFamily="34" charset="0"/>
                </a:rPr>
                <a:t>부분상관계수  </a:t>
              </a:r>
              <a:r>
                <a:rPr lang="en-US" altLang="ko-KR" sz="1500">
                  <a:latin typeface="Noto Sans KR" panose="020B0200000000000000" pitchFamily="50" charset="-127"/>
                  <a:ea typeface="Noto Sans KR" panose="020B0200000000000000" pitchFamily="50" charset="-127"/>
                  <a:cs typeface="Arial" panose="020B0604020202020204" pitchFamily="34" charset="0"/>
                </a:rPr>
                <a:t>r </a:t>
              </a:r>
              <a:r>
                <a:rPr lang="ko-KR" altLang="en-US" sz="1500">
                  <a:latin typeface="Noto Sans KR" panose="020B0200000000000000" pitchFamily="50" charset="-127"/>
                  <a:ea typeface="Noto Sans KR" panose="020B0200000000000000" pitchFamily="50" charset="-127"/>
                  <a:cs typeface="Arial" panose="020B0604020202020204" pitchFamily="34" charset="0"/>
                </a:rPr>
                <a:t>에 대한 </a:t>
              </a:r>
              <a:r>
                <a:rPr lang="en-US" altLang="ko-KR" sz="1500">
                  <a:latin typeface="Noto Sans KR" panose="020B0200000000000000" pitchFamily="50" charset="-127"/>
                  <a:ea typeface="Noto Sans KR" panose="020B0200000000000000" pitchFamily="50" charset="-127"/>
                  <a:cs typeface="Arial" panose="020B0604020202020204" pitchFamily="34" charset="0"/>
                </a:rPr>
                <a:t>95% </a:t>
              </a:r>
              <a:r>
                <a:rPr lang="ko-KR" altLang="en-US" sz="1500">
                  <a:latin typeface="Noto Sans KR" panose="020B0200000000000000" pitchFamily="50" charset="-127"/>
                  <a:ea typeface="Noto Sans KR" panose="020B0200000000000000" pitchFamily="50" charset="-127"/>
                  <a:cs typeface="Arial" panose="020B0604020202020204" pitchFamily="34" charset="0"/>
                </a:rPr>
                <a:t>신뢰구간</a:t>
              </a:r>
              <a:r>
                <a:rPr lang="en-US" altLang="ko-KR" sz="1500">
                  <a:latin typeface="Noto Sans KR" panose="020B0200000000000000" pitchFamily="50" charset="-127"/>
                  <a:ea typeface="Noto Sans KR" panose="020B0200000000000000" pitchFamily="50" charset="-127"/>
                  <a:cs typeface="Arial" panose="020B0604020202020204" pitchFamily="34" charset="0"/>
                </a:rPr>
                <a:t>(Confidence Interval), 0</a:t>
              </a:r>
              <a:r>
                <a:rPr lang="ko-KR" altLang="en-US" sz="1500">
                  <a:latin typeface="Noto Sans KR" panose="020B0200000000000000" pitchFamily="50" charset="-127"/>
                  <a:ea typeface="Noto Sans KR" panose="020B0200000000000000" pitchFamily="50" charset="-127"/>
                  <a:cs typeface="Arial" panose="020B0604020202020204" pitchFamily="34" charset="0"/>
                </a:rPr>
                <a:t>을 포함하지 않으면 유의미한 결과라고 판단</a:t>
              </a:r>
              <a:endParaRPr lang="en-US" altLang="ko-KR" sz="15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endParaRP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u"/>
              </a:pPr>
              <a:r>
                <a:rPr lang="en-US" altLang="ko-KR" sz="1500">
                  <a:latin typeface="Noto Sans KR" panose="020B0200000000000000" pitchFamily="50" charset="-127"/>
                  <a:ea typeface="Noto Sans KR" panose="020B0200000000000000" pitchFamily="50" charset="-127"/>
                  <a:cs typeface="Arial" panose="020B0604020202020204" pitchFamily="34" charset="0"/>
                </a:rPr>
                <a:t> p-</a:t>
              </a:r>
              <a:r>
                <a:rPr lang="en-US" altLang="ko-KR" sz="1500" err="1">
                  <a:latin typeface="Noto Sans KR" panose="020B0200000000000000" pitchFamily="50" charset="-127"/>
                  <a:ea typeface="Noto Sans KR" panose="020B0200000000000000" pitchFamily="50" charset="-127"/>
                  <a:cs typeface="Arial" panose="020B0604020202020204" pitchFamily="34" charset="0"/>
                </a:rPr>
                <a:t>val</a:t>
              </a:r>
              <a:r>
                <a:rPr lang="en-US" altLang="ko-KR" sz="1500">
                  <a:latin typeface="Noto Sans KR" panose="020B0200000000000000" pitchFamily="50" charset="-127"/>
                  <a:ea typeface="Noto Sans KR" panose="020B0200000000000000" pitchFamily="50" charset="-127"/>
                  <a:cs typeface="Arial" panose="020B0604020202020204" pitchFamily="34" charset="0"/>
                </a:rPr>
                <a:t>: </a:t>
              </a:r>
              <a:r>
                <a:rPr lang="ko-KR" altLang="en-US" sz="1500">
                  <a:latin typeface="Noto Sans KR" panose="020B0200000000000000" pitchFamily="50" charset="-127"/>
                  <a:ea typeface="Noto Sans KR" panose="020B0200000000000000" pitchFamily="50" charset="-127"/>
                  <a:cs typeface="Arial" panose="020B0604020202020204" pitchFamily="34" charset="0"/>
                </a:rPr>
                <a:t>대표적인 통계 검정 기법으로</a:t>
              </a:r>
              <a:r>
                <a:rPr lang="en-US" altLang="ko-KR" sz="1500">
                  <a:latin typeface="Noto Sans KR" panose="020B0200000000000000" pitchFamily="50" charset="-127"/>
                  <a:ea typeface="Noto Sans KR" panose="020B0200000000000000" pitchFamily="50" charset="-127"/>
                  <a:cs typeface="Arial" panose="020B0604020202020204" pitchFamily="34" charset="0"/>
                </a:rPr>
                <a:t>, p-value</a:t>
              </a:r>
              <a:r>
                <a:rPr lang="ko-KR" altLang="en-US" sz="1500">
                  <a:latin typeface="Noto Sans KR" panose="020B0200000000000000" pitchFamily="50" charset="-127"/>
                  <a:ea typeface="Noto Sans KR" panose="020B0200000000000000" pitchFamily="50" charset="-127"/>
                  <a:cs typeface="Arial" panose="020B0604020202020204" pitchFamily="34" charset="0"/>
                </a:rPr>
                <a:t>가 작을수록 </a:t>
              </a:r>
              <a:r>
                <a:rPr lang="ko-KR" altLang="en-US" sz="1500" err="1">
                  <a:latin typeface="Noto Sans KR" panose="020B0200000000000000" pitchFamily="50" charset="-127"/>
                  <a:ea typeface="Noto Sans KR" panose="020B0200000000000000" pitchFamily="50" charset="-127"/>
                  <a:cs typeface="Arial" panose="020B0604020202020204" pitchFamily="34" charset="0"/>
                </a:rPr>
                <a:t>귀무가설</a:t>
              </a:r>
              <a:r>
                <a:rPr lang="en-US" altLang="ko-KR" sz="1500">
                  <a:latin typeface="Noto Sans KR" panose="020B0200000000000000" pitchFamily="50" charset="-127"/>
                  <a:ea typeface="Noto Sans KR" panose="020B0200000000000000" pitchFamily="50" charset="-127"/>
                  <a:cs typeface="Arial" panose="020B0604020202020204" pitchFamily="34" charset="0"/>
                </a:rPr>
                <a:t>(</a:t>
              </a:r>
              <a:r>
                <a:rPr lang="ko-KR" altLang="en-US" sz="1500">
                  <a:latin typeface="Noto Sans KR" panose="020B0200000000000000" pitchFamily="50" charset="-127"/>
                  <a:ea typeface="Noto Sans KR" panose="020B0200000000000000" pitchFamily="50" charset="-127"/>
                  <a:cs typeface="Arial" panose="020B0604020202020204" pitchFamily="34" charset="0"/>
                </a:rPr>
                <a:t>관련이 없다</a:t>
              </a:r>
              <a:r>
                <a:rPr lang="en-US" altLang="ko-KR" sz="1500">
                  <a:latin typeface="Noto Sans KR" panose="020B0200000000000000" pitchFamily="50" charset="-127"/>
                  <a:ea typeface="Noto Sans KR" panose="020B0200000000000000" pitchFamily="50" charset="-127"/>
                  <a:cs typeface="Arial" panose="020B0604020202020204" pitchFamily="34" charset="0"/>
                </a:rPr>
                <a:t>)</a:t>
              </a:r>
              <a:r>
                <a:rPr lang="ko-KR" altLang="en-US" sz="1500">
                  <a:latin typeface="Noto Sans KR" panose="020B0200000000000000" pitchFamily="50" charset="-127"/>
                  <a:ea typeface="Noto Sans KR" panose="020B0200000000000000" pitchFamily="50" charset="-127"/>
                  <a:cs typeface="Arial" panose="020B0604020202020204" pitchFamily="34" charset="0"/>
                </a:rPr>
                <a:t>을 기각할 가능성이 커짐</a:t>
              </a:r>
              <a:r>
                <a:rPr lang="en-US" altLang="ko-KR" sz="1500">
                  <a:latin typeface="Noto Sans KR" panose="020B0200000000000000" pitchFamily="50" charset="-127"/>
                  <a:ea typeface="Noto Sans KR" panose="020B0200000000000000" pitchFamily="50" charset="-127"/>
                  <a:cs typeface="Arial" panose="020B0604020202020204" pitchFamily="34" charset="0"/>
                </a:rPr>
                <a:t>.</a:t>
              </a:r>
              <a:r>
                <a:rPr lang="ko-KR" altLang="en-US" sz="1500">
                  <a:latin typeface="Noto Sans KR" panose="020B0200000000000000" pitchFamily="50" charset="-127"/>
                  <a:ea typeface="Noto Sans KR" panose="020B0200000000000000" pitchFamily="50" charset="-127"/>
                  <a:cs typeface="Arial" panose="020B0604020202020204" pitchFamily="34" charset="0"/>
                </a:rPr>
                <a:t> </a:t>
              </a:r>
              <a:r>
                <a:rPr lang="en-US" altLang="ko-KR" sz="1500">
                  <a:latin typeface="Noto Sans KR" panose="020B0200000000000000" pitchFamily="50" charset="-127"/>
                  <a:ea typeface="Noto Sans KR" panose="020B0200000000000000" pitchFamily="50" charset="-127"/>
                  <a:cs typeface="Arial" panose="020B0604020202020204" pitchFamily="34" charset="0"/>
                </a:rPr>
                <a:t>p-value</a:t>
              </a:r>
              <a:r>
                <a:rPr lang="ko-KR" altLang="en-US" sz="1500">
                  <a:latin typeface="Noto Sans KR" panose="020B0200000000000000" pitchFamily="50" charset="-127"/>
                  <a:ea typeface="Noto Sans KR" panose="020B0200000000000000" pitchFamily="50" charset="-127"/>
                  <a:cs typeface="Arial" panose="020B0604020202020204" pitchFamily="34" charset="0"/>
                </a:rPr>
                <a:t>가</a:t>
              </a:r>
              <a:r>
                <a:rPr lang="en-US" altLang="ko-KR" sz="1500">
                  <a:latin typeface="Noto Sans KR" panose="020B0200000000000000" pitchFamily="50" charset="-127"/>
                  <a:ea typeface="Noto Sans KR" panose="020B0200000000000000" pitchFamily="50" charset="-127"/>
                  <a:cs typeface="Arial" panose="020B0604020202020204" pitchFamily="34" charset="0"/>
                </a:rPr>
                <a:t> 0.05</a:t>
              </a:r>
              <a:r>
                <a:rPr lang="ko-KR" altLang="en-US" sz="1500">
                  <a:latin typeface="Noto Sans KR" panose="020B0200000000000000" pitchFamily="50" charset="-127"/>
                  <a:ea typeface="Noto Sans KR" panose="020B0200000000000000" pitchFamily="50" charset="-127"/>
                  <a:cs typeface="Arial" panose="020B0604020202020204" pitchFamily="34" charset="0"/>
                </a:rPr>
                <a:t>보다 작으면 </a:t>
              </a:r>
              <a:r>
                <a:rPr lang="ko-KR" altLang="en-US" sz="1500" err="1">
                  <a:latin typeface="Noto Sans KR" panose="020B0200000000000000" pitchFamily="50" charset="-127"/>
                  <a:ea typeface="Noto Sans KR" panose="020B0200000000000000" pitchFamily="50" charset="-127"/>
                  <a:cs typeface="Arial" panose="020B0604020202020204" pitchFamily="34" charset="0"/>
                </a:rPr>
                <a:t>귀무가설을</a:t>
              </a:r>
              <a:r>
                <a:rPr lang="ko-KR" altLang="en-US" sz="1500">
                  <a:latin typeface="Noto Sans KR" panose="020B0200000000000000" pitchFamily="50" charset="-127"/>
                  <a:ea typeface="Noto Sans KR" panose="020B0200000000000000" pitchFamily="50" charset="-127"/>
                  <a:cs typeface="Arial" panose="020B0604020202020204" pitchFamily="34" charset="0"/>
                </a:rPr>
                <a:t> 기각함 </a:t>
              </a:r>
              <a:r>
                <a:rPr lang="en-US" altLang="ko-KR" sz="1500">
                  <a:latin typeface="Noto Sans KR" panose="020B0200000000000000" pitchFamily="50" charset="-127"/>
                  <a:ea typeface="Noto Sans KR" panose="020B0200000000000000" pitchFamily="50" charset="-127"/>
                  <a:cs typeface="Arial" panose="020B0604020202020204" pitchFamily="34" charset="0"/>
                </a:rPr>
                <a:t>(=</a:t>
              </a:r>
              <a:r>
                <a:rPr lang="ko-KR" altLang="en-US" sz="1500">
                  <a:latin typeface="Noto Sans KR" panose="020B0200000000000000" pitchFamily="50" charset="-127"/>
                  <a:ea typeface="Noto Sans KR" panose="020B0200000000000000" pitchFamily="50" charset="-127"/>
                  <a:cs typeface="Arial" panose="020B0604020202020204" pitchFamily="34" charset="0"/>
                </a:rPr>
                <a:t>관련이 있다</a:t>
              </a:r>
              <a:r>
                <a:rPr lang="en-US" altLang="ko-KR" sz="1500">
                  <a:latin typeface="Noto Sans KR" panose="020B0200000000000000" pitchFamily="50" charset="-127"/>
                  <a:ea typeface="Noto Sans KR" panose="020B0200000000000000" pitchFamily="50" charset="-127"/>
                  <a:cs typeface="Arial" panose="020B0604020202020204" pitchFamily="34" charset="0"/>
                </a:rPr>
                <a:t>)</a:t>
              </a:r>
            </a:p>
          </p:txBody>
        </p:sp>
      </p:grp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0321B25-C8F8-491B-BF4C-BEE32B0EBAA4}"/>
              </a:ext>
            </a:extLst>
          </p:cNvPr>
          <p:cNvSpPr/>
          <p:nvPr/>
        </p:nvSpPr>
        <p:spPr>
          <a:xfrm>
            <a:off x="7362334" y="2314076"/>
            <a:ext cx="2460396" cy="325471"/>
          </a:xfrm>
          <a:prstGeom prst="rect">
            <a:avLst/>
          </a:prstGeom>
          <a:noFill/>
          <a:ln w="28575">
            <a:solidFill>
              <a:srgbClr val="B21D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Microsoft YaHei" panose="020B0503020204020204" pitchFamily="34" charset="-122"/>
            </a:endParaRPr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DD798E6A-EBB1-4603-8CC9-5D351CBCD104}"/>
              </a:ext>
            </a:extLst>
          </p:cNvPr>
          <p:cNvCxnSpPr/>
          <p:nvPr/>
        </p:nvCxnSpPr>
        <p:spPr>
          <a:xfrm flipV="1">
            <a:off x="7880808" y="2110780"/>
            <a:ext cx="254524" cy="189983"/>
          </a:xfrm>
          <a:prstGeom prst="line">
            <a:avLst/>
          </a:prstGeom>
          <a:ln w="28575">
            <a:solidFill>
              <a:srgbClr val="B21D1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5F9BE66-3A4A-4DCB-86B6-95809A92B94A}"/>
              </a:ext>
            </a:extLst>
          </p:cNvPr>
          <p:cNvSpPr/>
          <p:nvPr/>
        </p:nvSpPr>
        <p:spPr>
          <a:xfrm>
            <a:off x="8135096" y="1919634"/>
            <a:ext cx="941283" cy="338554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r>
              <a:rPr lang="ko-KR" altLang="en-US" sz="1600">
                <a:solidFill>
                  <a:srgbClr val="FF0000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통제변수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5D449AB-05F6-438C-8F0C-83513575F724}"/>
              </a:ext>
            </a:extLst>
          </p:cNvPr>
          <p:cNvSpPr/>
          <p:nvPr/>
        </p:nvSpPr>
        <p:spPr>
          <a:xfrm>
            <a:off x="1257259" y="5950684"/>
            <a:ext cx="968453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1600" b="1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결과 해석 </a:t>
            </a:r>
            <a:r>
              <a:rPr lang="en-US" altLang="ko-KR" sz="1600" b="1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: distance </a:t>
            </a:r>
            <a:r>
              <a:rPr lang="ko-KR" altLang="en-US" sz="1600" b="1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와 </a:t>
            </a:r>
            <a:r>
              <a:rPr lang="en-US" altLang="ko-KR" sz="1600" b="1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tolls</a:t>
            </a:r>
            <a:r>
              <a:rPr lang="ko-KR" altLang="en-US" sz="1600" b="1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를 통제 변수로 둔 후</a:t>
            </a:r>
            <a:r>
              <a:rPr lang="en-US" altLang="ko-KR" sz="1600" b="1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, fare</a:t>
            </a:r>
            <a:r>
              <a:rPr lang="ko-KR" altLang="en-US" sz="1600" b="1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과 </a:t>
            </a:r>
            <a:r>
              <a:rPr lang="en-US" altLang="ko-KR" sz="1600" b="1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tip</a:t>
            </a:r>
            <a:r>
              <a:rPr lang="ko-KR" altLang="en-US" sz="1600" b="1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사이의 상관관계를 구했을 때</a:t>
            </a:r>
            <a:r>
              <a:rPr lang="en-US" altLang="ko-KR" sz="1600" b="1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, p-value</a:t>
            </a:r>
            <a:r>
              <a:rPr lang="ko-KR" altLang="en-US" sz="1600" b="1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는 </a:t>
            </a:r>
            <a:r>
              <a:rPr lang="en-US" altLang="ko-KR" sz="1600" b="1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0.05 </a:t>
            </a:r>
            <a:r>
              <a:rPr lang="ko-KR" altLang="en-US" sz="1600" b="1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이하이고 상관계수는 </a:t>
            </a:r>
            <a:r>
              <a:rPr lang="en-US" altLang="ko-KR" sz="1600" b="1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0.19562</a:t>
            </a:r>
            <a:r>
              <a:rPr lang="ko-KR" altLang="en-US" sz="1600" b="1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로 양의 상관관계를 가짐</a:t>
            </a:r>
            <a:endParaRPr lang="en-US" altLang="ko-KR" sz="1600" b="1">
              <a:latin typeface="Noto Sans KR" panose="020B0200000000000000" pitchFamily="50" charset="-127"/>
              <a:ea typeface="Noto Sans KR" panose="020B0200000000000000" pitchFamily="50" charset="-127"/>
              <a:cs typeface="Arial" panose="020B0604020202020204" pitchFamily="34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6CEF83B-56CB-4ECD-BD45-9AFD4AB8D4B6}"/>
              </a:ext>
            </a:extLst>
          </p:cNvPr>
          <p:cNvSpPr/>
          <p:nvPr/>
        </p:nvSpPr>
        <p:spPr>
          <a:xfrm>
            <a:off x="894837" y="1017489"/>
            <a:ext cx="28440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i="1">
                <a:solidFill>
                  <a:srgbClr val="B3003F"/>
                </a:solidFill>
                <a:latin typeface="Consolas" panose="020B0609020204030204" pitchFamily="49" charset="0"/>
              </a:rPr>
              <a:t>import</a:t>
            </a:r>
            <a:r>
              <a:rPr lang="en-US" altLang="ko-KR">
                <a:solidFill>
                  <a:srgbClr val="141414"/>
                </a:solidFill>
                <a:latin typeface="Consolas" panose="020B0609020204030204" pitchFamily="49" charset="0"/>
              </a:rPr>
              <a:t> </a:t>
            </a:r>
            <a:r>
              <a:rPr lang="en-US" altLang="ko-KR" err="1">
                <a:solidFill>
                  <a:srgbClr val="206595"/>
                </a:solidFill>
                <a:latin typeface="Consolas" panose="020B0609020204030204" pitchFamily="49" charset="0"/>
              </a:rPr>
              <a:t>pingouin</a:t>
            </a:r>
            <a:r>
              <a:rPr lang="en-US" altLang="ko-KR">
                <a:solidFill>
                  <a:srgbClr val="141414"/>
                </a:solidFill>
                <a:latin typeface="Consolas" panose="020B0609020204030204" pitchFamily="49" charset="0"/>
              </a:rPr>
              <a:t> </a:t>
            </a:r>
            <a:r>
              <a:rPr lang="en-US" altLang="ko-KR" i="1">
                <a:solidFill>
                  <a:srgbClr val="B3003F"/>
                </a:solidFill>
                <a:latin typeface="Consolas" panose="020B0609020204030204" pitchFamily="49" charset="0"/>
              </a:rPr>
              <a:t>as</a:t>
            </a:r>
            <a:r>
              <a:rPr lang="en-US" altLang="ko-KR">
                <a:solidFill>
                  <a:srgbClr val="141414"/>
                </a:solidFill>
                <a:latin typeface="Consolas" panose="020B0609020204030204" pitchFamily="49" charset="0"/>
              </a:rPr>
              <a:t> </a:t>
            </a:r>
            <a:r>
              <a:rPr lang="en-US" altLang="ko-KR" err="1">
                <a:solidFill>
                  <a:srgbClr val="206595"/>
                </a:solidFill>
                <a:latin typeface="Consolas" panose="020B0609020204030204" pitchFamily="49" charset="0"/>
              </a:rPr>
              <a:t>pg</a:t>
            </a:r>
            <a:endParaRPr lang="en-US" altLang="ko-KR" b="0">
              <a:solidFill>
                <a:srgbClr val="14141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02871A8-99A7-4447-AE0E-88B34C33DDD4}"/>
              </a:ext>
            </a:extLst>
          </p:cNvPr>
          <p:cNvSpPr/>
          <p:nvPr/>
        </p:nvSpPr>
        <p:spPr>
          <a:xfrm>
            <a:off x="3875058" y="1002155"/>
            <a:ext cx="20842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err="1">
                <a:solidFill>
                  <a:srgbClr val="206595"/>
                </a:solidFill>
                <a:latin typeface="Consolas" panose="020B0609020204030204" pitchFamily="49" charset="0"/>
              </a:rPr>
              <a:t>pg</a:t>
            </a:r>
            <a:r>
              <a:rPr lang="en-US" altLang="ko-KR" err="1">
                <a:solidFill>
                  <a:srgbClr val="141414"/>
                </a:solidFill>
                <a:latin typeface="Consolas" panose="020B0609020204030204" pitchFamily="49" charset="0"/>
              </a:rPr>
              <a:t>.</a:t>
            </a:r>
            <a:r>
              <a:rPr lang="en-US" altLang="ko-KR" err="1">
                <a:solidFill>
                  <a:srgbClr val="DB704B"/>
                </a:solidFill>
                <a:latin typeface="Consolas" panose="020B0609020204030204" pitchFamily="49" charset="0"/>
              </a:rPr>
              <a:t>partial_corr</a:t>
            </a:r>
            <a:endParaRPr lang="en-US" altLang="ko-KR" b="0">
              <a:solidFill>
                <a:srgbClr val="14141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36A5214-DCDF-442D-BA32-F7EF86D12638}"/>
              </a:ext>
            </a:extLst>
          </p:cNvPr>
          <p:cNvSpPr/>
          <p:nvPr/>
        </p:nvSpPr>
        <p:spPr>
          <a:xfrm>
            <a:off x="887781" y="1492419"/>
            <a:ext cx="39837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>
                <a:solidFill>
                  <a:srgbClr val="206595"/>
                </a:solidFill>
                <a:latin typeface="Consolas" panose="020B0609020204030204" pitchFamily="49" charset="0"/>
              </a:rPr>
              <a:t>df</a:t>
            </a:r>
            <a:r>
              <a:rPr lang="en-US" altLang="ko-KR">
                <a:solidFill>
                  <a:srgbClr val="141414"/>
                </a:solidFill>
                <a:latin typeface="Consolas" panose="020B0609020204030204" pitchFamily="49" charset="0"/>
              </a:rPr>
              <a:t> = </a:t>
            </a:r>
            <a:r>
              <a:rPr lang="en-US" altLang="ko-KR" err="1">
                <a:solidFill>
                  <a:srgbClr val="206595"/>
                </a:solidFill>
                <a:latin typeface="Consolas" panose="020B0609020204030204" pitchFamily="49" charset="0"/>
              </a:rPr>
              <a:t>sns</a:t>
            </a:r>
            <a:r>
              <a:rPr lang="en-US" altLang="ko-KR" err="1">
                <a:solidFill>
                  <a:srgbClr val="141414"/>
                </a:solidFill>
                <a:latin typeface="Consolas" panose="020B0609020204030204" pitchFamily="49" charset="0"/>
              </a:rPr>
              <a:t>.</a:t>
            </a:r>
            <a:r>
              <a:rPr lang="en-US" altLang="ko-KR" err="1">
                <a:solidFill>
                  <a:srgbClr val="DB704B"/>
                </a:solidFill>
                <a:latin typeface="Consolas" panose="020B0609020204030204" pitchFamily="49" charset="0"/>
              </a:rPr>
              <a:t>load_dataset</a:t>
            </a:r>
            <a:r>
              <a:rPr lang="en-US" altLang="ko-KR">
                <a:solidFill>
                  <a:srgbClr val="141414"/>
                </a:solidFill>
                <a:latin typeface="Consolas" panose="020B0609020204030204" pitchFamily="49" charset="0"/>
              </a:rPr>
              <a:t>(</a:t>
            </a:r>
            <a:r>
              <a:rPr lang="en-US" altLang="ko-KR">
                <a:solidFill>
                  <a:srgbClr val="9E94D5"/>
                </a:solidFill>
                <a:latin typeface="Consolas" panose="020B0609020204030204" pitchFamily="49" charset="0"/>
              </a:rPr>
              <a:t>'taxis'</a:t>
            </a:r>
            <a:r>
              <a:rPr lang="en-US" altLang="ko-KR">
                <a:solidFill>
                  <a:srgbClr val="141414"/>
                </a:solidFill>
                <a:latin typeface="Consolas" panose="020B0609020204030204" pitchFamily="49" charset="0"/>
              </a:rPr>
              <a:t>)</a:t>
            </a:r>
            <a:endParaRPr lang="en-US" altLang="ko-KR" b="0">
              <a:solidFill>
                <a:srgbClr val="14141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16A0473-F4A7-4C28-BC15-15287808FE50}"/>
              </a:ext>
            </a:extLst>
          </p:cNvPr>
          <p:cNvSpPr/>
          <p:nvPr/>
        </p:nvSpPr>
        <p:spPr>
          <a:xfrm>
            <a:off x="4781054" y="1544059"/>
            <a:ext cx="5678300" cy="276999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ko-KR" altLang="en-US" sz="1200">
                <a:solidFill>
                  <a:srgbClr val="FF0000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택시 요금</a:t>
            </a:r>
            <a:r>
              <a:rPr lang="en-US" altLang="ko-KR" sz="1200">
                <a:solidFill>
                  <a:srgbClr val="FF0000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, </a:t>
            </a:r>
            <a:r>
              <a:rPr lang="ko-KR" altLang="en-US" sz="1200">
                <a:solidFill>
                  <a:srgbClr val="FF0000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거리 등의 정보를 담은 데이터</a:t>
            </a:r>
          </a:p>
        </p:txBody>
      </p:sp>
    </p:spTree>
    <p:extLst>
      <p:ext uri="{BB962C8B-B14F-4D97-AF65-F5344CB8AC3E}">
        <p14:creationId xmlns:p14="http://schemas.microsoft.com/office/powerpoint/2010/main" val="35218423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415CE3D-03F6-4D09-9321-3D7FF3AF008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2B19318-762D-4FD0-A50B-207ABA46F30B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8B428AD-D08B-42BA-B289-D0DF1A1C81F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ko-KR" altLang="en-US">
                <a:ea typeface="Noto Sans KR" panose="020B0200000000000000" pitchFamily="50" charset="-127"/>
                <a:cs typeface="Arial" panose="020B0604020202020204" pitchFamily="34" charset="0"/>
              </a:rPr>
              <a:t>통계 분석 기법</a:t>
            </a:r>
          </a:p>
          <a:p>
            <a:r>
              <a:rPr lang="en-US" altLang="ko-KR">
                <a:cs typeface="Arial" panose="020B0604020202020204" pitchFamily="34" charset="0"/>
              </a:rPr>
              <a:t> </a:t>
            </a:r>
            <a:endParaRPr lang="ko-KR" altLang="en-US">
              <a:cs typeface="Arial" panose="020B0604020202020204" pitchFamily="34" charset="0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A9B8AF3-4FB1-4D41-BD6B-CBB401DE110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686B527-6459-4135-BE6D-D3190704AFA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2FC6C974-24DD-4A53-9CEC-41E5D8DF709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50062" y="426003"/>
            <a:ext cx="9996640" cy="443020"/>
          </a:xfrm>
        </p:spPr>
        <p:txBody>
          <a:bodyPr/>
          <a:lstStyle/>
          <a:p>
            <a:r>
              <a:rPr lang="en-US" altLang="ko-KR">
                <a:latin typeface="Microsoft YaHei" panose="020B0503020204020204" pitchFamily="34" charset="-122"/>
                <a:cs typeface="Arial" panose="020B0604020202020204" pitchFamily="34" charset="0"/>
              </a:rPr>
              <a:t>2. Partial Least Squares Regression (</a:t>
            </a:r>
            <a:r>
              <a:rPr lang="ko-KR" altLang="en-US" err="1">
                <a:latin typeface="Microsoft YaHei" panose="020B0503020204020204" pitchFamily="34" charset="-122"/>
                <a:cs typeface="Arial" panose="020B0604020202020204" pitchFamily="34" charset="0"/>
              </a:rPr>
              <a:t>부분최소제곱법</a:t>
            </a:r>
            <a:r>
              <a:rPr lang="en-US" altLang="ko-KR">
                <a:latin typeface="Microsoft YaHei" panose="020B0503020204020204" pitchFamily="34" charset="-122"/>
                <a:cs typeface="Arial" panose="020B0604020202020204" pitchFamily="34" charset="0"/>
              </a:rPr>
              <a:t>)</a:t>
            </a:r>
            <a:endParaRPr lang="ko-KR" altLang="en-US">
              <a:latin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D3E0EDE-2E24-49F7-9FD2-6E26E5B9BAD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0459354" y="71451"/>
            <a:ext cx="1814291" cy="249238"/>
          </a:xfrm>
        </p:spPr>
        <p:txBody>
          <a:bodyPr/>
          <a:lstStyle/>
          <a:p>
            <a:r>
              <a:rPr lang="en-US" altLang="ko-KR">
                <a:ea typeface="프리젠테이션 5 Medium" pitchFamily="2" charset="-127"/>
                <a:cs typeface="Arial" panose="020B0604020202020204" pitchFamily="34" charset="0"/>
              </a:rPr>
              <a:t>Biomarker</a:t>
            </a:r>
            <a:r>
              <a:rPr lang="ko-KR" altLang="en-US">
                <a:ea typeface="프리젠테이션 5 Medium" pitchFamily="2" charset="-127"/>
                <a:cs typeface="Arial" panose="020B0604020202020204" pitchFamily="34" charset="0"/>
              </a:rPr>
              <a:t> </a:t>
            </a:r>
            <a:r>
              <a:rPr lang="en-US" altLang="ko-KR">
                <a:ea typeface="프리젠테이션 5 Medium" pitchFamily="2" charset="-127"/>
                <a:cs typeface="Arial" panose="020B0604020202020204" pitchFamily="34" charset="0"/>
              </a:rPr>
              <a:t>Analysis</a:t>
            </a:r>
            <a:endParaRPr lang="ko-KR" altLang="en-US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520D3A65-1146-4CEF-9EAB-A72C53CBF77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D1590CB3-04AB-41F4-8980-BF850BE9A28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774484E-E908-4420-B305-0F8652B646DD}"/>
              </a:ext>
            </a:extLst>
          </p:cNvPr>
          <p:cNvSpPr/>
          <p:nvPr/>
        </p:nvSpPr>
        <p:spPr>
          <a:xfrm>
            <a:off x="886017" y="5625152"/>
            <a:ext cx="10854863" cy="7476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필요한 이유</a:t>
            </a:r>
            <a:r>
              <a:rPr lang="en-US" altLang="ko-KR" sz="16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: </a:t>
            </a:r>
            <a:r>
              <a:rPr lang="ko-KR" altLang="en-US" sz="16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하나의 변수를 여러 설명 요소로 나타내고자 할 때</a:t>
            </a:r>
            <a:r>
              <a:rPr lang="en-US" altLang="ko-KR" sz="16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, </a:t>
            </a:r>
            <a:r>
              <a:rPr lang="ko-KR" altLang="en-US" sz="16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선형결합의 </a:t>
            </a:r>
            <a:r>
              <a:rPr lang="en-US" altLang="ko-KR" sz="16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weight</a:t>
            </a:r>
            <a:r>
              <a:rPr lang="ko-KR" altLang="en-US" sz="16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까지 쉽게 얻을 수 있음</a:t>
            </a:r>
            <a:endParaRPr lang="en-US" altLang="ko-KR" sz="160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Arial" panose="020B0604020202020204" pitchFamily="34" charset="0"/>
            </a:endParaRPr>
          </a:p>
          <a:p>
            <a:pPr algn="ctr"/>
            <a:r>
              <a:rPr lang="en-US" altLang="ko-KR" sz="16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Ex) </a:t>
            </a:r>
            <a:r>
              <a:rPr lang="ko-KR" altLang="en-US" sz="16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나이에 영향을 미치는 면역세포들의 선형결합과 가중치를 알고자 할 때 사용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5F83FEB-D763-46A2-A0FF-D521FD7FD9E8}"/>
              </a:ext>
            </a:extLst>
          </p:cNvPr>
          <p:cNvSpPr txBox="1"/>
          <p:nvPr/>
        </p:nvSpPr>
        <p:spPr>
          <a:xfrm>
            <a:off x="1070070" y="1076325"/>
            <a:ext cx="106708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회귀분석의 일종</a:t>
            </a:r>
            <a:r>
              <a:rPr lang="en-US" altLang="ko-KR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, </a:t>
            </a:r>
            <a:r>
              <a:rPr lang="ko-KR" altLang="en-US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여러 설명변수 </a:t>
            </a:r>
            <a:r>
              <a:rPr lang="en-US" altLang="ko-KR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X</a:t>
            </a:r>
            <a:r>
              <a:rPr lang="ko-KR" altLang="en-US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와</a:t>
            </a:r>
            <a:r>
              <a:rPr lang="en-US" altLang="ko-KR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 </a:t>
            </a:r>
            <a:r>
              <a:rPr lang="ko-KR" altLang="en-US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반응변수 </a:t>
            </a:r>
            <a:r>
              <a:rPr lang="en-US" altLang="ko-KR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Y </a:t>
            </a:r>
            <a:r>
              <a:rPr lang="ko-KR" altLang="en-US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를 동시에 저차원으로 투영해서 그 투영 점수들 사이의 공분산이 최대가 되도록 성분을 뽑아 </a:t>
            </a:r>
            <a:r>
              <a:rPr lang="en-US" altLang="ko-KR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Y</a:t>
            </a:r>
            <a:r>
              <a:rPr lang="ko-KR" altLang="en-US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를 회귀하는 방법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DE16AC67-2B94-4A9A-AB9B-3282D6F083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9078" y="3843761"/>
            <a:ext cx="4248743" cy="533474"/>
          </a:xfrm>
          <a:prstGeom prst="rect">
            <a:avLst/>
          </a:prstGeom>
          <a:ln>
            <a:solidFill>
              <a:schemeClr val="tx2">
                <a:lumMod val="75000"/>
              </a:schemeClr>
            </a:solidFill>
          </a:ln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5F2AD667-91B8-4B86-AB23-BC2109870EB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9870" b="18766"/>
          <a:stretch/>
        </p:blipFill>
        <p:spPr>
          <a:xfrm>
            <a:off x="1294629" y="2880834"/>
            <a:ext cx="4407059" cy="452729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3B19A327-E024-4D83-A516-C7773EE035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5285" y="2206957"/>
            <a:ext cx="4329647" cy="359733"/>
          </a:xfrm>
          <a:prstGeom prst="rect">
            <a:avLst/>
          </a:prstGeom>
        </p:spPr>
      </p:pic>
      <p:sp>
        <p:nvSpPr>
          <p:cNvPr id="30" name="내용 개체 틀 2">
            <a:extLst>
              <a:ext uri="{FF2B5EF4-FFF2-40B4-BE49-F238E27FC236}">
                <a16:creationId xmlns:a16="http://schemas.microsoft.com/office/drawing/2014/main" id="{AD21EA07-69DE-4D20-853C-53B916BC9BB5}"/>
              </a:ext>
            </a:extLst>
          </p:cNvPr>
          <p:cNvSpPr txBox="1">
            <a:spLocks/>
          </p:cNvSpPr>
          <p:nvPr/>
        </p:nvSpPr>
        <p:spPr>
          <a:xfrm>
            <a:off x="5513200" y="3028749"/>
            <a:ext cx="5236901" cy="434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160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설명변수의 선형결합</a:t>
            </a:r>
          </a:p>
        </p:txBody>
      </p:sp>
      <p:sp>
        <p:nvSpPr>
          <p:cNvPr id="31" name="내용 개체 틀 2">
            <a:extLst>
              <a:ext uri="{FF2B5EF4-FFF2-40B4-BE49-F238E27FC236}">
                <a16:creationId xmlns:a16="http://schemas.microsoft.com/office/drawing/2014/main" id="{95811F7B-064E-4ACC-8634-717AA6D75BE7}"/>
              </a:ext>
            </a:extLst>
          </p:cNvPr>
          <p:cNvSpPr txBox="1">
            <a:spLocks/>
          </p:cNvSpPr>
          <p:nvPr/>
        </p:nvSpPr>
        <p:spPr>
          <a:xfrm>
            <a:off x="5942376" y="2253437"/>
            <a:ext cx="5236901" cy="43400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160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설명변수의 데이터 개수는 </a:t>
            </a:r>
            <a:r>
              <a:rPr lang="en-US" altLang="ko-KR" sz="160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n</a:t>
            </a:r>
            <a:r>
              <a:rPr lang="ko-KR" altLang="en-US" sz="160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개</a:t>
            </a:r>
            <a:r>
              <a:rPr lang="en-US" altLang="ko-KR" sz="160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, </a:t>
            </a:r>
            <a:r>
              <a:rPr lang="ko-KR" altLang="en-US" sz="160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변수의 개수는 </a:t>
            </a:r>
            <a:r>
              <a:rPr lang="en-US" altLang="ko-KR" sz="160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p</a:t>
            </a:r>
            <a:r>
              <a:rPr lang="ko-KR" altLang="en-US" sz="160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개 </a:t>
            </a:r>
            <a:r>
              <a:rPr lang="en-US" altLang="ko-KR" sz="160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(</a:t>
            </a:r>
            <a:r>
              <a:rPr lang="en-US" altLang="ko-KR" sz="1600" err="1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nxp</a:t>
            </a:r>
            <a:r>
              <a:rPr lang="en-US" altLang="ko-KR" sz="160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 </a:t>
            </a:r>
            <a:r>
              <a:rPr lang="ko-KR" altLang="en-US" sz="160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형태</a:t>
            </a:r>
            <a:r>
              <a:rPr lang="en-US" altLang="ko-KR" sz="160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)</a:t>
            </a:r>
            <a:endParaRPr lang="ko-KR" altLang="en-US" sz="1600">
              <a:solidFill>
                <a:srgbClr val="FF000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Arial" panose="020B0604020202020204" pitchFamily="34" charset="0"/>
            </a:endParaRPr>
          </a:p>
        </p:txBody>
      </p:sp>
      <p:sp>
        <p:nvSpPr>
          <p:cNvPr id="32" name="내용 개체 틀 2">
            <a:extLst>
              <a:ext uri="{FF2B5EF4-FFF2-40B4-BE49-F238E27FC236}">
                <a16:creationId xmlns:a16="http://schemas.microsoft.com/office/drawing/2014/main" id="{29D2BD65-71B5-40E5-A004-7717E1AE5ED1}"/>
              </a:ext>
            </a:extLst>
          </p:cNvPr>
          <p:cNvSpPr txBox="1">
            <a:spLocks/>
          </p:cNvSpPr>
          <p:nvPr/>
        </p:nvSpPr>
        <p:spPr>
          <a:xfrm>
            <a:off x="3052188" y="4710674"/>
            <a:ext cx="7959156" cy="8545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18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기준 </a:t>
            </a:r>
            <a:r>
              <a:rPr lang="en-US" altLang="ko-KR" sz="18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1)</a:t>
            </a:r>
            <a:r>
              <a:rPr lang="ko-KR" altLang="en-US" sz="18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 </a:t>
            </a:r>
            <a:r>
              <a:rPr lang="en-US" altLang="ko-KR" sz="18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X</a:t>
            </a:r>
            <a:r>
              <a:rPr lang="ko-KR" altLang="en-US" sz="18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와 </a:t>
            </a:r>
            <a:r>
              <a:rPr lang="en-US" altLang="ko-KR" sz="18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w </a:t>
            </a:r>
            <a:r>
              <a:rPr lang="ko-KR" altLang="en-US" sz="18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의 선형결합인 </a:t>
            </a:r>
            <a:r>
              <a:rPr lang="en-US" altLang="ko-KR" sz="18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t</a:t>
            </a:r>
            <a:r>
              <a:rPr lang="ko-KR" altLang="en-US" sz="18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의 분산을 최대화하는 축을 찾는다</a:t>
            </a:r>
            <a:endParaRPr lang="en-US" altLang="ko-KR" sz="1800">
              <a:latin typeface="Noto Sans KR" panose="020B0200000000000000" pitchFamily="50" charset="-127"/>
              <a:ea typeface="Noto Sans KR" panose="020B0200000000000000" pitchFamily="50" charset="-127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ko-KR" altLang="en-US" sz="18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기준 </a:t>
            </a:r>
            <a:r>
              <a:rPr lang="en-US" altLang="ko-KR" sz="18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2) </a:t>
            </a:r>
            <a:r>
              <a:rPr lang="ko-KR" altLang="en-US" sz="18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선형결합 </a:t>
            </a:r>
            <a:r>
              <a:rPr lang="en-US" altLang="ko-KR" sz="18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t</a:t>
            </a:r>
            <a:r>
              <a:rPr lang="ko-KR" altLang="en-US" sz="18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와 </a:t>
            </a:r>
            <a:r>
              <a:rPr lang="en-US" altLang="ko-KR" sz="18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Y</a:t>
            </a:r>
            <a:r>
              <a:rPr lang="ko-KR" altLang="en-US" sz="18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의 </a:t>
            </a:r>
            <a:r>
              <a:rPr lang="en-US" altLang="ko-KR" sz="18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correlation</a:t>
            </a:r>
            <a:r>
              <a:rPr lang="ko-KR" altLang="en-US" sz="18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도 최대화한다</a:t>
            </a:r>
          </a:p>
        </p:txBody>
      </p:sp>
    </p:spTree>
    <p:extLst>
      <p:ext uri="{BB962C8B-B14F-4D97-AF65-F5344CB8AC3E}">
        <p14:creationId xmlns:p14="http://schemas.microsoft.com/office/powerpoint/2010/main" val="13340940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415CE3D-03F6-4D09-9321-3D7FF3AF008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2B19318-762D-4FD0-A50B-207ABA46F30B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8B428AD-D08B-42BA-B289-D0DF1A1C81F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ko-KR" altLang="en-US">
                <a:ea typeface="Noto Sans KR" panose="020B0200000000000000" pitchFamily="50" charset="-127"/>
                <a:cs typeface="Arial" panose="020B0604020202020204" pitchFamily="34" charset="0"/>
              </a:rPr>
              <a:t>샘플 데이터 결과</a:t>
            </a:r>
            <a:r>
              <a:rPr lang="en-US" altLang="ko-KR">
                <a:cs typeface="Arial" panose="020B0604020202020204" pitchFamily="34" charset="0"/>
              </a:rPr>
              <a:t> </a:t>
            </a:r>
            <a:endParaRPr lang="ko-KR" altLang="en-US">
              <a:cs typeface="Arial" panose="020B0604020202020204" pitchFamily="34" charset="0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A9B8AF3-4FB1-4D41-BD6B-CBB401DE110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686B527-6459-4135-BE6D-D3190704AFA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2FC6C974-24DD-4A53-9CEC-41E5D8DF709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50061" y="426003"/>
            <a:ext cx="10161283" cy="443020"/>
          </a:xfrm>
        </p:spPr>
        <p:txBody>
          <a:bodyPr/>
          <a:lstStyle/>
          <a:p>
            <a:r>
              <a:rPr lang="en-US" altLang="ko-KR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2. Partial Least Squares Regression (</a:t>
            </a:r>
            <a:r>
              <a:rPr lang="ko-KR" altLang="en-US" err="1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부분최소제곱법</a:t>
            </a:r>
            <a:r>
              <a:rPr lang="en-US" altLang="ko-KR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)</a:t>
            </a:r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  <a:cs typeface="Arial" panose="020B0604020202020204" pitchFamily="34" charset="0"/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D3E0EDE-2E24-49F7-9FD2-6E26E5B9BAD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0459354" y="71451"/>
            <a:ext cx="1814291" cy="249238"/>
          </a:xfrm>
        </p:spPr>
        <p:txBody>
          <a:bodyPr/>
          <a:lstStyle/>
          <a:p>
            <a:r>
              <a:rPr lang="en-US" altLang="ko-KR">
                <a:ea typeface="프리젠테이션 5 Medium" pitchFamily="2" charset="-127"/>
                <a:cs typeface="Arial" panose="020B0604020202020204" pitchFamily="34" charset="0"/>
              </a:rPr>
              <a:t>Biomarker</a:t>
            </a:r>
            <a:r>
              <a:rPr lang="ko-KR" altLang="en-US">
                <a:ea typeface="프리젠테이션 5 Medium" pitchFamily="2" charset="-127"/>
                <a:cs typeface="Arial" panose="020B0604020202020204" pitchFamily="34" charset="0"/>
              </a:rPr>
              <a:t> </a:t>
            </a:r>
            <a:r>
              <a:rPr lang="en-US" altLang="ko-KR">
                <a:ea typeface="프리젠테이션 5 Medium" pitchFamily="2" charset="-127"/>
                <a:cs typeface="Arial" panose="020B0604020202020204" pitchFamily="34" charset="0"/>
              </a:rPr>
              <a:t>Analysis</a:t>
            </a:r>
            <a:endParaRPr lang="ko-KR" altLang="en-US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520D3A65-1146-4CEF-9EAB-A72C53CBF77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D1590CB3-04AB-41F4-8980-BF850BE9A28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5D449AB-05F6-438C-8F0C-83513575F724}"/>
              </a:ext>
            </a:extLst>
          </p:cNvPr>
          <p:cNvSpPr/>
          <p:nvPr/>
        </p:nvSpPr>
        <p:spPr>
          <a:xfrm>
            <a:off x="1427228" y="5843254"/>
            <a:ext cx="968453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1600" b="1" dirty="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결과 해석</a:t>
            </a:r>
            <a:r>
              <a:rPr lang="en-US" altLang="ko-KR" sz="1600" b="1" dirty="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: </a:t>
            </a:r>
            <a:r>
              <a:rPr lang="ko-KR" altLang="en-US" sz="1600" b="1" dirty="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택시 요금</a:t>
            </a:r>
            <a:r>
              <a:rPr lang="en-US" altLang="ko-KR" sz="1600" b="1" dirty="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(Fare)</a:t>
            </a:r>
            <a:r>
              <a:rPr lang="ko-KR" altLang="en-US" sz="1600" b="1" dirty="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과 </a:t>
            </a:r>
            <a:r>
              <a:rPr lang="en-US" altLang="ko-KR" sz="1600" b="1" dirty="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distance, tolls, tip </a:t>
            </a:r>
            <a:r>
              <a:rPr lang="ko-KR" altLang="en-US" sz="1600" b="1" dirty="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순서대로 밀접하게 연결됨</a:t>
            </a:r>
            <a:endParaRPr lang="en-US" altLang="ko-KR" sz="1600" b="1" dirty="0">
              <a:latin typeface="Noto Sans KR" panose="020B0200000000000000" pitchFamily="50" charset="-127"/>
              <a:ea typeface="Noto Sans KR" panose="020B0200000000000000" pitchFamily="50" charset="-127"/>
              <a:cs typeface="Arial" panose="020B0604020202020204" pitchFamily="34" charset="0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4A21BBCC-BE43-4EE9-AF00-B6914C5B56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3572" y="1599402"/>
            <a:ext cx="5563376" cy="194337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1" name="직사각형 20">
            <a:extLst>
              <a:ext uri="{FF2B5EF4-FFF2-40B4-BE49-F238E27FC236}">
                <a16:creationId xmlns:a16="http://schemas.microsoft.com/office/drawing/2014/main" id="{22122DB5-42C7-4694-AA9A-9EF81B8D722A}"/>
              </a:ext>
            </a:extLst>
          </p:cNvPr>
          <p:cNvSpPr/>
          <p:nvPr/>
        </p:nvSpPr>
        <p:spPr>
          <a:xfrm>
            <a:off x="6830417" y="2257677"/>
            <a:ext cx="4536082" cy="787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Fare</a:t>
            </a:r>
            <a:r>
              <a:rPr lang="ko-KR" altLang="en-US" sz="160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에 영향을 주는 변수들의 가중치로 절댓값 값이 클수록 영향이 큼 </a:t>
            </a:r>
            <a:endParaRPr lang="en-US" altLang="ko-KR" sz="1600">
              <a:solidFill>
                <a:srgbClr val="FF000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Arial" panose="020B0604020202020204" pitchFamily="34" charset="0"/>
            </a:endParaRPr>
          </a:p>
        </p:txBody>
      </p:sp>
      <p:sp>
        <p:nvSpPr>
          <p:cNvPr id="23" name="내용 개체 틀 2">
            <a:extLst>
              <a:ext uri="{FF2B5EF4-FFF2-40B4-BE49-F238E27FC236}">
                <a16:creationId xmlns:a16="http://schemas.microsoft.com/office/drawing/2014/main" id="{231C6F3F-DE24-4C27-BDA7-4A4AFC439E6B}"/>
              </a:ext>
            </a:extLst>
          </p:cNvPr>
          <p:cNvSpPr txBox="1">
            <a:spLocks/>
          </p:cNvSpPr>
          <p:nvPr/>
        </p:nvSpPr>
        <p:spPr>
          <a:xfrm>
            <a:off x="1011171" y="3785671"/>
            <a:ext cx="10756163" cy="14041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US" altLang="ko-KR" sz="1800" dirty="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Permutation</a:t>
            </a:r>
            <a:r>
              <a:rPr lang="ko-KR" altLang="en-US" sz="1800" dirty="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 </a:t>
            </a:r>
            <a:r>
              <a:rPr lang="en-US" altLang="ko-KR" sz="1800" dirty="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test</a:t>
            </a:r>
          </a:p>
          <a:p>
            <a:pPr>
              <a:buFontTx/>
              <a:buChar char="-"/>
            </a:pPr>
            <a:r>
              <a:rPr lang="en-US" altLang="ko-KR" sz="1800" dirty="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X, y</a:t>
            </a:r>
            <a:r>
              <a:rPr lang="ko-KR" altLang="en-US" sz="1800" dirty="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의 라벨을 섞어 무작위로 검정하면서 모델이 우연에서 발생하는지 확인</a:t>
            </a:r>
            <a:endParaRPr lang="en-US" altLang="ko-KR" sz="1800" dirty="0">
              <a:latin typeface="Noto Sans KR" panose="020B0200000000000000" pitchFamily="50" charset="-127"/>
              <a:ea typeface="Noto Sans KR" panose="020B0200000000000000" pitchFamily="50" charset="-127"/>
              <a:cs typeface="Arial" panose="020B0604020202020204" pitchFamily="34" charset="0"/>
            </a:endParaRPr>
          </a:p>
          <a:p>
            <a:pPr>
              <a:buFontTx/>
              <a:buChar char="-"/>
            </a:pPr>
            <a:r>
              <a:rPr lang="ko-KR" altLang="en-US" sz="1800" dirty="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마찬가지로 </a:t>
            </a:r>
            <a:r>
              <a:rPr lang="en-US" altLang="ko-KR" sz="1800" dirty="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p-value</a:t>
            </a:r>
            <a:r>
              <a:rPr lang="ko-KR" altLang="en-US" sz="1800" dirty="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가 </a:t>
            </a:r>
            <a:r>
              <a:rPr lang="en-US" altLang="ko-KR" sz="1800" dirty="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0.05 </a:t>
            </a:r>
            <a:r>
              <a:rPr lang="ko-KR" altLang="en-US" sz="1800" dirty="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이하면 우연히 발생한 결과 </a:t>
            </a:r>
            <a:r>
              <a:rPr lang="en-US" altLang="ko-KR" sz="1800" dirty="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x</a:t>
            </a:r>
            <a:endParaRPr lang="ko-KR" altLang="en-US" sz="1800" dirty="0">
              <a:latin typeface="Noto Sans KR" panose="020B0200000000000000" pitchFamily="50" charset="-127"/>
              <a:ea typeface="Noto Sans KR" panose="020B0200000000000000" pitchFamily="50" charset="-127"/>
              <a:cs typeface="Arial" panose="020B0604020202020204" pitchFamily="34" charset="0"/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349DE7E4-EC0B-4EE1-BE17-AEA8D8FEE66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27713"/>
          <a:stretch/>
        </p:blipFill>
        <p:spPr>
          <a:xfrm>
            <a:off x="1287050" y="5177970"/>
            <a:ext cx="3648744" cy="33855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4" name="직사각형 23">
            <a:extLst>
              <a:ext uri="{FF2B5EF4-FFF2-40B4-BE49-F238E27FC236}">
                <a16:creationId xmlns:a16="http://schemas.microsoft.com/office/drawing/2014/main" id="{AFAA516D-E20B-493A-AD6F-A47AFD223EF0}"/>
              </a:ext>
            </a:extLst>
          </p:cNvPr>
          <p:cNvSpPr/>
          <p:nvPr/>
        </p:nvSpPr>
        <p:spPr>
          <a:xfrm>
            <a:off x="1086998" y="990554"/>
            <a:ext cx="722671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i="1">
                <a:solidFill>
                  <a:srgbClr val="B3003F"/>
                </a:solidFill>
                <a:latin typeface="Consolas" panose="020B0609020204030204" pitchFamily="49" charset="0"/>
              </a:rPr>
              <a:t>from</a:t>
            </a:r>
            <a:r>
              <a:rPr lang="en-US" altLang="ko-KR">
                <a:solidFill>
                  <a:srgbClr val="141414"/>
                </a:solidFill>
                <a:latin typeface="Consolas" panose="020B0609020204030204" pitchFamily="49" charset="0"/>
              </a:rPr>
              <a:t> </a:t>
            </a:r>
            <a:r>
              <a:rPr lang="en-US" altLang="ko-KR" err="1">
                <a:solidFill>
                  <a:srgbClr val="206595"/>
                </a:solidFill>
                <a:latin typeface="Consolas" panose="020B0609020204030204" pitchFamily="49" charset="0"/>
              </a:rPr>
              <a:t>sklearn</a:t>
            </a:r>
            <a:r>
              <a:rPr lang="en-US" altLang="ko-KR" err="1">
                <a:solidFill>
                  <a:srgbClr val="141414"/>
                </a:solidFill>
                <a:latin typeface="Consolas" panose="020B0609020204030204" pitchFamily="49" charset="0"/>
              </a:rPr>
              <a:t>.</a:t>
            </a:r>
            <a:r>
              <a:rPr lang="en-US" altLang="ko-KR" err="1">
                <a:solidFill>
                  <a:srgbClr val="206595"/>
                </a:solidFill>
                <a:latin typeface="Consolas" panose="020B0609020204030204" pitchFamily="49" charset="0"/>
              </a:rPr>
              <a:t>cross_decomposition</a:t>
            </a:r>
            <a:r>
              <a:rPr lang="en-US" altLang="ko-KR">
                <a:solidFill>
                  <a:srgbClr val="141414"/>
                </a:solidFill>
                <a:latin typeface="Consolas" panose="020B0609020204030204" pitchFamily="49" charset="0"/>
              </a:rPr>
              <a:t> </a:t>
            </a:r>
            <a:r>
              <a:rPr lang="en-US" altLang="ko-KR" i="1">
                <a:solidFill>
                  <a:srgbClr val="B3003F"/>
                </a:solidFill>
                <a:latin typeface="Consolas" panose="020B0609020204030204" pitchFamily="49" charset="0"/>
              </a:rPr>
              <a:t>import</a:t>
            </a:r>
            <a:r>
              <a:rPr lang="en-US" altLang="ko-KR">
                <a:solidFill>
                  <a:srgbClr val="141414"/>
                </a:solidFill>
                <a:latin typeface="Consolas" panose="020B0609020204030204" pitchFamily="49" charset="0"/>
              </a:rPr>
              <a:t> </a:t>
            </a:r>
            <a:r>
              <a:rPr lang="en-US" altLang="ko-KR" err="1">
                <a:solidFill>
                  <a:srgbClr val="206595"/>
                </a:solidFill>
                <a:latin typeface="Consolas" panose="020B0609020204030204" pitchFamily="49" charset="0"/>
              </a:rPr>
              <a:t>PLSRegression</a:t>
            </a:r>
            <a:endParaRPr lang="en-US" altLang="ko-KR" b="0">
              <a:solidFill>
                <a:srgbClr val="14141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90086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415CE3D-03F6-4D09-9321-3D7FF3AF008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2B19318-762D-4FD0-A50B-207ABA46F30B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8B428AD-D08B-42BA-B289-D0DF1A1C81F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ko-KR" altLang="en-US">
                <a:ea typeface="Noto Sans KR" panose="020B0200000000000000" pitchFamily="50" charset="-127"/>
                <a:cs typeface="Arial" panose="020B0604020202020204" pitchFamily="34" charset="0"/>
              </a:rPr>
              <a:t>통계 분석 기법</a:t>
            </a:r>
          </a:p>
          <a:p>
            <a:r>
              <a:rPr lang="en-US" altLang="ko-KR">
                <a:cs typeface="Arial" panose="020B0604020202020204" pitchFamily="34" charset="0"/>
              </a:rPr>
              <a:t> </a:t>
            </a:r>
            <a:endParaRPr lang="ko-KR" altLang="en-US">
              <a:cs typeface="Arial" panose="020B0604020202020204" pitchFamily="34" charset="0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A9B8AF3-4FB1-4D41-BD6B-CBB401DE110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686B527-6459-4135-BE6D-D3190704AFA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2FC6C974-24DD-4A53-9CEC-41E5D8DF709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50062" y="426003"/>
            <a:ext cx="9996640" cy="443020"/>
          </a:xfrm>
        </p:spPr>
        <p:txBody>
          <a:bodyPr/>
          <a:lstStyle/>
          <a:p>
            <a:r>
              <a:rPr lang="en-US" altLang="ko-KR">
                <a:latin typeface="Microsoft YaHei" panose="020B0503020204020204" pitchFamily="34" charset="-122"/>
                <a:cs typeface="Arial" panose="020B0604020202020204" pitchFamily="34" charset="0"/>
              </a:rPr>
              <a:t>3. Canonical correlation analysis (</a:t>
            </a:r>
            <a:r>
              <a:rPr lang="ko-KR" altLang="en-US">
                <a:latin typeface="Microsoft YaHei" panose="020B0503020204020204" pitchFamily="34" charset="-122"/>
                <a:cs typeface="Arial" panose="020B0604020202020204" pitchFamily="34" charset="0"/>
              </a:rPr>
              <a:t>정준상관분석</a:t>
            </a:r>
            <a:r>
              <a:rPr lang="en-US" altLang="ko-KR">
                <a:latin typeface="Microsoft YaHei" panose="020B0503020204020204" pitchFamily="34" charset="-122"/>
                <a:cs typeface="Arial" panose="020B0604020202020204" pitchFamily="34" charset="0"/>
              </a:rPr>
              <a:t>)</a:t>
            </a:r>
            <a:endParaRPr lang="ko-KR" altLang="en-US">
              <a:latin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D3E0EDE-2E24-49F7-9FD2-6E26E5B9BAD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0459354" y="71451"/>
            <a:ext cx="1814291" cy="249238"/>
          </a:xfrm>
        </p:spPr>
        <p:txBody>
          <a:bodyPr/>
          <a:lstStyle/>
          <a:p>
            <a:r>
              <a:rPr lang="en-US" altLang="ko-KR">
                <a:ea typeface="프리젠테이션 5 Medium" pitchFamily="2" charset="-127"/>
                <a:cs typeface="Arial" panose="020B0604020202020204" pitchFamily="34" charset="0"/>
              </a:rPr>
              <a:t>Biomarker</a:t>
            </a:r>
            <a:r>
              <a:rPr lang="ko-KR" altLang="en-US">
                <a:ea typeface="프리젠테이션 5 Medium" pitchFamily="2" charset="-127"/>
                <a:cs typeface="Arial" panose="020B0604020202020204" pitchFamily="34" charset="0"/>
              </a:rPr>
              <a:t> </a:t>
            </a:r>
            <a:r>
              <a:rPr lang="en-US" altLang="ko-KR">
                <a:ea typeface="프리젠테이션 5 Medium" pitchFamily="2" charset="-127"/>
                <a:cs typeface="Arial" panose="020B0604020202020204" pitchFamily="34" charset="0"/>
              </a:rPr>
              <a:t>Analysis</a:t>
            </a:r>
            <a:endParaRPr lang="ko-KR" altLang="en-US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520D3A65-1146-4CEF-9EAB-A72C53CBF77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D1590CB3-04AB-41F4-8980-BF850BE9A28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774484E-E908-4420-B305-0F8652B646DD}"/>
              </a:ext>
            </a:extLst>
          </p:cNvPr>
          <p:cNvSpPr/>
          <p:nvPr/>
        </p:nvSpPr>
        <p:spPr>
          <a:xfrm>
            <a:off x="1553331" y="5775061"/>
            <a:ext cx="9520238" cy="59111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필요한 이유</a:t>
            </a:r>
            <a:r>
              <a:rPr lang="en-US" altLang="ko-KR" sz="16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6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두 집단이 함께 변하는 핵심 패턴을 추출함으로써</a:t>
            </a:r>
            <a:r>
              <a:rPr lang="en-US" altLang="ko-KR" sz="16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</a:p>
          <a:p>
            <a:pPr algn="ctr"/>
            <a:r>
              <a:rPr lang="ko-KR" altLang="en-US" sz="16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단순 </a:t>
            </a:r>
            <a:r>
              <a:rPr lang="en-US" altLang="ko-KR" sz="16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correlation </a:t>
            </a:r>
            <a:r>
              <a:rPr lang="ko-KR" altLang="en-US" sz="16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분석으로는 보지 못하는 두 집단의 상관관계를 파악할 수 있음</a:t>
            </a:r>
            <a:r>
              <a:rPr lang="en-US" altLang="ko-KR" sz="16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endParaRPr lang="ko-KR" altLang="en-US" sz="160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2" name="내용 개체 틀 2">
            <a:extLst>
              <a:ext uri="{FF2B5EF4-FFF2-40B4-BE49-F238E27FC236}">
                <a16:creationId xmlns:a16="http://schemas.microsoft.com/office/drawing/2014/main" id="{29D2BD65-71B5-40E5-A004-7717E1AE5ED1}"/>
              </a:ext>
            </a:extLst>
          </p:cNvPr>
          <p:cNvSpPr txBox="1">
            <a:spLocks/>
          </p:cNvSpPr>
          <p:nvPr/>
        </p:nvSpPr>
        <p:spPr>
          <a:xfrm>
            <a:off x="950062" y="1062851"/>
            <a:ext cx="10317703" cy="85456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ko-KR" altLang="en-US" sz="18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두 변수 집단 </a:t>
            </a:r>
            <a:r>
              <a:rPr lang="en-US" altLang="ko-KR" sz="18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(X, Y)</a:t>
            </a:r>
            <a:r>
              <a:rPr lang="ko-KR" altLang="en-US" sz="18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가 서로 가장 강하게 함께 변하는 선형 조합</a:t>
            </a:r>
            <a:r>
              <a:rPr lang="en-US" altLang="ko-KR" sz="18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(</a:t>
            </a:r>
            <a:r>
              <a:rPr lang="ko-KR" altLang="en-US" sz="18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공통 축</a:t>
            </a:r>
            <a:r>
              <a:rPr lang="en-US" altLang="ko-KR" sz="18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)</a:t>
            </a:r>
            <a:r>
              <a:rPr lang="ko-KR" altLang="en-US" sz="18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을 찾는 분석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ko-KR" altLang="en-US" sz="18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두 집단 사이의 관계 구조를 드러내고 해석하는 것이 핵심 목적</a:t>
            </a: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FA2448DC-AABA-430B-9E8B-02827AD4A0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885" y="2418452"/>
            <a:ext cx="4958062" cy="2679464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80078C96-0FA9-468E-BB84-584A77EC2C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9328" y="4243678"/>
            <a:ext cx="4410691" cy="981212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9BBF3452-A889-480D-B54D-799481867C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9328" y="2418452"/>
            <a:ext cx="4177374" cy="671364"/>
          </a:xfrm>
          <a:prstGeom prst="rect">
            <a:avLst/>
          </a:prstGeom>
        </p:spPr>
      </p:pic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1621F22F-0315-4A22-9257-57625232CCEC}"/>
              </a:ext>
            </a:extLst>
          </p:cNvPr>
          <p:cNvCxnSpPr>
            <a:cxnSpLocks/>
          </p:cNvCxnSpPr>
          <p:nvPr/>
        </p:nvCxnSpPr>
        <p:spPr>
          <a:xfrm>
            <a:off x="5916605" y="2190750"/>
            <a:ext cx="0" cy="339090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내용 개체 틀 2">
            <a:extLst>
              <a:ext uri="{FF2B5EF4-FFF2-40B4-BE49-F238E27FC236}">
                <a16:creationId xmlns:a16="http://schemas.microsoft.com/office/drawing/2014/main" id="{F0B27EC3-FE38-41FE-A08D-F1D5B4F25B28}"/>
              </a:ext>
            </a:extLst>
          </p:cNvPr>
          <p:cNvSpPr txBox="1">
            <a:spLocks/>
          </p:cNvSpPr>
          <p:nvPr/>
        </p:nvSpPr>
        <p:spPr>
          <a:xfrm>
            <a:off x="6918986" y="2045579"/>
            <a:ext cx="4971911" cy="8642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600">
                <a:solidFill>
                  <a:srgbClr val="FF0000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Correlation between </a:t>
            </a:r>
            <a:r>
              <a:rPr lang="en-US" altLang="ko-KR" sz="1600" err="1">
                <a:solidFill>
                  <a:srgbClr val="FF0000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XTwx</a:t>
            </a:r>
            <a:r>
              <a:rPr lang="en-US" altLang="ko-KR" sz="1600">
                <a:solidFill>
                  <a:srgbClr val="FF0000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, </a:t>
            </a:r>
            <a:r>
              <a:rPr lang="en-US" altLang="ko-KR" sz="1600" err="1">
                <a:solidFill>
                  <a:srgbClr val="FF0000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YTwy</a:t>
            </a:r>
            <a:endParaRPr lang="en-US" altLang="ko-KR" sz="1600">
              <a:solidFill>
                <a:srgbClr val="FF0000"/>
              </a:solidFill>
              <a:latin typeface="Microsoft YaHei" panose="020B0503020204020204" pitchFamily="34" charset="-122"/>
              <a:ea typeface="Noto Sans KR" panose="020B0200000000000000" pitchFamily="50" charset="-127"/>
              <a:cs typeface="Arial" panose="020B0604020202020204" pitchFamily="34" charset="0"/>
            </a:endParaRPr>
          </a:p>
        </p:txBody>
      </p:sp>
      <p:sp>
        <p:nvSpPr>
          <p:cNvPr id="33" name="내용 개체 틀 2">
            <a:extLst>
              <a:ext uri="{FF2B5EF4-FFF2-40B4-BE49-F238E27FC236}">
                <a16:creationId xmlns:a16="http://schemas.microsoft.com/office/drawing/2014/main" id="{0A1BC256-C6AD-4AA3-BD0F-BA45B5170D5F}"/>
              </a:ext>
            </a:extLst>
          </p:cNvPr>
          <p:cNvSpPr txBox="1">
            <a:spLocks/>
          </p:cNvSpPr>
          <p:nvPr/>
        </p:nvSpPr>
        <p:spPr>
          <a:xfrm>
            <a:off x="6835731" y="3553867"/>
            <a:ext cx="4277884" cy="66939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600" err="1">
                <a:solidFill>
                  <a:srgbClr val="FF0000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Wx</a:t>
            </a:r>
            <a:r>
              <a:rPr lang="en-US" altLang="ko-KR" sz="1600">
                <a:solidFill>
                  <a:srgbClr val="FF0000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, </a:t>
            </a:r>
            <a:r>
              <a:rPr lang="en-US" altLang="ko-KR" sz="1600" err="1">
                <a:solidFill>
                  <a:srgbClr val="FF0000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wy</a:t>
            </a:r>
            <a:r>
              <a:rPr lang="ko-KR" altLang="en-US" sz="1600">
                <a:solidFill>
                  <a:srgbClr val="FF0000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의 </a:t>
            </a:r>
            <a:r>
              <a:rPr lang="en-US" altLang="ko-KR" sz="1600">
                <a:solidFill>
                  <a:srgbClr val="FF0000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scale</a:t>
            </a:r>
            <a:r>
              <a:rPr lang="ko-KR" altLang="en-US" sz="1600">
                <a:solidFill>
                  <a:srgbClr val="FF0000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에 영향을 받지 않으므로 </a:t>
            </a:r>
            <a:endParaRPr lang="en-US" altLang="ko-KR" sz="1600">
              <a:solidFill>
                <a:srgbClr val="FF0000"/>
              </a:solidFill>
              <a:latin typeface="Microsoft YaHei" panose="020B0503020204020204" pitchFamily="34" charset="-122"/>
              <a:ea typeface="Noto Sans KR" panose="020B0200000000000000" pitchFamily="50" charset="-127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ko-KR" altLang="en-US" sz="1600">
                <a:solidFill>
                  <a:srgbClr val="FF0000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같은 식이지만 다르게 표현 </a:t>
            </a:r>
            <a:endParaRPr lang="en-US" altLang="ko-KR" sz="1600">
              <a:solidFill>
                <a:srgbClr val="FF0000"/>
              </a:solidFill>
              <a:latin typeface="Microsoft YaHei" panose="020B0503020204020204" pitchFamily="34" charset="-122"/>
              <a:ea typeface="Noto Sans KR" panose="020B0200000000000000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30503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415CE3D-03F6-4D09-9321-3D7FF3AF008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2B19318-762D-4FD0-A50B-207ABA46F30B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8B428AD-D08B-42BA-B289-D0DF1A1C81F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ko-KR" altLang="en-US">
                <a:ea typeface="Noto Sans KR" panose="020B0200000000000000" pitchFamily="50" charset="-127"/>
                <a:cs typeface="Arial" panose="020B0604020202020204" pitchFamily="34" charset="0"/>
              </a:rPr>
              <a:t>샘플 데이터 결과</a:t>
            </a:r>
            <a:r>
              <a:rPr lang="en-US" altLang="ko-KR">
                <a:cs typeface="Arial" panose="020B0604020202020204" pitchFamily="34" charset="0"/>
              </a:rPr>
              <a:t> </a:t>
            </a:r>
            <a:endParaRPr lang="ko-KR" altLang="en-US">
              <a:cs typeface="Arial" panose="020B0604020202020204" pitchFamily="34" charset="0"/>
            </a:endParaRPr>
          </a:p>
          <a:p>
            <a:r>
              <a:rPr lang="en-US" altLang="ko-KR">
                <a:cs typeface="Arial" panose="020B0604020202020204" pitchFamily="34" charset="0"/>
              </a:rPr>
              <a:t> </a:t>
            </a:r>
            <a:endParaRPr lang="ko-KR" altLang="en-US">
              <a:cs typeface="Arial" panose="020B0604020202020204" pitchFamily="34" charset="0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A9B8AF3-4FB1-4D41-BD6B-CBB401DE110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686B527-6459-4135-BE6D-D3190704AFA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2FC6C974-24DD-4A53-9CEC-41E5D8DF709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50062" y="426003"/>
            <a:ext cx="9996640" cy="443020"/>
          </a:xfrm>
        </p:spPr>
        <p:txBody>
          <a:bodyPr/>
          <a:lstStyle/>
          <a:p>
            <a:r>
              <a:rPr lang="en-US" altLang="ko-KR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3. Canonical correlation analysis (</a:t>
            </a:r>
            <a:r>
              <a:rPr lang="ko-KR" altLang="en-US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정준상관분석</a:t>
            </a:r>
            <a:r>
              <a:rPr lang="en-US" altLang="ko-KR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)</a:t>
            </a:r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  <a:cs typeface="Arial" panose="020B0604020202020204" pitchFamily="34" charset="0"/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D3E0EDE-2E24-49F7-9FD2-6E26E5B9BAD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0459354" y="71451"/>
            <a:ext cx="1814291" cy="249238"/>
          </a:xfrm>
        </p:spPr>
        <p:txBody>
          <a:bodyPr/>
          <a:lstStyle/>
          <a:p>
            <a:r>
              <a:rPr lang="en-US" altLang="ko-KR">
                <a:ea typeface="프리젠테이션 5 Medium" pitchFamily="2" charset="-127"/>
                <a:cs typeface="Arial" panose="020B0604020202020204" pitchFamily="34" charset="0"/>
              </a:rPr>
              <a:t>Biomarker</a:t>
            </a:r>
            <a:r>
              <a:rPr lang="ko-KR" altLang="en-US">
                <a:ea typeface="프리젠테이션 5 Medium" pitchFamily="2" charset="-127"/>
                <a:cs typeface="Arial" panose="020B0604020202020204" pitchFamily="34" charset="0"/>
              </a:rPr>
              <a:t> </a:t>
            </a:r>
            <a:r>
              <a:rPr lang="en-US" altLang="ko-KR">
                <a:ea typeface="프리젠테이션 5 Medium" pitchFamily="2" charset="-127"/>
                <a:cs typeface="Arial" panose="020B0604020202020204" pitchFamily="34" charset="0"/>
              </a:rPr>
              <a:t>Analysis</a:t>
            </a:r>
            <a:endParaRPr lang="ko-KR" altLang="en-US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520D3A65-1146-4CEF-9EAB-A72C53CBF77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D1590CB3-04AB-41F4-8980-BF850BE9A28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F200DEB-7A60-482E-B61A-AF29CD8ED077}"/>
              </a:ext>
            </a:extLst>
          </p:cNvPr>
          <p:cNvSpPr/>
          <p:nvPr/>
        </p:nvSpPr>
        <p:spPr>
          <a:xfrm>
            <a:off x="949926" y="1146455"/>
            <a:ext cx="500970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600" i="1">
                <a:solidFill>
                  <a:srgbClr val="B3003F"/>
                </a:solidFill>
                <a:latin typeface="Consolas" panose="020B0609020204030204" pitchFamily="49" charset="0"/>
              </a:rPr>
              <a:t>from</a:t>
            </a:r>
            <a:r>
              <a:rPr lang="en-US" altLang="ko-KR" sz="1600">
                <a:solidFill>
                  <a:srgbClr val="141414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err="1">
                <a:solidFill>
                  <a:srgbClr val="206595"/>
                </a:solidFill>
                <a:latin typeface="Consolas" panose="020B0609020204030204" pitchFamily="49" charset="0"/>
              </a:rPr>
              <a:t>sklearn</a:t>
            </a:r>
            <a:r>
              <a:rPr lang="en-US" altLang="ko-KR" sz="1600" err="1">
                <a:solidFill>
                  <a:srgbClr val="141414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600" err="1">
                <a:solidFill>
                  <a:srgbClr val="206595"/>
                </a:solidFill>
                <a:latin typeface="Consolas" panose="020B0609020204030204" pitchFamily="49" charset="0"/>
              </a:rPr>
              <a:t>cross_decomposition</a:t>
            </a:r>
            <a:r>
              <a:rPr lang="en-US" altLang="ko-KR" sz="1600">
                <a:solidFill>
                  <a:srgbClr val="141414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i="1">
                <a:solidFill>
                  <a:srgbClr val="B3003F"/>
                </a:solidFill>
                <a:latin typeface="Consolas" panose="020B0609020204030204" pitchFamily="49" charset="0"/>
              </a:rPr>
              <a:t>import</a:t>
            </a:r>
            <a:r>
              <a:rPr lang="en-US" altLang="ko-KR" sz="1600">
                <a:solidFill>
                  <a:srgbClr val="141414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>
                <a:solidFill>
                  <a:srgbClr val="206595"/>
                </a:solidFill>
                <a:latin typeface="Consolas" panose="020B0609020204030204" pitchFamily="49" charset="0"/>
              </a:rPr>
              <a:t>CCA</a:t>
            </a:r>
            <a:endParaRPr lang="en-US" altLang="ko-KR" sz="1600" b="0">
              <a:solidFill>
                <a:srgbClr val="141414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E0B31A7-212D-41C9-BEFA-BE651A76BD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926" y="3029974"/>
            <a:ext cx="3055098" cy="29805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122BC5D7-82E9-4071-9F7F-E0C6FBA58EF6}"/>
              </a:ext>
            </a:extLst>
          </p:cNvPr>
          <p:cNvSpPr txBox="1">
            <a:spLocks/>
          </p:cNvSpPr>
          <p:nvPr/>
        </p:nvSpPr>
        <p:spPr>
          <a:xfrm>
            <a:off x="832734" y="1694789"/>
            <a:ext cx="10956144" cy="128438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US" altLang="ko-KR" sz="18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Finding the best n components</a:t>
            </a:r>
          </a:p>
          <a:p>
            <a:pPr>
              <a:buFontTx/>
              <a:buChar char="-"/>
            </a:pPr>
            <a:r>
              <a:rPr lang="en-US" altLang="ko-KR" sz="18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Components</a:t>
            </a:r>
            <a:r>
              <a:rPr lang="ko-KR" altLang="en-US" sz="18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는 겹치지 않는 방향으로 만들어진 여러 개의 </a:t>
            </a:r>
            <a:r>
              <a:rPr lang="en-US" altLang="ko-KR" sz="18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u, v(</a:t>
            </a:r>
            <a:r>
              <a:rPr lang="ko-KR" altLang="en-US" sz="18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데이터에 최적의 가중치를 곱한 결과</a:t>
            </a:r>
            <a:r>
              <a:rPr lang="en-US" altLang="ko-KR" sz="18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) </a:t>
            </a:r>
            <a:r>
              <a:rPr lang="ko-KR" altLang="en-US" sz="18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쌍을 의미함</a:t>
            </a:r>
            <a:endParaRPr lang="en-US" altLang="ko-KR" sz="1800">
              <a:latin typeface="Noto Sans KR" panose="020B0200000000000000" pitchFamily="50" charset="-127"/>
              <a:ea typeface="Noto Sans KR" panose="020B0200000000000000" pitchFamily="50" charset="-127"/>
              <a:cs typeface="Arial" panose="020B0604020202020204" pitchFamily="34" charset="0"/>
            </a:endParaRPr>
          </a:p>
          <a:p>
            <a:pPr>
              <a:buFontTx/>
              <a:buChar char="-"/>
            </a:pPr>
            <a:r>
              <a:rPr lang="ko-KR" altLang="en-US" sz="18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최적의 </a:t>
            </a:r>
            <a:r>
              <a:rPr lang="en-US" altLang="ko-KR" sz="18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n components</a:t>
            </a:r>
            <a:r>
              <a:rPr lang="ko-KR" altLang="en-US" sz="18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는 다음 </a:t>
            </a:r>
            <a:r>
              <a:rPr lang="en-US" altLang="ko-KR" sz="18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component</a:t>
            </a:r>
            <a:r>
              <a:rPr lang="ko-KR" altLang="en-US" sz="18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로 넘어갈 때 상관이 </a:t>
            </a:r>
            <a:r>
              <a:rPr lang="en-US" altLang="ko-KR" sz="18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0.01</a:t>
            </a:r>
            <a:r>
              <a:rPr lang="ko-KR" altLang="en-US" sz="18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이상 급락하는 지점 </a:t>
            </a:r>
          </a:p>
        </p:txBody>
      </p:sp>
      <p:sp>
        <p:nvSpPr>
          <p:cNvPr id="25" name="내용 개체 틀 2">
            <a:extLst>
              <a:ext uri="{FF2B5EF4-FFF2-40B4-BE49-F238E27FC236}">
                <a16:creationId xmlns:a16="http://schemas.microsoft.com/office/drawing/2014/main" id="{DE4C1371-1BB3-4050-B872-D9C9B6D584AB}"/>
              </a:ext>
            </a:extLst>
          </p:cNvPr>
          <p:cNvSpPr txBox="1">
            <a:spLocks/>
          </p:cNvSpPr>
          <p:nvPr/>
        </p:nvSpPr>
        <p:spPr>
          <a:xfrm>
            <a:off x="842566" y="3911269"/>
            <a:ext cx="10956144" cy="4886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ko-KR" altLang="en-US" sz="18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마찬가지로 </a:t>
            </a:r>
            <a:r>
              <a:rPr lang="en-US" altLang="ko-KR" sz="18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permutation test </a:t>
            </a:r>
            <a:r>
              <a:rPr lang="ko-KR" altLang="en-US" sz="18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진행 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682B65C2-C5C7-440E-AFDA-9A01CAD0D0F1}"/>
              </a:ext>
            </a:extLst>
          </p:cNvPr>
          <p:cNvSpPr/>
          <p:nvPr/>
        </p:nvSpPr>
        <p:spPr>
          <a:xfrm>
            <a:off x="1011170" y="5333969"/>
            <a:ext cx="4536082" cy="700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X=</a:t>
            </a:r>
            <a:r>
              <a:rPr lang="en-US" altLang="ko-KR" sz="140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['</a:t>
            </a:r>
            <a:r>
              <a:rPr lang="en-US" altLang="ko-KR" sz="1400" err="1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distance','tolls</a:t>
            </a:r>
            <a:r>
              <a:rPr lang="en-US" altLang="ko-KR" sz="140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’], Z = ['fare', 'tip’]</a:t>
            </a:r>
            <a:r>
              <a:rPr lang="ko-KR" altLang="en-US" sz="140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</a:t>
            </a:r>
            <a:r>
              <a:rPr lang="en-US" altLang="ko-KR" sz="140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40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분석하였을 때</a:t>
            </a:r>
            <a:endParaRPr lang="en-US" altLang="ko-KR" sz="1400">
              <a:solidFill>
                <a:srgbClr val="FF000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140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0.9207 </a:t>
            </a:r>
            <a:r>
              <a:rPr lang="ko-KR" altLang="en-US" sz="140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의 양의 상관관계를 가짐</a:t>
            </a:r>
            <a:r>
              <a:rPr lang="en-US" altLang="ko-KR" sz="140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(p=0.00)</a:t>
            </a:r>
            <a:endParaRPr lang="en-US" altLang="ko-KR" sz="1600">
              <a:solidFill>
                <a:srgbClr val="FF000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Arial" panose="020B0604020202020204" pitchFamily="34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37622A03-FC62-4D41-A409-FD61A55BA3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926" y="4410189"/>
            <a:ext cx="3134162" cy="84784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D4775A8E-6A57-42EF-A5E5-9A0050F862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3407" y="4159125"/>
            <a:ext cx="2172003" cy="223868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8" name="직사각형 27">
            <a:extLst>
              <a:ext uri="{FF2B5EF4-FFF2-40B4-BE49-F238E27FC236}">
                <a16:creationId xmlns:a16="http://schemas.microsoft.com/office/drawing/2014/main" id="{6B31305B-56A6-4476-A5B4-A25262243AE5}"/>
              </a:ext>
            </a:extLst>
          </p:cNvPr>
          <p:cNvSpPr/>
          <p:nvPr/>
        </p:nvSpPr>
        <p:spPr>
          <a:xfrm>
            <a:off x="7845846" y="4896669"/>
            <a:ext cx="4536082" cy="787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b="1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결과 해석 </a:t>
            </a:r>
            <a:r>
              <a:rPr lang="en-US" altLang="ko-KR" sz="1600" b="1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: Distance</a:t>
            </a:r>
            <a:r>
              <a:rPr lang="ko-KR" altLang="en-US" sz="1600" b="1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가 큰 관측치일수록 </a:t>
            </a:r>
            <a:r>
              <a:rPr lang="en-US" altLang="ko-KR" sz="1600" b="1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fare</a:t>
            </a:r>
            <a:r>
              <a:rPr lang="ko-KR" altLang="en-US" sz="1600" b="1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도 </a:t>
            </a:r>
            <a:endParaRPr lang="en-US" altLang="ko-KR" sz="1600" b="1">
              <a:latin typeface="Noto Sans KR" panose="020B0200000000000000" pitchFamily="50" charset="-127"/>
              <a:ea typeface="Noto Sans KR" panose="020B0200000000000000" pitchFamily="50" charset="-127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ko-KR" altLang="en-US" sz="1600" b="1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함께 커지는 관계가 관측됨</a:t>
            </a:r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380514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415CE3D-03F6-4D09-9321-3D7FF3AF008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2B19318-762D-4FD0-A50B-207ABA46F30B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8B428AD-D08B-42BA-B289-D0DF1A1C81F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ko-KR" altLang="en-US">
                <a:ea typeface="Noto Sans KR" panose="020B0200000000000000" pitchFamily="50" charset="-127"/>
                <a:cs typeface="Arial" panose="020B0604020202020204" pitchFamily="34" charset="0"/>
              </a:rPr>
              <a:t>통계 분석 기법</a:t>
            </a:r>
          </a:p>
          <a:p>
            <a:r>
              <a:rPr lang="en-US" altLang="ko-KR">
                <a:cs typeface="Arial" panose="020B0604020202020204" pitchFamily="34" charset="0"/>
              </a:rPr>
              <a:t> </a:t>
            </a:r>
            <a:endParaRPr lang="ko-KR" altLang="en-US">
              <a:cs typeface="Arial" panose="020B0604020202020204" pitchFamily="34" charset="0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A9B8AF3-4FB1-4D41-BD6B-CBB401DE110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686B527-6459-4135-BE6D-D3190704AFA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2FC6C974-24DD-4A53-9CEC-41E5D8DF709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50062" y="426003"/>
            <a:ext cx="9996640" cy="443020"/>
          </a:xfrm>
        </p:spPr>
        <p:txBody>
          <a:bodyPr/>
          <a:lstStyle/>
          <a:p>
            <a:r>
              <a:rPr lang="en-US" altLang="ko-KR">
                <a:latin typeface="Microsoft YaHei" panose="020B0503020204020204" pitchFamily="34" charset="-122"/>
                <a:cs typeface="Arial" panose="020B0604020202020204" pitchFamily="34" charset="0"/>
              </a:rPr>
              <a:t>4. Sparse canonical correlation analysis (</a:t>
            </a:r>
            <a:r>
              <a:rPr lang="en-US" altLang="ko-KR" err="1">
                <a:latin typeface="Microsoft YaHei" panose="020B0503020204020204" pitchFamily="34" charset="-122"/>
                <a:cs typeface="Arial" panose="020B0604020202020204" pitchFamily="34" charset="0"/>
              </a:rPr>
              <a:t>sCCA</a:t>
            </a:r>
            <a:r>
              <a:rPr lang="en-US" altLang="ko-KR">
                <a:latin typeface="Microsoft YaHei" panose="020B0503020204020204" pitchFamily="34" charset="-122"/>
                <a:cs typeface="Arial" panose="020B0604020202020204" pitchFamily="34" charset="0"/>
              </a:rPr>
              <a:t>)</a:t>
            </a:r>
            <a:endParaRPr lang="ko-KR" altLang="en-US">
              <a:latin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D3E0EDE-2E24-49F7-9FD2-6E26E5B9BAD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0459354" y="71451"/>
            <a:ext cx="1814291" cy="249238"/>
          </a:xfrm>
        </p:spPr>
        <p:txBody>
          <a:bodyPr/>
          <a:lstStyle/>
          <a:p>
            <a:r>
              <a:rPr lang="en-US" altLang="ko-KR">
                <a:ea typeface="프리젠테이션 5 Medium" pitchFamily="2" charset="-127"/>
                <a:cs typeface="Arial" panose="020B0604020202020204" pitchFamily="34" charset="0"/>
              </a:rPr>
              <a:t>Biomarker</a:t>
            </a:r>
            <a:r>
              <a:rPr lang="ko-KR" altLang="en-US">
                <a:ea typeface="프리젠테이션 5 Medium" pitchFamily="2" charset="-127"/>
                <a:cs typeface="Arial" panose="020B0604020202020204" pitchFamily="34" charset="0"/>
              </a:rPr>
              <a:t> </a:t>
            </a:r>
            <a:r>
              <a:rPr lang="en-US" altLang="ko-KR">
                <a:ea typeface="프리젠테이션 5 Medium" pitchFamily="2" charset="-127"/>
                <a:cs typeface="Arial" panose="020B0604020202020204" pitchFamily="34" charset="0"/>
              </a:rPr>
              <a:t>Analysis</a:t>
            </a:r>
            <a:endParaRPr lang="ko-KR" altLang="en-US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520D3A65-1146-4CEF-9EAB-A72C53CBF77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D1590CB3-04AB-41F4-8980-BF850BE9A28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774484E-E908-4420-B305-0F8652B646DD}"/>
              </a:ext>
            </a:extLst>
          </p:cNvPr>
          <p:cNvSpPr/>
          <p:nvPr/>
        </p:nvSpPr>
        <p:spPr>
          <a:xfrm>
            <a:off x="2017895" y="5840884"/>
            <a:ext cx="8591109" cy="59111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필요한 이유</a:t>
            </a:r>
            <a:r>
              <a:rPr lang="en-US" altLang="ko-KR" sz="16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6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비교할 변수 쌍이 많은 상황에서</a:t>
            </a:r>
            <a:r>
              <a:rPr lang="en-US" altLang="ko-KR" sz="16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6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몇 개의 변수만 남겨 </a:t>
            </a:r>
            <a:r>
              <a:rPr lang="en-US" altLang="ko-KR" sz="16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CCA </a:t>
            </a:r>
            <a:r>
              <a:rPr lang="ko-KR" altLang="en-US" sz="16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해석을 가능하게 함</a:t>
            </a:r>
          </a:p>
        </p:txBody>
      </p:sp>
      <p:sp>
        <p:nvSpPr>
          <p:cNvPr id="32" name="내용 개체 틀 2">
            <a:extLst>
              <a:ext uri="{FF2B5EF4-FFF2-40B4-BE49-F238E27FC236}">
                <a16:creationId xmlns:a16="http://schemas.microsoft.com/office/drawing/2014/main" id="{29D2BD65-71B5-40E5-A004-7717E1AE5ED1}"/>
              </a:ext>
            </a:extLst>
          </p:cNvPr>
          <p:cNvSpPr txBox="1">
            <a:spLocks/>
          </p:cNvSpPr>
          <p:nvPr/>
        </p:nvSpPr>
        <p:spPr>
          <a:xfrm>
            <a:off x="950061" y="1062851"/>
            <a:ext cx="10922630" cy="14041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ko-KR" altLang="en-US" sz="1800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기존 </a:t>
            </a:r>
            <a:r>
              <a:rPr lang="en-US" altLang="ko-KR" sz="1800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CCA</a:t>
            </a:r>
            <a:r>
              <a:rPr lang="ko-KR" altLang="en-US" sz="1800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는 모든 변수가 조금씩 섞여 들어가 중요성이 명확하지 않음 </a:t>
            </a:r>
            <a:r>
              <a:rPr lang="en-US" altLang="ko-KR" sz="1800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– CCA</a:t>
            </a:r>
            <a:r>
              <a:rPr lang="ko-KR" altLang="en-US" sz="1800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의 </a:t>
            </a:r>
            <a:r>
              <a:rPr lang="en-US" altLang="ko-KR" sz="1800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dense</a:t>
            </a:r>
            <a:r>
              <a:rPr lang="ko-KR" altLang="en-US" sz="1800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 문제</a:t>
            </a:r>
            <a:r>
              <a:rPr lang="en-US" altLang="ko-KR" sz="1800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 </a:t>
            </a:r>
            <a:r>
              <a:rPr lang="ko-KR" altLang="en-US" sz="1800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존재</a:t>
            </a:r>
            <a:endParaRPr lang="en-US" altLang="ko-KR" sz="1800">
              <a:latin typeface="Microsoft YaHei" panose="020B0503020204020204" pitchFamily="34" charset="-122"/>
              <a:ea typeface="Noto Sans KR" panose="020B0200000000000000" pitchFamily="50" charset="-127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sz="1800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Sparse CCA</a:t>
            </a:r>
            <a:r>
              <a:rPr lang="ko-KR" altLang="en-US" sz="1800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는 </a:t>
            </a:r>
            <a:r>
              <a:rPr lang="en-US" altLang="ko-KR" sz="1800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CCA</a:t>
            </a:r>
            <a:r>
              <a:rPr lang="ko-KR" altLang="en-US" sz="1800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의 목적</a:t>
            </a:r>
            <a:r>
              <a:rPr lang="en-US" altLang="ko-KR" sz="1800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(</a:t>
            </a:r>
            <a:r>
              <a:rPr lang="ko-KR" altLang="en-US" sz="1800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두 집단 선형결합의 상관 최대</a:t>
            </a:r>
            <a:r>
              <a:rPr lang="en-US" altLang="ko-KR" sz="1800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)</a:t>
            </a:r>
            <a:r>
              <a:rPr lang="ko-KR" altLang="en-US" sz="1800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은 유지하되</a:t>
            </a:r>
            <a:r>
              <a:rPr lang="en-US" altLang="ko-KR" sz="1800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, </a:t>
            </a:r>
            <a:r>
              <a:rPr lang="ko-KR" altLang="en-US" sz="1800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희소성</a:t>
            </a:r>
            <a:r>
              <a:rPr lang="en-US" altLang="ko-KR" sz="1800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(sparsity) </a:t>
            </a:r>
            <a:r>
              <a:rPr lang="ko-KR" altLang="en-US" sz="1800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제약을 넣음</a:t>
            </a:r>
            <a:endParaRPr lang="en-US" altLang="ko-KR" sz="1800">
              <a:latin typeface="Microsoft YaHei" panose="020B0503020204020204" pitchFamily="34" charset="-122"/>
              <a:ea typeface="Noto Sans KR" panose="020B0200000000000000" pitchFamily="50" charset="-127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sz="1800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Penalized matrix decomposition(PMD)</a:t>
            </a:r>
            <a:r>
              <a:rPr lang="ko-KR" altLang="en-US" sz="1800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을 사용</a:t>
            </a:r>
            <a:endParaRPr lang="en-US" altLang="ko-KR" sz="1800">
              <a:latin typeface="Microsoft YaHei" panose="020B0503020204020204" pitchFamily="34" charset="-122"/>
              <a:ea typeface="Noto Sans KR" panose="020B0200000000000000" pitchFamily="50" charset="-127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ko-KR" altLang="en-US" sz="2000">
              <a:latin typeface="Microsoft YaHei" panose="020B0503020204020204" pitchFamily="34" charset="-122"/>
              <a:ea typeface="Noto Sans KR" panose="020B0200000000000000" pitchFamily="50" charset="-127"/>
              <a:cs typeface="Arial" panose="020B0604020202020204" pitchFamily="34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7E2B6F5-AA6A-4A20-8BCD-95161DD53407}"/>
              </a:ext>
            </a:extLst>
          </p:cNvPr>
          <p:cNvSpPr/>
          <p:nvPr/>
        </p:nvSpPr>
        <p:spPr>
          <a:xfrm>
            <a:off x="1717587" y="2338400"/>
            <a:ext cx="34556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PMD : rank-m approximation 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6597C789-1E76-4BA0-B39A-1D61D2CA3D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1572" y="2682139"/>
            <a:ext cx="5063993" cy="879688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DB880C35-2833-4318-98CB-E22B667A38BC}"/>
              </a:ext>
            </a:extLst>
          </p:cNvPr>
          <p:cNvSpPr/>
          <p:nvPr/>
        </p:nvSpPr>
        <p:spPr>
          <a:xfrm>
            <a:off x="6835565" y="3189363"/>
            <a:ext cx="327224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600">
                <a:solidFill>
                  <a:srgbClr val="FF0000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Sparsity: u, v</a:t>
            </a:r>
            <a:r>
              <a:rPr lang="ko-KR" altLang="en-US" sz="1600">
                <a:solidFill>
                  <a:srgbClr val="FF0000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에</a:t>
            </a:r>
            <a:r>
              <a:rPr lang="en-US" altLang="ko-KR" sz="1600">
                <a:solidFill>
                  <a:srgbClr val="FF0000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 Lasso </a:t>
            </a:r>
            <a:r>
              <a:rPr lang="ko-KR" altLang="en-US" sz="1600">
                <a:solidFill>
                  <a:srgbClr val="FF0000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규제를 더함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BDF9470-39B1-438D-85D4-731B19248552}"/>
              </a:ext>
            </a:extLst>
          </p:cNvPr>
          <p:cNvSpPr/>
          <p:nvPr/>
        </p:nvSpPr>
        <p:spPr>
          <a:xfrm>
            <a:off x="3248658" y="2752651"/>
            <a:ext cx="540404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600">
                <a:solidFill>
                  <a:srgbClr val="FF0000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 m=1) SVD</a:t>
            </a:r>
            <a:r>
              <a:rPr lang="ko-KR" altLang="en-US" sz="1600">
                <a:solidFill>
                  <a:srgbClr val="FF0000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에서 첫번째 </a:t>
            </a:r>
            <a:r>
              <a:rPr lang="ko-KR" altLang="en-US" sz="1600" err="1">
                <a:solidFill>
                  <a:srgbClr val="FF0000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특잇값을</a:t>
            </a:r>
            <a:r>
              <a:rPr lang="ko-KR" altLang="en-US" sz="1600">
                <a:solidFill>
                  <a:srgbClr val="FF0000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 찾는 문제를 최적화 형태로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2EB52AF-7E3F-412B-A7A3-2327C7E831A3}"/>
              </a:ext>
            </a:extLst>
          </p:cNvPr>
          <p:cNvSpPr/>
          <p:nvPr/>
        </p:nvSpPr>
        <p:spPr>
          <a:xfrm>
            <a:off x="1553331" y="2338400"/>
            <a:ext cx="8638419" cy="1290375"/>
          </a:xfrm>
          <a:prstGeom prst="rect">
            <a:avLst/>
          </a:prstGeom>
          <a:noFill/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Microsoft YaHei" panose="020B0503020204020204" pitchFamily="34" charset="-122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199D8C0-0964-4639-8041-C9B2A248E8F9}"/>
              </a:ext>
            </a:extLst>
          </p:cNvPr>
          <p:cNvSpPr/>
          <p:nvPr/>
        </p:nvSpPr>
        <p:spPr>
          <a:xfrm>
            <a:off x="1553330" y="3993891"/>
            <a:ext cx="901941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err="1">
                <a:highlight>
                  <a:srgbClr val="FFFF00"/>
                </a:highlight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  <a:sym typeface="Wingdings" panose="05000000000000000000" pitchFamily="2" charset="2"/>
              </a:rPr>
              <a:t>sCCA</a:t>
            </a:r>
            <a:r>
              <a:rPr lang="ko-KR" altLang="en-US">
                <a:highlight>
                  <a:srgbClr val="FFFF00"/>
                </a:highlight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  <a:sym typeface="Wingdings" panose="05000000000000000000" pitchFamily="2" charset="2"/>
              </a:rPr>
              <a:t>에 </a:t>
            </a:r>
            <a:r>
              <a:rPr lang="en-US" altLang="ko-KR">
                <a:highlight>
                  <a:srgbClr val="FFFF00"/>
                </a:highlight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  <a:sym typeface="Wingdings" panose="05000000000000000000" pitchFamily="2" charset="2"/>
              </a:rPr>
              <a:t>PMD</a:t>
            </a:r>
            <a:r>
              <a:rPr lang="ko-KR" altLang="en-US">
                <a:highlight>
                  <a:srgbClr val="FFFF00"/>
                </a:highlight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  <a:sym typeface="Wingdings" panose="05000000000000000000" pitchFamily="2" charset="2"/>
              </a:rPr>
              <a:t>를 적용 </a:t>
            </a:r>
            <a:endParaRPr lang="en-US" altLang="ko-KR">
              <a:highlight>
                <a:srgbClr val="FFFF00"/>
              </a:highlight>
              <a:latin typeface="Microsoft YaHei" panose="020B0503020204020204" pitchFamily="34" charset="-122"/>
              <a:ea typeface="Noto Sans KR" panose="020B0200000000000000" pitchFamily="50" charset="-127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r>
              <a:rPr lang="en-US" altLang="ko-KR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n-US" altLang="ko-KR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M</a:t>
            </a:r>
            <a:r>
              <a:rPr lang="ko-KR" altLang="en-US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을 </a:t>
            </a:r>
            <a:r>
              <a:rPr lang="en-US" altLang="ko-KR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cross covariance matrix XYT</a:t>
            </a:r>
            <a:r>
              <a:rPr lang="ko-KR" altLang="en-US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로 대체</a:t>
            </a:r>
            <a:r>
              <a:rPr lang="en-US" altLang="ko-KR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, </a:t>
            </a:r>
            <a:r>
              <a:rPr lang="en-US" altLang="ko-KR" err="1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u,v</a:t>
            </a:r>
            <a:r>
              <a:rPr lang="ko-KR" altLang="en-US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는 가중치</a:t>
            </a:r>
            <a:r>
              <a:rPr lang="en-US" altLang="ko-KR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(</a:t>
            </a:r>
            <a:r>
              <a:rPr lang="en-US" altLang="ko-KR" err="1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wx</a:t>
            </a:r>
            <a:r>
              <a:rPr lang="en-US" altLang="ko-KR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, </a:t>
            </a:r>
            <a:r>
              <a:rPr lang="en-US" altLang="ko-KR" err="1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wy</a:t>
            </a:r>
            <a:r>
              <a:rPr lang="en-US" altLang="ko-KR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)</a:t>
            </a:r>
            <a:r>
              <a:rPr lang="ko-KR" altLang="en-US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로 대체 </a:t>
            </a:r>
            <a:endParaRPr lang="en-US" altLang="ko-KR">
              <a:latin typeface="Microsoft YaHei" panose="020B0503020204020204" pitchFamily="34" charset="-122"/>
              <a:ea typeface="Noto Sans KR" panose="020B0200000000000000" pitchFamily="50" charset="-127"/>
              <a:cs typeface="Arial" panose="020B0604020202020204" pitchFamily="34" charset="0"/>
            </a:endParaRP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6C26A6DE-0345-483C-8EE7-E3793D69C8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1572" y="4623174"/>
            <a:ext cx="5537608" cy="924874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E3787140-D200-4B94-8E4D-682DA03890E6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34617" b="43777"/>
          <a:stretch/>
        </p:blipFill>
        <p:spPr>
          <a:xfrm>
            <a:off x="28407" y="2723055"/>
            <a:ext cx="1376510" cy="524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6312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415CE3D-03F6-4D09-9321-3D7FF3AF008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2B19318-762D-4FD0-A50B-207ABA46F30B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8B428AD-D08B-42BA-B289-D0DF1A1C81F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ko-KR" altLang="en-US">
                <a:ea typeface="Noto Sans KR" panose="020B0200000000000000" pitchFamily="50" charset="-127"/>
                <a:cs typeface="Arial" panose="020B0604020202020204" pitchFamily="34" charset="0"/>
              </a:rPr>
              <a:t>샘플 데이터 결과</a:t>
            </a:r>
            <a:r>
              <a:rPr lang="en-US" altLang="ko-KR">
                <a:cs typeface="Arial" panose="020B0604020202020204" pitchFamily="34" charset="0"/>
              </a:rPr>
              <a:t> </a:t>
            </a:r>
            <a:endParaRPr lang="ko-KR" altLang="en-US">
              <a:cs typeface="Arial" panose="020B0604020202020204" pitchFamily="34" charset="0"/>
            </a:endParaRPr>
          </a:p>
          <a:p>
            <a:r>
              <a:rPr lang="en-US" altLang="ko-KR">
                <a:cs typeface="Arial" panose="020B0604020202020204" pitchFamily="34" charset="0"/>
              </a:rPr>
              <a:t> </a:t>
            </a:r>
            <a:endParaRPr lang="ko-KR" altLang="en-US">
              <a:cs typeface="Arial" panose="020B0604020202020204" pitchFamily="34" charset="0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A9B8AF3-4FB1-4D41-BD6B-CBB401DE110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686B527-6459-4135-BE6D-D3190704AFA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2FC6C974-24DD-4A53-9CEC-41E5D8DF709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50062" y="426003"/>
            <a:ext cx="9996640" cy="443020"/>
          </a:xfrm>
        </p:spPr>
        <p:txBody>
          <a:bodyPr/>
          <a:lstStyle/>
          <a:p>
            <a:r>
              <a:rPr lang="en-US" altLang="ko-KR">
                <a:latin typeface="Microsoft YaHei" panose="020B0503020204020204" pitchFamily="34" charset="-122"/>
                <a:cs typeface="Arial" panose="020B0604020202020204" pitchFamily="34" charset="0"/>
              </a:rPr>
              <a:t>4. Sparse canonical correlation analysis (</a:t>
            </a:r>
            <a:r>
              <a:rPr lang="en-US" altLang="ko-KR" err="1">
                <a:latin typeface="Microsoft YaHei" panose="020B0503020204020204" pitchFamily="34" charset="-122"/>
                <a:cs typeface="Arial" panose="020B0604020202020204" pitchFamily="34" charset="0"/>
              </a:rPr>
              <a:t>sCCA</a:t>
            </a:r>
            <a:r>
              <a:rPr lang="en-US" altLang="ko-KR">
                <a:latin typeface="Microsoft YaHei" panose="020B0503020204020204" pitchFamily="34" charset="-122"/>
                <a:cs typeface="Arial" panose="020B0604020202020204" pitchFamily="34" charset="0"/>
              </a:rPr>
              <a:t>)</a:t>
            </a:r>
            <a:endParaRPr lang="ko-KR" altLang="en-US">
              <a:latin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D3E0EDE-2E24-49F7-9FD2-6E26E5B9BAD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0459354" y="71451"/>
            <a:ext cx="1814291" cy="249238"/>
          </a:xfrm>
        </p:spPr>
        <p:txBody>
          <a:bodyPr/>
          <a:lstStyle/>
          <a:p>
            <a:r>
              <a:rPr lang="en-US" altLang="ko-KR">
                <a:ea typeface="프리젠테이션 5 Medium" pitchFamily="2" charset="-127"/>
                <a:cs typeface="Arial" panose="020B0604020202020204" pitchFamily="34" charset="0"/>
              </a:rPr>
              <a:t>Biomarker</a:t>
            </a:r>
            <a:r>
              <a:rPr lang="ko-KR" altLang="en-US">
                <a:ea typeface="프리젠테이션 5 Medium" pitchFamily="2" charset="-127"/>
                <a:cs typeface="Arial" panose="020B0604020202020204" pitchFamily="34" charset="0"/>
              </a:rPr>
              <a:t> </a:t>
            </a:r>
            <a:r>
              <a:rPr lang="en-US" altLang="ko-KR">
                <a:ea typeface="프리젠테이션 5 Medium" pitchFamily="2" charset="-127"/>
                <a:cs typeface="Arial" panose="020B0604020202020204" pitchFamily="34" charset="0"/>
              </a:rPr>
              <a:t>Analysis</a:t>
            </a:r>
            <a:endParaRPr lang="ko-KR" altLang="en-US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520D3A65-1146-4CEF-9EAB-A72C53CBF77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D1590CB3-04AB-41F4-8980-BF850BE9A28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2" name="내용 개체 틀 2">
            <a:extLst>
              <a:ext uri="{FF2B5EF4-FFF2-40B4-BE49-F238E27FC236}">
                <a16:creationId xmlns:a16="http://schemas.microsoft.com/office/drawing/2014/main" id="{29D2BD65-71B5-40E5-A004-7717E1AE5ED1}"/>
              </a:ext>
            </a:extLst>
          </p:cNvPr>
          <p:cNvSpPr txBox="1">
            <a:spLocks/>
          </p:cNvSpPr>
          <p:nvPr/>
        </p:nvSpPr>
        <p:spPr>
          <a:xfrm>
            <a:off x="950061" y="1069726"/>
            <a:ext cx="10756163" cy="14041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endParaRPr lang="ko-KR" altLang="en-US" sz="1800">
              <a:latin typeface="Microsoft YaHei" panose="020B0503020204020204" pitchFamily="34" charset="-122"/>
              <a:ea typeface="Noto Sans KR" panose="020B0200000000000000" pitchFamily="50" charset="-127"/>
              <a:cs typeface="Arial" panose="020B0604020202020204" pitchFamily="34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25BE54D-046D-4DF6-BF9B-671F1BAC681D}"/>
              </a:ext>
            </a:extLst>
          </p:cNvPr>
          <p:cNvSpPr/>
          <p:nvPr/>
        </p:nvSpPr>
        <p:spPr>
          <a:xfrm>
            <a:off x="1176681" y="1346585"/>
            <a:ext cx="298992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600" i="1">
                <a:solidFill>
                  <a:srgbClr val="B3003F"/>
                </a:solidFill>
                <a:latin typeface="Consolas" panose="020B0609020204030204" pitchFamily="49" charset="0"/>
              </a:rPr>
              <a:t>from</a:t>
            </a:r>
            <a:r>
              <a:rPr lang="en-US" altLang="ko-KR" sz="1600">
                <a:solidFill>
                  <a:srgbClr val="141414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err="1">
                <a:solidFill>
                  <a:srgbClr val="206595"/>
                </a:solidFill>
                <a:latin typeface="Consolas" panose="020B0609020204030204" pitchFamily="49" charset="0"/>
              </a:rPr>
              <a:t>sparsecca</a:t>
            </a:r>
            <a:r>
              <a:rPr lang="en-US" altLang="ko-KR" sz="1600">
                <a:solidFill>
                  <a:srgbClr val="141414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i="1">
                <a:solidFill>
                  <a:srgbClr val="B3003F"/>
                </a:solidFill>
                <a:latin typeface="Consolas" panose="020B0609020204030204" pitchFamily="49" charset="0"/>
              </a:rPr>
              <a:t>import</a:t>
            </a:r>
            <a:r>
              <a:rPr lang="en-US" altLang="ko-KR" sz="1600">
                <a:solidFill>
                  <a:srgbClr val="141414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err="1">
                <a:solidFill>
                  <a:srgbClr val="DB704B"/>
                </a:solidFill>
                <a:latin typeface="Consolas" panose="020B0609020204030204" pitchFamily="49" charset="0"/>
              </a:rPr>
              <a:t>pmd</a:t>
            </a:r>
            <a:endParaRPr lang="en-US" altLang="ko-KR" sz="1600" b="0">
              <a:solidFill>
                <a:srgbClr val="141414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D0887BAD-C05E-4AC9-9200-53E2E5FC3B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6681" y="2110753"/>
            <a:ext cx="4143953" cy="600159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6E40DE8D-DBCA-4BA5-88F1-86F14F5E1FC0}"/>
              </a:ext>
            </a:extLst>
          </p:cNvPr>
          <p:cNvSpPr/>
          <p:nvPr/>
        </p:nvSpPr>
        <p:spPr>
          <a:xfrm>
            <a:off x="1176681" y="1636336"/>
            <a:ext cx="489749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600" i="1">
                <a:solidFill>
                  <a:srgbClr val="B3003F"/>
                </a:solidFill>
                <a:latin typeface="Consolas" panose="020B0609020204030204" pitchFamily="49" charset="0"/>
              </a:rPr>
              <a:t>from</a:t>
            </a:r>
            <a:r>
              <a:rPr lang="en-US" altLang="ko-KR" sz="1600">
                <a:solidFill>
                  <a:srgbClr val="141414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err="1">
                <a:solidFill>
                  <a:srgbClr val="206595"/>
                </a:solidFill>
                <a:latin typeface="Consolas" panose="020B0609020204030204" pitchFamily="49" charset="0"/>
              </a:rPr>
              <a:t>sklearn</a:t>
            </a:r>
            <a:r>
              <a:rPr lang="en-US" altLang="ko-KR" sz="1600" err="1">
                <a:solidFill>
                  <a:srgbClr val="141414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600" err="1">
                <a:solidFill>
                  <a:srgbClr val="206595"/>
                </a:solidFill>
                <a:latin typeface="Consolas" panose="020B0609020204030204" pitchFamily="49" charset="0"/>
              </a:rPr>
              <a:t>datasets</a:t>
            </a:r>
            <a:r>
              <a:rPr lang="en-US" altLang="ko-KR" sz="1600">
                <a:solidFill>
                  <a:srgbClr val="141414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i="1">
                <a:solidFill>
                  <a:srgbClr val="B3003F"/>
                </a:solidFill>
                <a:latin typeface="Consolas" panose="020B0609020204030204" pitchFamily="49" charset="0"/>
              </a:rPr>
              <a:t>import</a:t>
            </a:r>
            <a:r>
              <a:rPr lang="en-US" altLang="ko-KR" sz="1600">
                <a:solidFill>
                  <a:srgbClr val="141414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err="1">
                <a:solidFill>
                  <a:srgbClr val="DB704B"/>
                </a:solidFill>
                <a:latin typeface="Consolas" panose="020B0609020204030204" pitchFamily="49" charset="0"/>
              </a:rPr>
              <a:t>load_diabetes</a:t>
            </a:r>
            <a:endParaRPr lang="en-US" altLang="ko-KR" sz="1600" b="0">
              <a:solidFill>
                <a:srgbClr val="14141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3" name="내용 개체 틀 2">
            <a:extLst>
              <a:ext uri="{FF2B5EF4-FFF2-40B4-BE49-F238E27FC236}">
                <a16:creationId xmlns:a16="http://schemas.microsoft.com/office/drawing/2014/main" id="{B3E56BBB-A7FC-4DF7-9365-0A09E53E858C}"/>
              </a:ext>
            </a:extLst>
          </p:cNvPr>
          <p:cNvSpPr txBox="1">
            <a:spLocks/>
          </p:cNvSpPr>
          <p:nvPr/>
        </p:nvSpPr>
        <p:spPr>
          <a:xfrm>
            <a:off x="854811" y="2981807"/>
            <a:ext cx="6388931" cy="23102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Finding the best penalty (</a:t>
            </a:r>
            <a:r>
              <a:rPr lang="en-US" altLang="ko-KR" sz="1600" err="1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penaltyu</a:t>
            </a:r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, </a:t>
            </a:r>
            <a:r>
              <a:rPr lang="en-US" altLang="ko-KR" sz="1600" err="1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penaltyv</a:t>
            </a:r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 -  </a:t>
            </a:r>
            <a:r>
              <a:rPr lang="ko-KR" altLang="en-US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각 </a:t>
            </a:r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X</a:t>
            </a:r>
            <a:r>
              <a:rPr lang="ko-KR" altLang="en-US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쪽과 </a:t>
            </a:r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Z</a:t>
            </a:r>
            <a:r>
              <a:rPr lang="ko-KR" altLang="en-US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쪽에 가중치 벡터를 얼마나 </a:t>
            </a:r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sparse(0</a:t>
            </a:r>
            <a:r>
              <a:rPr lang="ko-KR" altLang="en-US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을 많이</a:t>
            </a:r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) </a:t>
            </a:r>
            <a:r>
              <a:rPr lang="ko-KR" altLang="en-US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만들지 </a:t>
            </a:r>
            <a:endParaRPr lang="en-US" altLang="ko-KR" sz="1600">
              <a:latin typeface="Noto Sans KR" panose="020B0200000000000000" pitchFamily="50" charset="-127"/>
              <a:ea typeface="Noto Sans KR" panose="020B0200000000000000" pitchFamily="50" charset="-127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 -  Grid search</a:t>
            </a:r>
            <a:r>
              <a:rPr lang="ko-KR" altLang="en-US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로</a:t>
            </a:r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 </a:t>
            </a:r>
            <a:r>
              <a:rPr lang="ko-KR" altLang="en-US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각 페널티마다 교차 검정을 하여 </a:t>
            </a:r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correlation</a:t>
            </a:r>
            <a:r>
              <a:rPr lang="ko-KR" altLang="en-US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이 가장 큰 페널티 쌍을 찾는 과정</a:t>
            </a:r>
            <a:endParaRPr lang="en-US" altLang="ko-KR" sz="1600">
              <a:latin typeface="Noto Sans KR" panose="020B0200000000000000" pitchFamily="50" charset="-127"/>
              <a:ea typeface="Noto Sans KR" panose="020B0200000000000000" pitchFamily="50" charset="-127"/>
              <a:cs typeface="Arial" panose="020B0604020202020204" pitchFamily="34" charset="0"/>
            </a:endParaRPr>
          </a:p>
        </p:txBody>
      </p:sp>
      <p:sp>
        <p:nvSpPr>
          <p:cNvPr id="27" name="내용 개체 틀 2">
            <a:extLst>
              <a:ext uri="{FF2B5EF4-FFF2-40B4-BE49-F238E27FC236}">
                <a16:creationId xmlns:a16="http://schemas.microsoft.com/office/drawing/2014/main" id="{472FCD0F-B2F1-4BD0-88B5-29CC7CA6BB3E}"/>
              </a:ext>
            </a:extLst>
          </p:cNvPr>
          <p:cNvSpPr txBox="1">
            <a:spLocks/>
          </p:cNvSpPr>
          <p:nvPr/>
        </p:nvSpPr>
        <p:spPr>
          <a:xfrm>
            <a:off x="6530619" y="4665004"/>
            <a:ext cx="5563057" cy="17564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800" b="1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→ </a:t>
            </a:r>
            <a:r>
              <a:rPr lang="ko-KR" altLang="en-US" sz="1400" b="1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결과 해석</a:t>
            </a:r>
            <a:r>
              <a:rPr lang="en-US" altLang="ko-KR" sz="1400" b="1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: penalty u=0.9, penalty v = 0.9</a:t>
            </a:r>
            <a:r>
              <a:rPr lang="ko-KR" altLang="en-US" sz="1400" b="1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로 </a:t>
            </a:r>
            <a:r>
              <a:rPr lang="en-US" altLang="ko-KR" sz="1400" b="1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SCCA</a:t>
            </a:r>
            <a:r>
              <a:rPr lang="ko-KR" altLang="en-US" sz="1400" b="1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를 진행했을 때 </a:t>
            </a:r>
            <a:r>
              <a:rPr lang="en-US" altLang="ko-KR" sz="1400" b="1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X</a:t>
            </a:r>
            <a:r>
              <a:rPr lang="ko-KR" altLang="en-US" sz="1400" b="1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에서는 </a:t>
            </a:r>
            <a:r>
              <a:rPr lang="en-US" altLang="ko-KR" sz="1400" b="1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s2, s1, s4</a:t>
            </a:r>
            <a:r>
              <a:rPr lang="ko-KR" altLang="en-US" sz="1400" b="1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만 선택되고 </a:t>
            </a:r>
            <a:r>
              <a:rPr lang="en-US" altLang="ko-KR" sz="1400" b="1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Z</a:t>
            </a:r>
            <a:r>
              <a:rPr lang="ko-KR" altLang="en-US" sz="1400" b="1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에서는 </a:t>
            </a:r>
            <a:r>
              <a:rPr lang="en-US" altLang="ko-KR" sz="1400" b="1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bp, sex, age, BMI</a:t>
            </a:r>
            <a:r>
              <a:rPr lang="ko-KR" altLang="en-US" sz="1400" b="1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가 함께 공통 축을 구성함</a:t>
            </a:r>
            <a:endParaRPr lang="en-US" altLang="ko-KR" sz="1400" b="1">
              <a:latin typeface="Noto Sans KR" panose="020B0200000000000000" pitchFamily="50" charset="-127"/>
              <a:ea typeface="Noto Sans KR" panose="020B0200000000000000" pitchFamily="50" charset="-127"/>
              <a:cs typeface="Arial" panose="020B0604020202020204" pitchFamily="34" charset="0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32954C26-F95D-4601-998A-C9FDC08542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3742" y="3209081"/>
            <a:ext cx="4814578" cy="66844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E56D1049-6AB1-48A5-8D43-C3B73F3731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7305" y="4634066"/>
            <a:ext cx="1939573" cy="181835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883ECAF3-DB6D-42A0-98CC-71F850222F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64114" y="4695398"/>
            <a:ext cx="2305372" cy="169568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3" name="내용 개체 틀 2">
            <a:extLst>
              <a:ext uri="{FF2B5EF4-FFF2-40B4-BE49-F238E27FC236}">
                <a16:creationId xmlns:a16="http://schemas.microsoft.com/office/drawing/2014/main" id="{2BF46D39-628A-49D6-965C-6BEF51AFF67E}"/>
              </a:ext>
            </a:extLst>
          </p:cNvPr>
          <p:cNvSpPr txBox="1">
            <a:spLocks/>
          </p:cNvSpPr>
          <p:nvPr/>
        </p:nvSpPr>
        <p:spPr>
          <a:xfrm>
            <a:off x="950061" y="1039176"/>
            <a:ext cx="6691272" cy="23102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US" altLang="ko-KR" sz="18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CCA</a:t>
            </a:r>
            <a:r>
              <a:rPr lang="ko-KR" altLang="en-US" sz="18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와 기본적인 코드는 동일</a:t>
            </a:r>
            <a:endParaRPr lang="en-US" altLang="ko-KR" sz="1800">
              <a:latin typeface="Noto Sans KR" panose="020B0200000000000000" pitchFamily="50" charset="-127"/>
              <a:ea typeface="Noto Sans KR" panose="020B0200000000000000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57105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EC736457-E8A2-46E0-9829-CD4460234FF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78746" y="3117343"/>
            <a:ext cx="7634508" cy="819176"/>
          </a:xfrm>
        </p:spPr>
        <p:txBody>
          <a:bodyPr/>
          <a:lstStyle/>
          <a:p>
            <a:r>
              <a:rPr lang="en-US" altLang="ko-KR" sz="4000" dirty="0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2. </a:t>
            </a:r>
            <a:r>
              <a:rPr lang="ko-KR" altLang="en-US" sz="4000" dirty="0" err="1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바이오마커</a:t>
            </a:r>
            <a:r>
              <a:rPr lang="ko-KR" altLang="en-US" sz="4000" dirty="0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 데이터셋 이해</a:t>
            </a:r>
          </a:p>
          <a:p>
            <a:r>
              <a:rPr lang="en-US" altLang="ko-KR" sz="4000" dirty="0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 </a:t>
            </a:r>
            <a:endParaRPr lang="ko-KR" altLang="en-US" sz="4000" dirty="0"/>
          </a:p>
        </p:txBody>
      </p:sp>
    </p:spTree>
    <p:extLst>
      <p:ext uri="{BB962C8B-B14F-4D97-AF65-F5344CB8AC3E}">
        <p14:creationId xmlns:p14="http://schemas.microsoft.com/office/powerpoint/2010/main" val="25210258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415CE3D-03F6-4D09-9321-3D7FF3AF008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2B19318-762D-4FD0-A50B-207ABA46F30B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8B428AD-D08B-42BA-B289-D0DF1A1C81F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0061" y="71451"/>
            <a:ext cx="1752787" cy="249238"/>
          </a:xfrm>
        </p:spPr>
        <p:txBody>
          <a:bodyPr/>
          <a:lstStyle/>
          <a:p>
            <a:r>
              <a:rPr lang="ko-KR" altLang="en-US">
                <a:ea typeface="Noto Sans KR" panose="020B0200000000000000" pitchFamily="50" charset="-127"/>
                <a:cs typeface="Arial" panose="020B0604020202020204" pitchFamily="34" charset="0"/>
              </a:rPr>
              <a:t>데이터셋 이해</a:t>
            </a:r>
            <a:endParaRPr lang="ko-KR" altLang="en-US">
              <a:cs typeface="Arial" panose="020B0604020202020204" pitchFamily="34" charset="0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A9B8AF3-4FB1-4D41-BD6B-CBB401DE110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686B527-6459-4135-BE6D-D3190704AFA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2FC6C974-24DD-4A53-9CEC-41E5D8DF709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50062" y="426003"/>
            <a:ext cx="8479688" cy="443020"/>
          </a:xfrm>
        </p:spPr>
        <p:txBody>
          <a:bodyPr/>
          <a:lstStyle/>
          <a:p>
            <a:r>
              <a:rPr lang="ko-KR" altLang="en-US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데이터셋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D3E0EDE-2E24-49F7-9FD2-6E26E5B9BAD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0459354" y="71451"/>
            <a:ext cx="1814291" cy="249238"/>
          </a:xfrm>
        </p:spPr>
        <p:txBody>
          <a:bodyPr/>
          <a:lstStyle/>
          <a:p>
            <a:r>
              <a:rPr lang="en-US" altLang="ko-KR">
                <a:ea typeface="프리젠테이션 5 Medium" pitchFamily="2" charset="-127"/>
                <a:cs typeface="Arial" panose="020B0604020202020204" pitchFamily="34" charset="0"/>
              </a:rPr>
              <a:t>Biomarker</a:t>
            </a:r>
            <a:r>
              <a:rPr lang="ko-KR" altLang="en-US">
                <a:ea typeface="프리젠테이션 5 Medium" pitchFamily="2" charset="-127"/>
                <a:cs typeface="Arial" panose="020B0604020202020204" pitchFamily="34" charset="0"/>
              </a:rPr>
              <a:t> </a:t>
            </a:r>
            <a:r>
              <a:rPr lang="en-US" altLang="ko-KR">
                <a:ea typeface="프리젠테이션 5 Medium" pitchFamily="2" charset="-127"/>
                <a:cs typeface="Arial" panose="020B0604020202020204" pitchFamily="34" charset="0"/>
              </a:rPr>
              <a:t>Analysis</a:t>
            </a:r>
            <a:endParaRPr lang="ko-KR" altLang="en-US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520D3A65-1146-4CEF-9EAB-A72C53CBF77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D1590CB3-04AB-41F4-8980-BF850BE9A28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315FF033-972F-4F43-B6DB-CC979F645792}"/>
              </a:ext>
            </a:extLst>
          </p:cNvPr>
          <p:cNvSpPr txBox="1">
            <a:spLocks/>
          </p:cNvSpPr>
          <p:nvPr/>
        </p:nvSpPr>
        <p:spPr>
          <a:xfrm>
            <a:off x="950061" y="1062851"/>
            <a:ext cx="10756163" cy="14041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ko-KR" altLang="en-US" sz="2000">
              <a:latin typeface="Microsoft YaHei" panose="020B0503020204020204" pitchFamily="34" charset="-122"/>
              <a:ea typeface="Noto Sans KR" panose="020B0200000000000000" pitchFamily="50" charset="-127"/>
              <a:cs typeface="Arial" panose="020B0604020202020204" pitchFamily="34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5D449AB-05F6-438C-8F0C-83513575F724}"/>
              </a:ext>
            </a:extLst>
          </p:cNvPr>
          <p:cNvSpPr/>
          <p:nvPr/>
        </p:nvSpPr>
        <p:spPr>
          <a:xfrm>
            <a:off x="4133095" y="3844912"/>
            <a:ext cx="968453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→ KUMC</a:t>
            </a:r>
            <a:r>
              <a:rPr lang="ko-KR" altLang="en-US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와 </a:t>
            </a:r>
            <a:r>
              <a:rPr lang="en-US" altLang="ko-KR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AMC </a:t>
            </a:r>
            <a:r>
              <a:rPr lang="ko-KR" altLang="en-US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두 그룹으로 데이터프레임을 분할하였고 각각 </a:t>
            </a:r>
            <a:r>
              <a:rPr lang="en-US" altLang="ko-KR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22</a:t>
            </a:r>
            <a:r>
              <a:rPr lang="ko-KR" altLang="en-US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명씩 </a:t>
            </a:r>
            <a:endParaRPr lang="en-US" altLang="ko-KR">
              <a:latin typeface="Microsoft YaHei" panose="020B0503020204020204" pitchFamily="34" charset="-122"/>
              <a:ea typeface="Noto Sans KR" panose="020B0200000000000000" pitchFamily="50" charset="-127"/>
              <a:cs typeface="Arial" panose="020B0604020202020204" pitchFamily="34" charset="0"/>
            </a:endParaRPr>
          </a:p>
          <a:p>
            <a:endParaRPr lang="en-US" altLang="ko-KR">
              <a:latin typeface="Noto Sans KR" panose="020B0200000000000000" pitchFamily="50" charset="-127"/>
              <a:ea typeface="Noto Sans KR" panose="020B0200000000000000" pitchFamily="50" charset="-127"/>
              <a:cs typeface="Arial" panose="020B0604020202020204" pitchFamily="34" charset="0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D6256033-1696-4120-B561-516EF8C01A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899" y="3267129"/>
            <a:ext cx="2772162" cy="155279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20DBB3F6-8B9B-4BE5-AD19-E07462000B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635" y="827186"/>
            <a:ext cx="5341115" cy="237898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356776DA-44EB-4E46-A023-AF3DB1529F5B}"/>
              </a:ext>
            </a:extLst>
          </p:cNvPr>
          <p:cNvSpPr/>
          <p:nvPr/>
        </p:nvSpPr>
        <p:spPr>
          <a:xfrm>
            <a:off x="6381750" y="1832011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→ </a:t>
            </a:r>
            <a:r>
              <a:rPr lang="ko-KR" altLang="en-US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분석에 사용될 </a:t>
            </a:r>
            <a:r>
              <a:rPr lang="en-US" altLang="ko-KR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column</a:t>
            </a:r>
            <a:r>
              <a:rPr lang="ko-KR" altLang="en-US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정의 </a:t>
            </a:r>
            <a:endParaRPr lang="en-US" altLang="ko-KR">
              <a:latin typeface="Microsoft YaHei" panose="020B0503020204020204" pitchFamily="34" charset="-122"/>
              <a:ea typeface="Noto Sans KR" panose="020B0200000000000000" pitchFamily="50" charset="-127"/>
              <a:cs typeface="Arial" panose="020B0604020202020204" pitchFamily="34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3B276124-F7E1-4A49-8F82-B4E16E65BCA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52271"/>
          <a:stretch/>
        </p:blipFill>
        <p:spPr>
          <a:xfrm>
            <a:off x="1364841" y="4907272"/>
            <a:ext cx="4526912" cy="152472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C078CAD0-D6C5-4F73-9334-D5C8C2428E13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52687"/>
          <a:stretch/>
        </p:blipFill>
        <p:spPr>
          <a:xfrm>
            <a:off x="5999341" y="4907272"/>
            <a:ext cx="4526913" cy="151145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44534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415CE3D-03F6-4D09-9321-3D7FF3AF008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2B19318-762D-4FD0-A50B-207ABA46F30B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8B428AD-D08B-42BA-B289-D0DF1A1C81F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0061" y="71451"/>
            <a:ext cx="1752787" cy="249238"/>
          </a:xfrm>
        </p:spPr>
        <p:txBody>
          <a:bodyPr/>
          <a:lstStyle/>
          <a:p>
            <a:r>
              <a:rPr lang="ko-KR" altLang="en-US">
                <a:ea typeface="Noto Sans KR" panose="020B0200000000000000" pitchFamily="50" charset="-127"/>
                <a:cs typeface="Arial" panose="020B0604020202020204" pitchFamily="34" charset="0"/>
              </a:rPr>
              <a:t>데이터셋 이해</a:t>
            </a:r>
            <a:endParaRPr lang="ko-KR" altLang="en-US">
              <a:cs typeface="Arial" panose="020B0604020202020204" pitchFamily="34" charset="0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A9B8AF3-4FB1-4D41-BD6B-CBB401DE110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686B527-6459-4135-BE6D-D3190704AFA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2FC6C974-24DD-4A53-9CEC-41E5D8DF709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50062" y="426003"/>
            <a:ext cx="8479688" cy="443020"/>
          </a:xfrm>
        </p:spPr>
        <p:txBody>
          <a:bodyPr/>
          <a:lstStyle/>
          <a:p>
            <a:r>
              <a:rPr lang="ko-KR" altLang="en-US" err="1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결측치</a:t>
            </a:r>
            <a:r>
              <a:rPr lang="ko-KR" altLang="en-US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 확인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D3E0EDE-2E24-49F7-9FD2-6E26E5B9BAD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0459354" y="71451"/>
            <a:ext cx="1814291" cy="249238"/>
          </a:xfrm>
        </p:spPr>
        <p:txBody>
          <a:bodyPr/>
          <a:lstStyle/>
          <a:p>
            <a:r>
              <a:rPr lang="en-US" altLang="ko-KR">
                <a:ea typeface="프리젠테이션 5 Medium" pitchFamily="2" charset="-127"/>
                <a:cs typeface="Arial" panose="020B0604020202020204" pitchFamily="34" charset="0"/>
              </a:rPr>
              <a:t>Biomarker</a:t>
            </a:r>
            <a:r>
              <a:rPr lang="ko-KR" altLang="en-US">
                <a:ea typeface="프리젠테이션 5 Medium" pitchFamily="2" charset="-127"/>
                <a:cs typeface="Arial" panose="020B0604020202020204" pitchFamily="34" charset="0"/>
              </a:rPr>
              <a:t> </a:t>
            </a:r>
            <a:r>
              <a:rPr lang="en-US" altLang="ko-KR">
                <a:ea typeface="프리젠테이션 5 Medium" pitchFamily="2" charset="-127"/>
                <a:cs typeface="Arial" panose="020B0604020202020204" pitchFamily="34" charset="0"/>
              </a:rPr>
              <a:t>Analysis</a:t>
            </a:r>
            <a:endParaRPr lang="ko-KR" altLang="en-US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520D3A65-1146-4CEF-9EAB-A72C53CBF77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D1590CB3-04AB-41F4-8980-BF850BE9A28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315FF033-972F-4F43-B6DB-CC979F645792}"/>
              </a:ext>
            </a:extLst>
          </p:cNvPr>
          <p:cNvSpPr txBox="1">
            <a:spLocks/>
          </p:cNvSpPr>
          <p:nvPr/>
        </p:nvSpPr>
        <p:spPr>
          <a:xfrm>
            <a:off x="950061" y="1062851"/>
            <a:ext cx="10756163" cy="14041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ko-KR" altLang="en-US" sz="2000">
              <a:latin typeface="Microsoft YaHei" panose="020B0503020204020204" pitchFamily="34" charset="-122"/>
              <a:ea typeface="Noto Sans KR" panose="020B0200000000000000" pitchFamily="50" charset="-127"/>
              <a:cs typeface="Arial" panose="020B0604020202020204" pitchFamily="34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5D449AB-05F6-438C-8F0C-83513575F724}"/>
              </a:ext>
            </a:extLst>
          </p:cNvPr>
          <p:cNvSpPr/>
          <p:nvPr/>
        </p:nvSpPr>
        <p:spPr>
          <a:xfrm>
            <a:off x="1141224" y="4656827"/>
            <a:ext cx="10373835" cy="1895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sz="1600" err="1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결측치를</a:t>
            </a:r>
            <a:r>
              <a:rPr lang="ko-KR" altLang="en-US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 처리하기 위한 방법</a:t>
            </a:r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?</a:t>
            </a:r>
          </a:p>
          <a:p>
            <a:pPr>
              <a:lnSpc>
                <a:spcPct val="150000"/>
              </a:lnSpc>
            </a:pPr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1. </a:t>
            </a:r>
            <a:r>
              <a:rPr lang="ko-KR" altLang="en-US" sz="1600" err="1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결측치</a:t>
            </a:r>
            <a:r>
              <a:rPr lang="ko-KR" altLang="en-US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 삭제</a:t>
            </a:r>
            <a:endParaRPr lang="en-US" altLang="ko-KR" sz="1600">
              <a:latin typeface="Noto Sans KR" panose="020B0200000000000000" pitchFamily="50" charset="-127"/>
              <a:ea typeface="Noto Sans KR" panose="020B0200000000000000" pitchFamily="50" charset="-127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2. </a:t>
            </a:r>
            <a:r>
              <a:rPr lang="ko-KR" altLang="en-US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다중대체 </a:t>
            </a:r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(MICE)</a:t>
            </a:r>
          </a:p>
          <a:p>
            <a:pPr>
              <a:lnSpc>
                <a:spcPct val="150000"/>
              </a:lnSpc>
            </a:pPr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: </a:t>
            </a:r>
            <a:r>
              <a:rPr lang="ko-KR" altLang="en-US" sz="1600" err="1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결측치를</a:t>
            </a:r>
            <a:r>
              <a:rPr lang="ko-KR" altLang="en-US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 채우기 위해 다른 데이터를 바탕으로 </a:t>
            </a:r>
            <a:r>
              <a:rPr lang="ko-KR" altLang="en-US" sz="1600" err="1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결측값이</a:t>
            </a:r>
            <a:r>
              <a:rPr lang="ko-KR" altLang="en-US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 가질 만한 분포</a:t>
            </a:r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, </a:t>
            </a:r>
            <a:r>
              <a:rPr lang="ko-KR" altLang="en-US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규칙을 학습한 뒤 값을 채움</a:t>
            </a:r>
            <a:endParaRPr lang="en-US" altLang="ko-KR" sz="1600">
              <a:latin typeface="Noto Sans KR" panose="020B0200000000000000" pitchFamily="50" charset="-127"/>
              <a:ea typeface="Noto Sans KR" panose="020B0200000000000000" pitchFamily="50" charset="-127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  </a:t>
            </a:r>
            <a:r>
              <a:rPr lang="en-US" altLang="ko-KR" sz="1600" err="1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Miceforest</a:t>
            </a:r>
            <a:r>
              <a:rPr lang="ko-KR" altLang="en-US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는 </a:t>
            </a:r>
            <a:r>
              <a:rPr lang="ko-KR" altLang="en-US" sz="1600" err="1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랜덤포레스트</a:t>
            </a:r>
            <a:r>
              <a:rPr lang="ko-KR" altLang="en-US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 기반의 모델</a:t>
            </a:r>
            <a:endParaRPr lang="en-US" altLang="ko-KR" sz="1600">
              <a:latin typeface="Noto Sans KR" panose="020B0200000000000000" pitchFamily="50" charset="-127"/>
              <a:ea typeface="Noto Sans KR" panose="020B0200000000000000" pitchFamily="50" charset="-127"/>
              <a:cs typeface="Arial" panose="020B0604020202020204" pitchFamily="34" charset="0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2723F1E-E217-4509-94BF-BCE5E70D27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7673" y="1062851"/>
            <a:ext cx="8291536" cy="3276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1680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415CE3D-03F6-4D09-9321-3D7FF3AF008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2B19318-762D-4FD0-A50B-207ABA46F30B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8B428AD-D08B-42BA-B289-D0DF1A1C81F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0061" y="71451"/>
            <a:ext cx="1752787" cy="249238"/>
          </a:xfrm>
        </p:spPr>
        <p:txBody>
          <a:bodyPr/>
          <a:lstStyle/>
          <a:p>
            <a:r>
              <a:rPr lang="ko-KR" altLang="en-US">
                <a:ea typeface="Noto Sans KR" panose="020B0200000000000000" pitchFamily="50" charset="-127"/>
                <a:cs typeface="Arial" panose="020B0604020202020204" pitchFamily="34" charset="0"/>
              </a:rPr>
              <a:t>데이터셋 이해</a:t>
            </a:r>
            <a:endParaRPr lang="ko-KR" altLang="en-US">
              <a:cs typeface="Arial" panose="020B0604020202020204" pitchFamily="34" charset="0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A9B8AF3-4FB1-4D41-BD6B-CBB401DE110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686B527-6459-4135-BE6D-D3190704AFA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2FC6C974-24DD-4A53-9CEC-41E5D8DF709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50062" y="426003"/>
            <a:ext cx="8479688" cy="443020"/>
          </a:xfrm>
        </p:spPr>
        <p:txBody>
          <a:bodyPr/>
          <a:lstStyle/>
          <a:p>
            <a:r>
              <a:rPr lang="ko-KR" altLang="en-US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분석 계획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D3E0EDE-2E24-49F7-9FD2-6E26E5B9BAD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0459354" y="71451"/>
            <a:ext cx="1814291" cy="249238"/>
          </a:xfrm>
        </p:spPr>
        <p:txBody>
          <a:bodyPr/>
          <a:lstStyle/>
          <a:p>
            <a:r>
              <a:rPr lang="en-US" altLang="ko-KR">
                <a:ea typeface="프리젠테이션 5 Medium" pitchFamily="2" charset="-127"/>
                <a:cs typeface="Arial" panose="020B0604020202020204" pitchFamily="34" charset="0"/>
              </a:rPr>
              <a:t>Biomarker</a:t>
            </a:r>
            <a:r>
              <a:rPr lang="ko-KR" altLang="en-US">
                <a:ea typeface="프리젠테이션 5 Medium" pitchFamily="2" charset="-127"/>
                <a:cs typeface="Arial" panose="020B0604020202020204" pitchFamily="34" charset="0"/>
              </a:rPr>
              <a:t> </a:t>
            </a:r>
            <a:r>
              <a:rPr lang="en-US" altLang="ko-KR">
                <a:ea typeface="프리젠테이션 5 Medium" pitchFamily="2" charset="-127"/>
                <a:cs typeface="Arial" panose="020B0604020202020204" pitchFamily="34" charset="0"/>
              </a:rPr>
              <a:t>Analysis</a:t>
            </a:r>
            <a:endParaRPr lang="ko-KR" altLang="en-US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520D3A65-1146-4CEF-9EAB-A72C53CBF77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D1590CB3-04AB-41F4-8980-BF850BE9A28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315FF033-972F-4F43-B6DB-CC979F645792}"/>
              </a:ext>
            </a:extLst>
          </p:cNvPr>
          <p:cNvSpPr txBox="1">
            <a:spLocks/>
          </p:cNvSpPr>
          <p:nvPr/>
        </p:nvSpPr>
        <p:spPr>
          <a:xfrm>
            <a:off x="950061" y="1062851"/>
            <a:ext cx="10756163" cy="14041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ko-KR" altLang="en-US" sz="2000">
              <a:latin typeface="Microsoft YaHei" panose="020B0503020204020204" pitchFamily="34" charset="-122"/>
              <a:ea typeface="Noto Sans KR" panose="020B0200000000000000" pitchFamily="50" charset="-127"/>
              <a:cs typeface="Arial" panose="020B0604020202020204" pitchFamily="34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5D449AB-05F6-438C-8F0C-83513575F724}"/>
              </a:ext>
            </a:extLst>
          </p:cNvPr>
          <p:cNvSpPr/>
          <p:nvPr/>
        </p:nvSpPr>
        <p:spPr>
          <a:xfrm>
            <a:off x="887780" y="1532437"/>
            <a:ext cx="10180056" cy="15978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ko-KR" sz="2000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Task1</a:t>
            </a:r>
            <a:r>
              <a:rPr lang="en-US" altLang="ko-KR" sz="20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 : </a:t>
            </a:r>
            <a:r>
              <a:rPr lang="ko-KR" altLang="en-US" sz="20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내장 지방 조직의 염증 반응 </a:t>
            </a:r>
            <a:r>
              <a:rPr lang="en-US" altLang="ko-KR" sz="20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(</a:t>
            </a:r>
            <a:r>
              <a:rPr lang="ko-KR" altLang="en-US" sz="20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면역세포</a:t>
            </a:r>
            <a:r>
              <a:rPr lang="en-US" altLang="ko-KR" sz="20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) &amp; </a:t>
            </a:r>
            <a:r>
              <a:rPr lang="ko-KR" altLang="en-US" sz="20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나이에 따라 어떻게 달라질지</a:t>
            </a:r>
            <a:endParaRPr lang="en-US" altLang="ko-KR" sz="2000">
              <a:latin typeface="Noto Sans KR" panose="020B0200000000000000" pitchFamily="50" charset="-127"/>
              <a:ea typeface="Noto Sans KR" panose="020B0200000000000000" pitchFamily="50" charset="-127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lang="en-US" altLang="ko-KR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Partial correlation analysis</a:t>
            </a:r>
            <a:r>
              <a:rPr lang="ko-KR" altLang="en-US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를 이용해 통제 변수를 </a:t>
            </a:r>
            <a:r>
              <a:rPr lang="en-US" altLang="ko-KR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BMI(+</a:t>
            </a:r>
            <a:r>
              <a:rPr lang="ko-KR" altLang="en-US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성별</a:t>
            </a:r>
            <a:r>
              <a:rPr lang="en-US" altLang="ko-KR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) </a:t>
            </a:r>
            <a:r>
              <a:rPr lang="ko-KR" altLang="en-US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로 두어서  </a:t>
            </a:r>
            <a:r>
              <a:rPr lang="en-US" altLang="ko-KR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correction</a:t>
            </a:r>
            <a:r>
              <a:rPr lang="ko-KR" altLang="en-US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한 후 </a:t>
            </a:r>
            <a:r>
              <a:rPr lang="en-US" altLang="ko-KR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, </a:t>
            </a:r>
            <a:r>
              <a:rPr lang="ko-KR" altLang="en-US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각 면역세포 </a:t>
            </a:r>
            <a:r>
              <a:rPr lang="en-US" altLang="ko-KR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&amp; </a:t>
            </a:r>
            <a:r>
              <a:rPr lang="ko-KR" altLang="en-US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나이와 </a:t>
            </a:r>
            <a:r>
              <a:rPr lang="en-US" altLang="ko-KR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partial correlation </a:t>
            </a:r>
            <a:r>
              <a:rPr lang="ko-KR" altLang="en-US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분석 </a:t>
            </a:r>
            <a:endParaRPr lang="en-US" altLang="ko-KR">
              <a:latin typeface="Noto Sans KR" panose="020B0200000000000000" pitchFamily="50" charset="-127"/>
              <a:ea typeface="Noto Sans KR" panose="020B0200000000000000" pitchFamily="50" charset="-127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lang="en-US" altLang="ko-KR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Partial Least Squares Regression</a:t>
            </a:r>
            <a:r>
              <a:rPr lang="ko-KR" altLang="en-US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로 나이를 설명하도록 회귀</a:t>
            </a:r>
            <a:r>
              <a:rPr lang="en-US" altLang="ko-KR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, </a:t>
            </a:r>
            <a:r>
              <a:rPr lang="ko-KR" altLang="en-US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가중치 분석</a:t>
            </a:r>
            <a:endParaRPr lang="en-US" altLang="ko-KR">
              <a:latin typeface="Noto Sans KR" panose="020B0200000000000000" pitchFamily="50" charset="-127"/>
              <a:ea typeface="Noto Sans KR" panose="020B0200000000000000" pitchFamily="50" charset="-127"/>
              <a:cs typeface="Arial" panose="020B0604020202020204" pitchFamily="34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0002B7F-F45E-4ACC-9333-408218290362}"/>
              </a:ext>
            </a:extLst>
          </p:cNvPr>
          <p:cNvSpPr/>
          <p:nvPr/>
        </p:nvSpPr>
        <p:spPr>
          <a:xfrm>
            <a:off x="887780" y="3727754"/>
            <a:ext cx="10416439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ko-KR" sz="2000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Task2</a:t>
            </a:r>
            <a:r>
              <a:rPr lang="en-US" altLang="ko-KR" sz="20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 : </a:t>
            </a:r>
            <a:r>
              <a:rPr lang="ko-KR" altLang="en-US" sz="20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내장 지방 조직의 염증 반응 </a:t>
            </a:r>
            <a:r>
              <a:rPr lang="en-US" altLang="ko-KR" sz="20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(</a:t>
            </a:r>
            <a:r>
              <a:rPr lang="ko-KR" altLang="en-US" sz="20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면역세포</a:t>
            </a:r>
            <a:r>
              <a:rPr lang="en-US" altLang="ko-KR" sz="20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, </a:t>
            </a:r>
            <a:r>
              <a:rPr lang="ko-KR" altLang="en-US" sz="2000" err="1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바이오마커</a:t>
            </a:r>
            <a:r>
              <a:rPr lang="en-US" altLang="ko-KR" sz="20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) &amp; </a:t>
            </a:r>
            <a:r>
              <a:rPr lang="ko-KR" altLang="en-US" sz="20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환자의 대사</a:t>
            </a:r>
            <a:r>
              <a:rPr lang="en-US" altLang="ko-KR" sz="20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, </a:t>
            </a:r>
            <a:r>
              <a:rPr lang="ko-KR" altLang="en-US" sz="20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간</a:t>
            </a:r>
            <a:r>
              <a:rPr lang="en-US" altLang="ko-KR" sz="20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, </a:t>
            </a:r>
            <a:r>
              <a:rPr lang="ko-KR" altLang="en-US" sz="20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신장 기능 평가와 어떤 관계를 보이는지</a:t>
            </a:r>
            <a:endParaRPr lang="en-US" altLang="ko-KR" sz="2000">
              <a:latin typeface="Noto Sans KR" panose="020B0200000000000000" pitchFamily="50" charset="-127"/>
              <a:ea typeface="Noto Sans KR" panose="020B0200000000000000" pitchFamily="50" charset="-127"/>
              <a:cs typeface="Arial" panose="020B0604020202020204" pitchFamily="34" charset="0"/>
            </a:endParaRPr>
          </a:p>
          <a:p>
            <a:endParaRPr lang="en-US" altLang="ko-KR">
              <a:latin typeface="Noto Sans KR" panose="020B0200000000000000" pitchFamily="50" charset="-127"/>
              <a:ea typeface="Noto Sans KR" panose="020B0200000000000000" pitchFamily="50" charset="-127"/>
              <a:cs typeface="Arial" panose="020B0604020202020204" pitchFamily="34" charset="0"/>
            </a:endParaRPr>
          </a:p>
          <a:p>
            <a:r>
              <a:rPr lang="en-US" altLang="ko-KR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KUMC(</a:t>
            </a:r>
            <a:r>
              <a:rPr lang="ko-KR" altLang="en-US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간</a:t>
            </a:r>
            <a:r>
              <a:rPr lang="en-US" altLang="ko-KR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)</a:t>
            </a:r>
            <a:r>
              <a:rPr lang="ko-KR" altLang="en-US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와 </a:t>
            </a:r>
            <a:r>
              <a:rPr lang="en-US" altLang="ko-KR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AMC(</a:t>
            </a:r>
            <a:r>
              <a:rPr lang="ko-KR" altLang="en-US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신장</a:t>
            </a:r>
            <a:r>
              <a:rPr lang="en-US" altLang="ko-KR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)</a:t>
            </a:r>
            <a:r>
              <a:rPr lang="ko-KR" altLang="en-US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을 기준으로 나눈 데이터를 가지고 </a:t>
            </a:r>
            <a:r>
              <a:rPr lang="en-US" altLang="ko-KR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(</a:t>
            </a:r>
            <a:r>
              <a:rPr lang="ko-KR" altLang="en-US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간</a:t>
            </a:r>
            <a:r>
              <a:rPr lang="en-US" altLang="ko-KR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, </a:t>
            </a:r>
            <a:r>
              <a:rPr lang="ko-KR" altLang="en-US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신장</a:t>
            </a:r>
            <a:r>
              <a:rPr lang="en-US" altLang="ko-KR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, </a:t>
            </a:r>
            <a:r>
              <a:rPr lang="ko-KR" altLang="en-US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대사 기능</a:t>
            </a:r>
            <a:r>
              <a:rPr lang="en-US" altLang="ko-KR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)</a:t>
            </a:r>
            <a:r>
              <a:rPr lang="ko-KR" altLang="en-US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 </a:t>
            </a:r>
            <a:r>
              <a:rPr lang="en-US" altLang="ko-KR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vs (</a:t>
            </a:r>
            <a:r>
              <a:rPr lang="ko-KR" altLang="en-US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면역세포</a:t>
            </a:r>
            <a:r>
              <a:rPr lang="en-US" altLang="ko-KR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)</a:t>
            </a:r>
            <a:r>
              <a:rPr lang="ko-KR" altLang="en-US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 분석</a:t>
            </a:r>
            <a:endParaRPr lang="en-US" altLang="ko-KR">
              <a:latin typeface="Noto Sans KR" panose="020B0200000000000000" pitchFamily="50" charset="-127"/>
              <a:ea typeface="Noto Sans KR" panose="020B0200000000000000" pitchFamily="50" charset="-127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lang="en-US" altLang="ko-KR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CCA</a:t>
            </a: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lang="en-US" altLang="ko-KR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Sparse CCA</a:t>
            </a:r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  <a:cs typeface="Arial" panose="020B0604020202020204" pitchFamily="34" charset="0"/>
            </a:endParaRPr>
          </a:p>
          <a:p>
            <a:endParaRPr lang="ko-KR" altLang="en-US" sz="2000">
              <a:latin typeface="Noto Sans KR" panose="020B0200000000000000" pitchFamily="50" charset="-127"/>
              <a:ea typeface="Noto Sans KR" panose="020B0200000000000000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74117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EC736457-E8A2-46E0-9829-CD4460234FF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78746" y="2802712"/>
            <a:ext cx="7634508" cy="1808618"/>
          </a:xfrm>
        </p:spPr>
        <p:txBody>
          <a:bodyPr/>
          <a:lstStyle/>
          <a:p>
            <a:r>
              <a:rPr lang="en-US" altLang="ko-KR" sz="4000" dirty="0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3. </a:t>
            </a:r>
            <a:r>
              <a:rPr lang="ko-KR" altLang="en-US" sz="4000" dirty="0" err="1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바이오마커</a:t>
            </a:r>
            <a:r>
              <a:rPr lang="en-US" altLang="ko-KR" sz="4000" dirty="0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 </a:t>
            </a:r>
            <a:r>
              <a:rPr lang="ko-KR" altLang="en-US" sz="4000" dirty="0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데이터셋 분석 결과</a:t>
            </a:r>
            <a:endParaRPr lang="en-US" altLang="ko-KR" sz="4000" dirty="0">
              <a:latin typeface="Microsoft YaHei" panose="020B0503020204020204" pitchFamily="34" charset="-122"/>
              <a:ea typeface="Noto Sans KR" panose="020B0200000000000000" pitchFamily="50" charset="-127"/>
              <a:cs typeface="Arial" panose="020B0604020202020204" pitchFamily="34" charset="0"/>
            </a:endParaRPr>
          </a:p>
          <a:p>
            <a:r>
              <a:rPr lang="en-US" altLang="ko-KR" sz="4000" dirty="0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Task1</a:t>
            </a:r>
            <a:endParaRPr lang="ko-KR" altLang="en-US" sz="4000" dirty="0">
              <a:latin typeface="Microsoft YaHei" panose="020B0503020204020204" pitchFamily="34" charset="-122"/>
              <a:ea typeface="Noto Sans KR" panose="020B0200000000000000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67573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415CE3D-03F6-4D09-9321-3D7FF3AF008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2B19318-762D-4FD0-A50B-207ABA46F30B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8B428AD-D08B-42BA-B289-D0DF1A1C81F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0061" y="71451"/>
            <a:ext cx="1752787" cy="249238"/>
          </a:xfrm>
        </p:spPr>
        <p:txBody>
          <a:bodyPr/>
          <a:lstStyle/>
          <a:p>
            <a:r>
              <a:rPr lang="ko-KR" altLang="en-US">
                <a:ea typeface="Noto Sans KR" panose="020B0200000000000000" pitchFamily="50" charset="-127"/>
                <a:cs typeface="Arial" panose="020B0604020202020204" pitchFamily="34" charset="0"/>
              </a:rPr>
              <a:t>분석 결과 </a:t>
            </a:r>
            <a:endParaRPr lang="ko-KR" altLang="en-US">
              <a:cs typeface="Arial" panose="020B0604020202020204" pitchFamily="34" charset="0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A9B8AF3-4FB1-4D41-BD6B-CBB401DE110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686B527-6459-4135-BE6D-D3190704AFA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2FC6C974-24DD-4A53-9CEC-41E5D8DF709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50062" y="426003"/>
            <a:ext cx="8479688" cy="443020"/>
          </a:xfrm>
        </p:spPr>
        <p:txBody>
          <a:bodyPr/>
          <a:lstStyle/>
          <a:p>
            <a:r>
              <a:rPr lang="en-US" altLang="ko-KR" sz="24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Task 1. </a:t>
            </a:r>
            <a:r>
              <a:rPr lang="ko-KR" altLang="en-US" sz="24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나이 ↔ </a:t>
            </a:r>
            <a:r>
              <a:rPr lang="en-US" altLang="ko-KR" sz="24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PAN% partial correlation analysis </a:t>
            </a:r>
            <a:r>
              <a:rPr lang="ko-KR" altLang="en-US" sz="24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 </a:t>
            </a:r>
            <a:r>
              <a:rPr lang="en-US" altLang="ko-KR" sz="24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 </a:t>
            </a:r>
            <a:endParaRPr lang="ko-KR" altLang="en-US" sz="2400">
              <a:latin typeface="Noto Sans KR" panose="020B0200000000000000" pitchFamily="50" charset="-127"/>
              <a:ea typeface="Noto Sans KR" panose="020B0200000000000000" pitchFamily="50" charset="-127"/>
              <a:cs typeface="Arial" panose="020B0604020202020204" pitchFamily="34" charset="0"/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D3E0EDE-2E24-49F7-9FD2-6E26E5B9BAD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0459354" y="71451"/>
            <a:ext cx="1814291" cy="249238"/>
          </a:xfrm>
        </p:spPr>
        <p:txBody>
          <a:bodyPr/>
          <a:lstStyle/>
          <a:p>
            <a:r>
              <a:rPr lang="en-US" altLang="ko-KR">
                <a:ea typeface="프리젠테이션 5 Medium" pitchFamily="2" charset="-127"/>
                <a:cs typeface="Arial" panose="020B0604020202020204" pitchFamily="34" charset="0"/>
              </a:rPr>
              <a:t>Biomarker</a:t>
            </a:r>
            <a:r>
              <a:rPr lang="ko-KR" altLang="en-US">
                <a:ea typeface="프리젠테이션 5 Medium" pitchFamily="2" charset="-127"/>
                <a:cs typeface="Arial" panose="020B0604020202020204" pitchFamily="34" charset="0"/>
              </a:rPr>
              <a:t> </a:t>
            </a:r>
            <a:r>
              <a:rPr lang="en-US" altLang="ko-KR">
                <a:ea typeface="프리젠테이션 5 Medium" pitchFamily="2" charset="-127"/>
                <a:cs typeface="Arial" panose="020B0604020202020204" pitchFamily="34" charset="0"/>
              </a:rPr>
              <a:t>Analysis</a:t>
            </a:r>
            <a:endParaRPr lang="ko-KR" altLang="en-US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520D3A65-1146-4CEF-9EAB-A72C53CBF77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D1590CB3-04AB-41F4-8980-BF850BE9A28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ko-KR" altLang="en-US"/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257A3BE0-0959-4242-A8CC-DA6F1653AF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8535514"/>
              </p:ext>
            </p:extLst>
          </p:nvPr>
        </p:nvGraphicFramePr>
        <p:xfrm>
          <a:off x="1339641" y="1053601"/>
          <a:ext cx="9512718" cy="4583398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585453">
                  <a:extLst>
                    <a:ext uri="{9D8B030D-6E8A-4147-A177-3AD203B41FA5}">
                      <a16:colId xmlns:a16="http://schemas.microsoft.com/office/drawing/2014/main" val="3817914715"/>
                    </a:ext>
                  </a:extLst>
                </a:gridCol>
                <a:gridCol w="1585453">
                  <a:extLst>
                    <a:ext uri="{9D8B030D-6E8A-4147-A177-3AD203B41FA5}">
                      <a16:colId xmlns:a16="http://schemas.microsoft.com/office/drawing/2014/main" val="403642707"/>
                    </a:ext>
                  </a:extLst>
                </a:gridCol>
                <a:gridCol w="1585453">
                  <a:extLst>
                    <a:ext uri="{9D8B030D-6E8A-4147-A177-3AD203B41FA5}">
                      <a16:colId xmlns:a16="http://schemas.microsoft.com/office/drawing/2014/main" val="2892634231"/>
                    </a:ext>
                  </a:extLst>
                </a:gridCol>
                <a:gridCol w="1585453">
                  <a:extLst>
                    <a:ext uri="{9D8B030D-6E8A-4147-A177-3AD203B41FA5}">
                      <a16:colId xmlns:a16="http://schemas.microsoft.com/office/drawing/2014/main" val="2291883617"/>
                    </a:ext>
                  </a:extLst>
                </a:gridCol>
                <a:gridCol w="1585453">
                  <a:extLst>
                    <a:ext uri="{9D8B030D-6E8A-4147-A177-3AD203B41FA5}">
                      <a16:colId xmlns:a16="http://schemas.microsoft.com/office/drawing/2014/main" val="3169242423"/>
                    </a:ext>
                  </a:extLst>
                </a:gridCol>
                <a:gridCol w="1585453">
                  <a:extLst>
                    <a:ext uri="{9D8B030D-6E8A-4147-A177-3AD203B41FA5}">
                      <a16:colId xmlns:a16="http://schemas.microsoft.com/office/drawing/2014/main" val="4222895381"/>
                    </a:ext>
                  </a:extLst>
                </a:gridCol>
              </a:tblGrid>
              <a:tr h="32195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PAN%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covar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Correlation 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r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CI95%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p-</a:t>
                      </a:r>
                      <a:r>
                        <a:rPr lang="en-US" altLang="ko-KR" sz="140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val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325752"/>
                  </a:ext>
                </a:extLst>
              </a:tr>
              <a:tr h="31370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B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BMI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pearson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kern="120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0.132268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kern="120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[-0.18, 0.42]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kern="120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0.397829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3259529"/>
                  </a:ext>
                </a:extLst>
              </a:tr>
              <a:tr h="3248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CD11b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BMI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pearson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kern="120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-0.253556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[-0.51, 0.05]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0.100876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701143451"/>
                  </a:ext>
                </a:extLst>
              </a:tr>
              <a:tr h="31370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HLADR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BMI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pearson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-0.305647</a:t>
                      </a:r>
                    </a:p>
                  </a:txBody>
                  <a:tcPr marL="76200" marR="76200" marT="38100" marB="3810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kern="120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[-0.56, -0.01]</a:t>
                      </a:r>
                      <a:endParaRPr lang="ko-KR" altLang="en-US" sz="1400"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6200" marR="76200" marT="38100" marB="3810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0.046241</a:t>
                      </a:r>
                    </a:p>
                  </a:txBody>
                  <a:tcPr marL="76200" marR="76200" marT="38100" marB="3810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0179066"/>
                  </a:ext>
                </a:extLst>
              </a:tr>
              <a:tr h="31370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NK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BMI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pearson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kern="120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-0.231679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[-0.5, 0.07]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0.134947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897869477"/>
                  </a:ext>
                </a:extLst>
              </a:tr>
              <a:tr h="33409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NKT1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BMI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pearson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kern="120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-0.138999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kern="120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[-0.42, 0.17]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0.374033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551693064"/>
                  </a:ext>
                </a:extLst>
              </a:tr>
              <a:tr h="31370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T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BMI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pearson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0.353325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[0.06, 0.59]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0.020117</a:t>
                      </a:r>
                    </a:p>
                  </a:txBody>
                  <a:tcPr marL="76200" marR="76200" marT="38100" marB="3810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529638"/>
                  </a:ext>
                </a:extLst>
              </a:tr>
              <a:tr h="4031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B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BMI + SEX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pearson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kern="120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0.10035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kern="120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[-0.21, 0.39]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kern="120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0.527183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6857672"/>
                  </a:ext>
                </a:extLst>
              </a:tr>
              <a:tr h="4031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CD11b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BMI + SEX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pearson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kern="120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-0.262178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 i="0" kern="120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[-0.52, 0.05]</a:t>
                      </a:r>
                      <a:endParaRPr lang="en-US" altLang="ko-KR" sz="1400"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6200" marR="76200" marT="38100" marB="381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 i="0" kern="120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0.093481</a:t>
                      </a:r>
                      <a:endParaRPr lang="en-US" altLang="ko-KR" sz="1400"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6200" marR="76200" marT="38100" marB="381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4667451"/>
                  </a:ext>
                </a:extLst>
              </a:tr>
              <a:tr h="3319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HLADR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BMI + SEX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pearson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 i="0" kern="120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-0.323769</a:t>
                      </a:r>
                      <a:endParaRPr lang="en-US" altLang="ko-KR" sz="1400"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6200" marR="76200" marT="38100" marB="3810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 i="0" kern="120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[-0.57, -0.02]</a:t>
                      </a:r>
                      <a:endParaRPr lang="ko-KR" altLang="en-US" sz="1400"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6200" marR="76200" marT="38100" marB="3810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 i="0" kern="120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0.03647</a:t>
                      </a:r>
                      <a:endParaRPr lang="en-US" altLang="ko-KR" sz="1400"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6200" marR="76200" marT="38100" marB="3810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5241846"/>
                  </a:ext>
                </a:extLst>
              </a:tr>
              <a:tr h="4031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NK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BMI + SEX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pearson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kern="120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-0.202946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 i="0" kern="120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[-0.48, 0.11]</a:t>
                      </a:r>
                      <a:endParaRPr lang="en-US" altLang="ko-KR" sz="1400"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6200" marR="76200" marT="38100" marB="381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 i="0" kern="120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0.197393</a:t>
                      </a:r>
                      <a:endParaRPr lang="en-US" altLang="ko-KR" sz="1400"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6200" marR="76200" marT="38100" marB="381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1683042"/>
                  </a:ext>
                </a:extLst>
              </a:tr>
              <a:tr h="4031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NKT1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BMI + SEX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pearson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kern="120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-0.120495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kern="120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[-0.41, 0.19]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 i="0" kern="120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0.447189</a:t>
                      </a:r>
                      <a:endParaRPr lang="en-US" altLang="ko-KR" sz="1400"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6200" marR="76200" marT="38100" marB="381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5941834"/>
                  </a:ext>
                </a:extLst>
              </a:tr>
              <a:tr h="4031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T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BMI + SEX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pearson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 i="0" kern="120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0.348037</a:t>
                      </a:r>
                      <a:endParaRPr lang="en-US" altLang="ko-KR" sz="1400"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6200" marR="76200" marT="38100" marB="3810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 i="0" kern="120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[0.05, 0.59]</a:t>
                      </a:r>
                      <a:endParaRPr lang="ko-KR" altLang="en-US" sz="1400"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6200" marR="76200" marT="38100" marB="3810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 i="0" kern="120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0.023908</a:t>
                      </a:r>
                      <a:endParaRPr lang="en-US" altLang="ko-KR" sz="1400"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6200" marR="76200" marT="38100" marB="3810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9252989"/>
                  </a:ext>
                </a:extLst>
              </a:tr>
            </a:tbl>
          </a:graphicData>
        </a:graphic>
      </p:graphicFrame>
      <p:sp>
        <p:nvSpPr>
          <p:cNvPr id="11" name="직사각형 10">
            <a:extLst>
              <a:ext uri="{FF2B5EF4-FFF2-40B4-BE49-F238E27FC236}">
                <a16:creationId xmlns:a16="http://schemas.microsoft.com/office/drawing/2014/main" id="{5093300C-B1B3-4430-8487-EFE99F540836}"/>
              </a:ext>
            </a:extLst>
          </p:cNvPr>
          <p:cNvSpPr/>
          <p:nvPr/>
        </p:nvSpPr>
        <p:spPr>
          <a:xfrm>
            <a:off x="984301" y="5854870"/>
            <a:ext cx="10439400" cy="90222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315FF033-972F-4F43-B6DB-CC979F645792}"/>
              </a:ext>
            </a:extLst>
          </p:cNvPr>
          <p:cNvSpPr txBox="1">
            <a:spLocks/>
          </p:cNvSpPr>
          <p:nvPr/>
        </p:nvSpPr>
        <p:spPr>
          <a:xfrm>
            <a:off x="1041501" y="5957817"/>
            <a:ext cx="10756163" cy="14041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16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결과</a:t>
            </a:r>
            <a:r>
              <a:rPr lang="en-US" altLang="ko-KR" sz="16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: BMI</a:t>
            </a:r>
            <a:r>
              <a:rPr lang="ko-KR" altLang="en-US" sz="16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를 통제하거나 </a:t>
            </a:r>
            <a:r>
              <a:rPr lang="en-US" altLang="ko-KR" sz="16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BMI</a:t>
            </a:r>
            <a:r>
              <a:rPr lang="ko-KR" altLang="en-US" sz="16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와 성별을 모두 통제했을 때</a:t>
            </a:r>
            <a:r>
              <a:rPr lang="en-US" altLang="ko-KR" sz="16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, HLADR</a:t>
            </a:r>
            <a:r>
              <a:rPr lang="ko-KR" altLang="en-US" sz="16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세포와 나이는 약 </a:t>
            </a:r>
            <a:r>
              <a:rPr lang="en-US" altLang="ko-KR" sz="16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-0.30</a:t>
            </a:r>
            <a:r>
              <a:rPr lang="ko-KR" altLang="en-US" sz="16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의 음의 상관관계를 가졌으며</a:t>
            </a:r>
            <a:r>
              <a:rPr lang="en-US" altLang="ko-KR" sz="16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,</a:t>
            </a:r>
          </a:p>
          <a:p>
            <a:pPr marL="0" indent="0">
              <a:buNone/>
            </a:pPr>
            <a:r>
              <a:rPr lang="en-US" altLang="ko-KR" sz="16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T</a:t>
            </a:r>
            <a:r>
              <a:rPr lang="ko-KR" altLang="en-US" sz="16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세포와 나이는 약 </a:t>
            </a:r>
            <a:r>
              <a:rPr lang="en-US" altLang="ko-KR" sz="16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0.34</a:t>
            </a:r>
            <a:r>
              <a:rPr lang="ko-KR" altLang="en-US" sz="16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의 양의 상관관계를 가짐</a:t>
            </a:r>
          </a:p>
        </p:txBody>
      </p:sp>
    </p:spTree>
    <p:extLst>
      <p:ext uri="{BB962C8B-B14F-4D97-AF65-F5344CB8AC3E}">
        <p14:creationId xmlns:p14="http://schemas.microsoft.com/office/powerpoint/2010/main" val="16394679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415CE3D-03F6-4D09-9321-3D7FF3AF008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2B19318-762D-4FD0-A50B-207ABA46F30B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8B428AD-D08B-42BA-B289-D0DF1A1C81F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0061" y="71451"/>
            <a:ext cx="1752787" cy="249238"/>
          </a:xfrm>
        </p:spPr>
        <p:txBody>
          <a:bodyPr/>
          <a:lstStyle/>
          <a:p>
            <a:r>
              <a:rPr lang="ko-KR" altLang="en-US">
                <a:ea typeface="Noto Sans KR" panose="020B0200000000000000" pitchFamily="50" charset="-127"/>
                <a:cs typeface="Arial" panose="020B0604020202020204" pitchFamily="34" charset="0"/>
              </a:rPr>
              <a:t>분석 결과 </a:t>
            </a:r>
            <a:endParaRPr lang="ko-KR" altLang="en-US">
              <a:cs typeface="Arial" panose="020B0604020202020204" pitchFamily="34" charset="0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A9B8AF3-4FB1-4D41-BD6B-CBB401DE110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686B527-6459-4135-BE6D-D3190704AFA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2FC6C974-24DD-4A53-9CEC-41E5D8DF709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50062" y="426003"/>
            <a:ext cx="8479688" cy="443020"/>
          </a:xfrm>
        </p:spPr>
        <p:txBody>
          <a:bodyPr/>
          <a:lstStyle/>
          <a:p>
            <a:r>
              <a:rPr lang="en-US" altLang="ko-KR" sz="24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Task 1. </a:t>
            </a:r>
            <a:r>
              <a:rPr lang="ko-KR" altLang="en-US" sz="24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나이 ↔ </a:t>
            </a:r>
            <a:r>
              <a:rPr lang="en-US" altLang="ko-KR" sz="24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T% partial correlation analysis </a:t>
            </a:r>
            <a:r>
              <a:rPr lang="ko-KR" altLang="en-US" sz="24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 </a:t>
            </a:r>
            <a:r>
              <a:rPr lang="en-US" altLang="ko-KR" sz="24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 </a:t>
            </a:r>
            <a:endParaRPr lang="ko-KR" altLang="en-US" sz="2400">
              <a:latin typeface="Noto Sans KR" panose="020B0200000000000000" pitchFamily="50" charset="-127"/>
              <a:ea typeface="Noto Sans KR" panose="020B0200000000000000" pitchFamily="50" charset="-127"/>
              <a:cs typeface="Arial" panose="020B0604020202020204" pitchFamily="34" charset="0"/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D3E0EDE-2E24-49F7-9FD2-6E26E5B9BAD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0459354" y="71451"/>
            <a:ext cx="1814291" cy="249238"/>
          </a:xfrm>
        </p:spPr>
        <p:txBody>
          <a:bodyPr/>
          <a:lstStyle/>
          <a:p>
            <a:r>
              <a:rPr lang="en-US" altLang="ko-KR">
                <a:ea typeface="프리젠테이션 5 Medium" pitchFamily="2" charset="-127"/>
                <a:cs typeface="Arial" panose="020B0604020202020204" pitchFamily="34" charset="0"/>
              </a:rPr>
              <a:t>Biomarker</a:t>
            </a:r>
            <a:r>
              <a:rPr lang="ko-KR" altLang="en-US">
                <a:ea typeface="프리젠테이션 5 Medium" pitchFamily="2" charset="-127"/>
                <a:cs typeface="Arial" panose="020B0604020202020204" pitchFamily="34" charset="0"/>
              </a:rPr>
              <a:t> </a:t>
            </a:r>
            <a:r>
              <a:rPr lang="en-US" altLang="ko-KR">
                <a:ea typeface="프리젠테이션 5 Medium" pitchFamily="2" charset="-127"/>
                <a:cs typeface="Arial" panose="020B0604020202020204" pitchFamily="34" charset="0"/>
              </a:rPr>
              <a:t>Analysis</a:t>
            </a:r>
            <a:endParaRPr lang="ko-KR" altLang="en-US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520D3A65-1146-4CEF-9EAB-A72C53CBF77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D1590CB3-04AB-41F4-8980-BF850BE9A28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093300C-B1B3-4430-8487-EFE99F540836}"/>
              </a:ext>
            </a:extLst>
          </p:cNvPr>
          <p:cNvSpPr/>
          <p:nvPr/>
        </p:nvSpPr>
        <p:spPr>
          <a:xfrm>
            <a:off x="876300" y="5826305"/>
            <a:ext cx="10439400" cy="8973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315FF033-972F-4F43-B6DB-CC979F645792}"/>
              </a:ext>
            </a:extLst>
          </p:cNvPr>
          <p:cNvSpPr txBox="1">
            <a:spLocks/>
          </p:cNvSpPr>
          <p:nvPr/>
        </p:nvSpPr>
        <p:spPr>
          <a:xfrm>
            <a:off x="984301" y="5835740"/>
            <a:ext cx="9933209" cy="14041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16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결과</a:t>
            </a:r>
            <a:r>
              <a:rPr lang="en-US" altLang="ko-KR" sz="16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: BMI</a:t>
            </a:r>
            <a:r>
              <a:rPr lang="ko-KR" altLang="en-US" sz="16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를 통제하거나 </a:t>
            </a:r>
            <a:r>
              <a:rPr lang="en-US" altLang="ko-KR" sz="16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BMI</a:t>
            </a:r>
            <a:r>
              <a:rPr lang="ko-KR" altLang="en-US" sz="16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와 성별을 모두 통제했을 때</a:t>
            </a:r>
            <a:r>
              <a:rPr lang="en-US" altLang="ko-KR" sz="16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, NKT2</a:t>
            </a:r>
            <a:r>
              <a:rPr lang="ko-KR" altLang="en-US" sz="16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와 나이는 약 </a:t>
            </a:r>
            <a:r>
              <a:rPr lang="en-US" altLang="ko-KR" sz="16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-0.35</a:t>
            </a:r>
            <a:r>
              <a:rPr lang="ko-KR" altLang="en-US" sz="16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의 음의 상관 관계를 가졌으며</a:t>
            </a:r>
            <a:r>
              <a:rPr lang="en-US" altLang="ko-KR" sz="16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, </a:t>
            </a:r>
            <a:r>
              <a:rPr lang="en-US" altLang="ko-KR" sz="1600" err="1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ConvT</a:t>
            </a:r>
            <a:r>
              <a:rPr lang="ko-KR" altLang="en-US" sz="16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와 나이는 약 </a:t>
            </a:r>
            <a:r>
              <a:rPr lang="en-US" altLang="ko-KR" sz="16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0.36</a:t>
            </a:r>
            <a:r>
              <a:rPr lang="ko-KR" altLang="en-US" sz="16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의 양의 상관 관계를 가짐</a:t>
            </a:r>
          </a:p>
        </p:txBody>
      </p:sp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249E769E-62CA-43A5-910C-50E5749B7BAA}"/>
              </a:ext>
            </a:extLst>
          </p:cNvPr>
          <p:cNvSpPr txBox="1">
            <a:spLocks/>
          </p:cNvSpPr>
          <p:nvPr/>
        </p:nvSpPr>
        <p:spPr>
          <a:xfrm>
            <a:off x="1040328" y="984048"/>
            <a:ext cx="10756163" cy="14041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600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T% </a:t>
            </a:r>
            <a:r>
              <a:rPr lang="ko-KR" altLang="en-US" sz="1600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데이터셋에는 </a:t>
            </a:r>
            <a:r>
              <a:rPr lang="ko-KR" altLang="en-US" sz="1600" err="1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결측치가</a:t>
            </a:r>
            <a:r>
              <a:rPr lang="ko-KR" altLang="en-US" sz="1600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 존재하기에 다중 대체를 가지고 채우고 분석 진행 </a:t>
            </a: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CFEED044-B520-4227-A5CB-700B713DE1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1703901"/>
              </p:ext>
            </p:extLst>
          </p:nvPr>
        </p:nvGraphicFramePr>
        <p:xfrm>
          <a:off x="1158348" y="1363114"/>
          <a:ext cx="9875304" cy="4247743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645884">
                  <a:extLst>
                    <a:ext uri="{9D8B030D-6E8A-4147-A177-3AD203B41FA5}">
                      <a16:colId xmlns:a16="http://schemas.microsoft.com/office/drawing/2014/main" val="3817914715"/>
                    </a:ext>
                  </a:extLst>
                </a:gridCol>
                <a:gridCol w="1645884">
                  <a:extLst>
                    <a:ext uri="{9D8B030D-6E8A-4147-A177-3AD203B41FA5}">
                      <a16:colId xmlns:a16="http://schemas.microsoft.com/office/drawing/2014/main" val="3940515057"/>
                    </a:ext>
                  </a:extLst>
                </a:gridCol>
                <a:gridCol w="1645884">
                  <a:extLst>
                    <a:ext uri="{9D8B030D-6E8A-4147-A177-3AD203B41FA5}">
                      <a16:colId xmlns:a16="http://schemas.microsoft.com/office/drawing/2014/main" val="2892634231"/>
                    </a:ext>
                  </a:extLst>
                </a:gridCol>
                <a:gridCol w="1645884">
                  <a:extLst>
                    <a:ext uri="{9D8B030D-6E8A-4147-A177-3AD203B41FA5}">
                      <a16:colId xmlns:a16="http://schemas.microsoft.com/office/drawing/2014/main" val="2291883617"/>
                    </a:ext>
                  </a:extLst>
                </a:gridCol>
                <a:gridCol w="1645884">
                  <a:extLst>
                    <a:ext uri="{9D8B030D-6E8A-4147-A177-3AD203B41FA5}">
                      <a16:colId xmlns:a16="http://schemas.microsoft.com/office/drawing/2014/main" val="3169242423"/>
                    </a:ext>
                  </a:extLst>
                </a:gridCol>
                <a:gridCol w="1645884">
                  <a:extLst>
                    <a:ext uri="{9D8B030D-6E8A-4147-A177-3AD203B41FA5}">
                      <a16:colId xmlns:a16="http://schemas.microsoft.com/office/drawing/2014/main" val="4222895381"/>
                    </a:ext>
                  </a:extLst>
                </a:gridCol>
              </a:tblGrid>
              <a:tr h="3978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T cell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Covar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Correlation 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r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CI95%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p-</a:t>
                      </a:r>
                      <a:r>
                        <a:rPr lang="en-US" altLang="ko-KR" sz="140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val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325752"/>
                  </a:ext>
                </a:extLst>
              </a:tr>
              <a:tr h="4117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NKT2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BMI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pearson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kern="120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-0.359211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kern="120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[-0.6, -0.07]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kern="120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0.017998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3259529"/>
                  </a:ext>
                </a:extLst>
              </a:tr>
              <a:tr h="4117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MAIT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BMI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pearson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kern="120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-0.164601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 i="0" kern="120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[-0.44, 0.14] </a:t>
                      </a:r>
                      <a:endParaRPr lang="en-US" altLang="ko-KR" sz="1400"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 i="0" kern="120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0.29153</a:t>
                      </a:r>
                      <a:endParaRPr lang="en-US" altLang="ko-KR" sz="1400"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701143451"/>
                  </a:ext>
                </a:extLst>
              </a:tr>
              <a:tr h="34469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gd1T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BMI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pearson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 i="0" kern="120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-0.282415</a:t>
                      </a:r>
                      <a:endParaRPr lang="en-US" altLang="ko-KR" sz="1400"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6200" marR="76200" marT="38100" marB="381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 i="0" kern="120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[-0.54, 0.02]</a:t>
                      </a:r>
                      <a:endParaRPr lang="ko-KR" altLang="en-US" sz="1400"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6200" marR="76200" marT="38100" marB="381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 i="0" kern="120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0.06652</a:t>
                      </a:r>
                      <a:endParaRPr lang="en-US" altLang="ko-KR" sz="1400"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6200" marR="76200" marT="38100" marB="381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0179066"/>
                  </a:ext>
                </a:extLst>
              </a:tr>
              <a:tr h="37460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gd2T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BMI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pearson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kern="120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-0.226657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 i="0" kern="120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[-0.49, 0.08]</a:t>
                      </a:r>
                      <a:endParaRPr lang="en-US" altLang="ko-KR" sz="1400"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6200" marR="76200" marT="38100" marB="381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 i="0" kern="120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0.143852</a:t>
                      </a:r>
                      <a:endParaRPr lang="en-US" altLang="ko-KR" sz="1400"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6200" marR="76200" marT="38100" marB="381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7869477"/>
                  </a:ext>
                </a:extLst>
              </a:tr>
              <a:tr h="34312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ConvT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BMI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pearson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kern="120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0.365427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kern="120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[0.07, 0.6]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 i="0" kern="120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0.015968</a:t>
                      </a:r>
                      <a:endParaRPr lang="en-US" altLang="ko-KR" sz="1400"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6200" marR="76200" marT="38100" marB="3810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1693064"/>
                  </a:ext>
                </a:extLst>
              </a:tr>
              <a:tr h="3927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NKT2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BMI + Sex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pearson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kern="120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-0.358728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kern="120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[-0.6, -0.06]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kern="120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0.019653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7006524"/>
                  </a:ext>
                </a:extLst>
              </a:tr>
              <a:tr h="3927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MAIT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BMI + Sex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pearson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kern="120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-0.186312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 i="0" kern="120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[-0.46, 0.12]</a:t>
                      </a:r>
                      <a:endParaRPr lang="en-US" altLang="ko-KR" sz="1400"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6200" marR="76200" marT="38100" marB="381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 i="0" kern="120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0.237451</a:t>
                      </a:r>
                      <a:endParaRPr lang="en-US" altLang="ko-KR" sz="1400"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6200" marR="76200" marT="38100" marB="381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2706814"/>
                  </a:ext>
                </a:extLst>
              </a:tr>
              <a:tr h="3927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gd1T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BMI + Sex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pearson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 i="0" kern="120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-0.279663 </a:t>
                      </a:r>
                      <a:endParaRPr lang="en-US" altLang="ko-KR" sz="1400"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6200" marR="76200" marT="38100" marB="381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 i="0" kern="120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[-0.54, 0.03]</a:t>
                      </a:r>
                      <a:endParaRPr lang="ko-KR" altLang="en-US" sz="1400"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6200" marR="76200" marT="38100" marB="381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 i="0" kern="120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0.072859</a:t>
                      </a:r>
                      <a:endParaRPr lang="en-US" altLang="ko-KR" sz="1400"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6200" marR="76200" marT="38100" marB="381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0366937"/>
                  </a:ext>
                </a:extLst>
              </a:tr>
              <a:tr h="3927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gd2T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BMI + Sex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pearson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kern="120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-0.231282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 i="0" kern="120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[-0.5, 0.08]</a:t>
                      </a:r>
                      <a:endParaRPr lang="en-US" altLang="ko-KR" sz="1400"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6200" marR="76200" marT="38100" marB="381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 i="0" kern="120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0.14056</a:t>
                      </a:r>
                      <a:endParaRPr lang="en-US" altLang="ko-KR" sz="1400"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6200" marR="76200" marT="38100" marB="381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8211925"/>
                  </a:ext>
                </a:extLst>
              </a:tr>
              <a:tr h="3927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ConvT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BMI + Sex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pearson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kern="120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0.378177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kern="120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[0.08, 0.61]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 i="0" kern="120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0.013535</a:t>
                      </a:r>
                      <a:endParaRPr lang="en-US" altLang="ko-KR" sz="1400"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6200" marR="76200" marT="38100" marB="3810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46232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99131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415CE3D-03F6-4D09-9321-3D7FF3AF008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2B19318-762D-4FD0-A50B-207ABA46F30B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8B428AD-D08B-42BA-B289-D0DF1A1C81F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0061" y="71451"/>
            <a:ext cx="1752787" cy="249238"/>
          </a:xfrm>
        </p:spPr>
        <p:txBody>
          <a:bodyPr/>
          <a:lstStyle/>
          <a:p>
            <a:r>
              <a:rPr lang="ko-KR" altLang="en-US">
                <a:ea typeface="Noto Sans KR" panose="020B0200000000000000" pitchFamily="50" charset="-127"/>
                <a:cs typeface="Arial" panose="020B0604020202020204" pitchFamily="34" charset="0"/>
              </a:rPr>
              <a:t>분석 결과 </a:t>
            </a:r>
            <a:endParaRPr lang="ko-KR" altLang="en-US">
              <a:cs typeface="Arial" panose="020B0604020202020204" pitchFamily="34" charset="0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A9B8AF3-4FB1-4D41-BD6B-CBB401DE110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686B527-6459-4135-BE6D-D3190704AFA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2FC6C974-24DD-4A53-9CEC-41E5D8DF709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50062" y="426003"/>
            <a:ext cx="8479688" cy="443020"/>
          </a:xfrm>
        </p:spPr>
        <p:txBody>
          <a:bodyPr/>
          <a:lstStyle/>
          <a:p>
            <a:r>
              <a:rPr lang="en-US" altLang="ko-KR" sz="24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Task 1. </a:t>
            </a:r>
            <a:r>
              <a:rPr lang="ko-KR" altLang="en-US" sz="24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나이 ↔ </a:t>
            </a:r>
            <a:r>
              <a:rPr lang="en-US" altLang="ko-KR" sz="24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 </a:t>
            </a:r>
            <a:r>
              <a:rPr lang="en-US" altLang="ko-KR" sz="2400" err="1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ConvT</a:t>
            </a:r>
            <a:r>
              <a:rPr lang="en-US" altLang="ko-KR" sz="24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%, CD20T%, </a:t>
            </a:r>
            <a:r>
              <a:rPr lang="en-US" altLang="ko-KR" sz="2400" err="1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Tsubset</a:t>
            </a:r>
            <a:r>
              <a:rPr lang="en-US" altLang="ko-KR" sz="24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%, B%</a:t>
            </a:r>
            <a:endParaRPr lang="ko-KR" altLang="en-US" sz="2400">
              <a:latin typeface="Noto Sans KR" panose="020B0200000000000000" pitchFamily="50" charset="-127"/>
              <a:ea typeface="Noto Sans KR" panose="020B0200000000000000" pitchFamily="50" charset="-127"/>
              <a:cs typeface="Arial" panose="020B0604020202020204" pitchFamily="34" charset="0"/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D3E0EDE-2E24-49F7-9FD2-6E26E5B9BAD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0459354" y="71451"/>
            <a:ext cx="1814291" cy="249238"/>
          </a:xfrm>
        </p:spPr>
        <p:txBody>
          <a:bodyPr/>
          <a:lstStyle/>
          <a:p>
            <a:r>
              <a:rPr lang="en-US" altLang="ko-KR">
                <a:ea typeface="프리젠테이션 5 Medium" pitchFamily="2" charset="-127"/>
                <a:cs typeface="Arial" panose="020B0604020202020204" pitchFamily="34" charset="0"/>
              </a:rPr>
              <a:t>Biomarker</a:t>
            </a:r>
            <a:r>
              <a:rPr lang="ko-KR" altLang="en-US">
                <a:ea typeface="프리젠테이션 5 Medium" pitchFamily="2" charset="-127"/>
                <a:cs typeface="Arial" panose="020B0604020202020204" pitchFamily="34" charset="0"/>
              </a:rPr>
              <a:t> </a:t>
            </a:r>
            <a:r>
              <a:rPr lang="en-US" altLang="ko-KR">
                <a:ea typeface="프리젠테이션 5 Medium" pitchFamily="2" charset="-127"/>
                <a:cs typeface="Arial" panose="020B0604020202020204" pitchFamily="34" charset="0"/>
              </a:rPr>
              <a:t>Analysis</a:t>
            </a:r>
            <a:endParaRPr lang="ko-KR" altLang="en-US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520D3A65-1146-4CEF-9EAB-A72C53CBF77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D1590CB3-04AB-41F4-8980-BF850BE9A28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2A63D63A-5863-4C97-9F42-76ED972C7B67}"/>
              </a:ext>
            </a:extLst>
          </p:cNvPr>
          <p:cNvSpPr txBox="1">
            <a:spLocks/>
          </p:cNvSpPr>
          <p:nvPr/>
        </p:nvSpPr>
        <p:spPr>
          <a:xfrm>
            <a:off x="1040329" y="984048"/>
            <a:ext cx="10255606" cy="14041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나머지 면역세포인 </a:t>
            </a:r>
            <a:r>
              <a:rPr lang="en-US" altLang="ko-KR" sz="1600" err="1">
                <a:latin typeface="Noto Sans KR" panose="020B0200000000000000" pitchFamily="50" charset="-127"/>
                <a:ea typeface="Noto Sans KR" panose="020B0200000000000000" pitchFamily="50" charset="-127"/>
              </a:rPr>
              <a:t>ConvT</a:t>
            </a:r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</a:rPr>
              <a:t>%, CD20T%, </a:t>
            </a:r>
            <a:r>
              <a:rPr lang="en-US" altLang="ko-KR" sz="1600" err="1">
                <a:latin typeface="Noto Sans KR" panose="020B0200000000000000" pitchFamily="50" charset="-127"/>
                <a:ea typeface="Noto Sans KR" panose="020B0200000000000000" pitchFamily="50" charset="-127"/>
              </a:rPr>
              <a:t>Tsubset</a:t>
            </a:r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</a:rPr>
              <a:t>%, B%</a:t>
            </a:r>
            <a:r>
              <a:rPr lang="ko-KR" altLang="en-US" sz="1600">
                <a:latin typeface="Noto Sans KR" panose="020B0200000000000000" pitchFamily="50" charset="-127"/>
                <a:ea typeface="Noto Sans KR" panose="020B0200000000000000" pitchFamily="50" charset="-127"/>
              </a:rPr>
              <a:t>의 </a:t>
            </a:r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</a:rPr>
              <a:t>partial correlation </a:t>
            </a:r>
            <a:r>
              <a:rPr lang="ko-KR" altLang="en-US" sz="1600">
                <a:latin typeface="Noto Sans KR" panose="020B0200000000000000" pitchFamily="50" charset="-127"/>
                <a:ea typeface="Noto Sans KR" panose="020B0200000000000000" pitchFamily="50" charset="-127"/>
              </a:rPr>
              <a:t>분석에서는 나이와 유의미한 결과가 나오지 않음</a:t>
            </a:r>
            <a:endParaRPr lang="ko-KR" altLang="en-US" sz="1600">
              <a:latin typeface="Noto Sans KR" panose="020B0200000000000000" pitchFamily="50" charset="-127"/>
              <a:ea typeface="Noto Sans KR" panose="020B0200000000000000" pitchFamily="50" charset="-127"/>
              <a:cs typeface="Arial" panose="020B0604020202020204" pitchFamily="34" charset="0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041F4AC9-9B74-4331-A5B9-7C07AB591A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72" y="1968698"/>
            <a:ext cx="2738768" cy="2165665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F37CF666-D364-4131-B5B7-965C56C9A1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72" y="4409816"/>
            <a:ext cx="2912399" cy="2325221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7DD8B3FF-934D-45AC-BE7F-EFCD3DBE37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9571" y="2019754"/>
            <a:ext cx="2809314" cy="1285421"/>
          </a:xfrm>
          <a:prstGeom prst="rect">
            <a:avLst/>
          </a:prstGeom>
        </p:spPr>
      </p:pic>
      <p:sp>
        <p:nvSpPr>
          <p:cNvPr id="18" name="내용 개체 틀 2">
            <a:extLst>
              <a:ext uri="{FF2B5EF4-FFF2-40B4-BE49-F238E27FC236}">
                <a16:creationId xmlns:a16="http://schemas.microsoft.com/office/drawing/2014/main" id="{278F5A3C-081C-41EB-9331-4A958FE7C2B5}"/>
              </a:ext>
            </a:extLst>
          </p:cNvPr>
          <p:cNvSpPr txBox="1">
            <a:spLocks/>
          </p:cNvSpPr>
          <p:nvPr/>
        </p:nvSpPr>
        <p:spPr>
          <a:xfrm>
            <a:off x="1365619" y="1649149"/>
            <a:ext cx="1472832" cy="3646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600" err="1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ConvT</a:t>
            </a:r>
            <a:endParaRPr lang="ko-KR" altLang="en-US" sz="1600">
              <a:latin typeface="Noto Sans KR" panose="020B0200000000000000" pitchFamily="50" charset="-127"/>
              <a:ea typeface="Noto Sans KR" panose="020B0200000000000000" pitchFamily="50" charset="-127"/>
              <a:cs typeface="Arial" panose="020B0604020202020204" pitchFamily="34" charset="0"/>
            </a:endParaRPr>
          </a:p>
        </p:txBody>
      </p:sp>
      <p:sp>
        <p:nvSpPr>
          <p:cNvPr id="19" name="내용 개체 틀 2">
            <a:extLst>
              <a:ext uri="{FF2B5EF4-FFF2-40B4-BE49-F238E27FC236}">
                <a16:creationId xmlns:a16="http://schemas.microsoft.com/office/drawing/2014/main" id="{8FED57AE-C89E-42E2-8FD0-EFB5BA2FF14F}"/>
              </a:ext>
            </a:extLst>
          </p:cNvPr>
          <p:cNvSpPr txBox="1">
            <a:spLocks/>
          </p:cNvSpPr>
          <p:nvPr/>
        </p:nvSpPr>
        <p:spPr>
          <a:xfrm>
            <a:off x="4242168" y="1627768"/>
            <a:ext cx="1472832" cy="3646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CD20T</a:t>
            </a:r>
            <a:endParaRPr lang="ko-KR" altLang="en-US" sz="1600">
              <a:latin typeface="Noto Sans KR" panose="020B0200000000000000" pitchFamily="50" charset="-127"/>
              <a:ea typeface="Noto Sans KR" panose="020B0200000000000000" pitchFamily="50" charset="-127"/>
              <a:cs typeface="Arial" panose="020B0604020202020204" pitchFamily="34" charset="0"/>
            </a:endParaRPr>
          </a:p>
        </p:txBody>
      </p:sp>
      <p:sp>
        <p:nvSpPr>
          <p:cNvPr id="21" name="내용 개체 틀 2">
            <a:extLst>
              <a:ext uri="{FF2B5EF4-FFF2-40B4-BE49-F238E27FC236}">
                <a16:creationId xmlns:a16="http://schemas.microsoft.com/office/drawing/2014/main" id="{1533DF9C-CC7E-418D-8A26-C90F003DA10A}"/>
              </a:ext>
            </a:extLst>
          </p:cNvPr>
          <p:cNvSpPr txBox="1">
            <a:spLocks/>
          </p:cNvSpPr>
          <p:nvPr/>
        </p:nvSpPr>
        <p:spPr>
          <a:xfrm>
            <a:off x="7298725" y="1627768"/>
            <a:ext cx="1472832" cy="3646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600" err="1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Tsubset</a:t>
            </a:r>
            <a:endParaRPr lang="ko-KR" altLang="en-US" sz="1600">
              <a:latin typeface="Noto Sans KR" panose="020B0200000000000000" pitchFamily="50" charset="-127"/>
              <a:ea typeface="Noto Sans KR" panose="020B0200000000000000" pitchFamily="50" charset="-127"/>
              <a:cs typeface="Arial" panose="020B0604020202020204" pitchFamily="34" charset="0"/>
            </a:endParaRP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4E4809A1-317D-4E02-83C2-2E739586A7B8}"/>
              </a:ext>
            </a:extLst>
          </p:cNvPr>
          <p:cNvSpPr txBox="1">
            <a:spLocks/>
          </p:cNvSpPr>
          <p:nvPr/>
        </p:nvSpPr>
        <p:spPr>
          <a:xfrm>
            <a:off x="10088415" y="1604000"/>
            <a:ext cx="1472832" cy="3646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B</a:t>
            </a:r>
            <a:endParaRPr lang="ko-KR" altLang="en-US" sz="1600">
              <a:latin typeface="Noto Sans KR" panose="020B0200000000000000" pitchFamily="50" charset="-127"/>
              <a:ea typeface="Noto Sans KR" panose="020B0200000000000000" pitchFamily="50" charset="-127"/>
              <a:cs typeface="Arial" panose="020B0604020202020204" pitchFamily="34" charset="0"/>
            </a:endParaRP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893A1858-C55B-415A-85E8-F720211991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9859" y="2013847"/>
            <a:ext cx="2221388" cy="2252993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986C5C70-0252-4A8A-BD98-78C910F8F28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39859" y="4409815"/>
            <a:ext cx="2256563" cy="2325221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CE2A50DF-F157-44F6-8B76-8BA1409A9F8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41288" y="1874673"/>
            <a:ext cx="2522302" cy="3461297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2765E3FA-3F54-4DE9-9F18-E17BE856CA8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41289" y="5296639"/>
            <a:ext cx="2522302" cy="1454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5746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415CE3D-03F6-4D09-9321-3D7FF3AF008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2B19318-762D-4FD0-A50B-207ABA46F30B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8B428AD-D08B-42BA-B289-D0DF1A1C81F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0061" y="71451"/>
            <a:ext cx="1752787" cy="249238"/>
          </a:xfrm>
        </p:spPr>
        <p:txBody>
          <a:bodyPr/>
          <a:lstStyle/>
          <a:p>
            <a:r>
              <a:rPr lang="ko-KR" altLang="en-US">
                <a:ea typeface="Noto Sans KR" panose="020B0200000000000000" pitchFamily="50" charset="-127"/>
                <a:cs typeface="Arial" panose="020B0604020202020204" pitchFamily="34" charset="0"/>
              </a:rPr>
              <a:t>분석 결과 </a:t>
            </a:r>
            <a:endParaRPr lang="ko-KR" altLang="en-US">
              <a:cs typeface="Arial" panose="020B0604020202020204" pitchFamily="34" charset="0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A9B8AF3-4FB1-4D41-BD6B-CBB401DE110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686B527-6459-4135-BE6D-D3190704AFA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2FC6C974-24DD-4A53-9CEC-41E5D8DF709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50062" y="426003"/>
            <a:ext cx="8479688" cy="443020"/>
          </a:xfrm>
        </p:spPr>
        <p:txBody>
          <a:bodyPr/>
          <a:lstStyle/>
          <a:p>
            <a:r>
              <a:rPr lang="en-US" altLang="ko-KR" sz="24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Task 1. </a:t>
            </a:r>
            <a:r>
              <a:rPr lang="ko-KR" altLang="en-US" sz="24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나이 ↔ 면역세포 </a:t>
            </a:r>
            <a:r>
              <a:rPr lang="en-US" altLang="ko-KR" sz="24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Partial least squares regression</a:t>
            </a:r>
            <a:endParaRPr lang="ko-KR" altLang="en-US" sz="2400">
              <a:latin typeface="Noto Sans KR" panose="020B0200000000000000" pitchFamily="50" charset="-127"/>
              <a:ea typeface="Noto Sans KR" panose="020B0200000000000000" pitchFamily="50" charset="-127"/>
              <a:cs typeface="Arial" panose="020B0604020202020204" pitchFamily="34" charset="0"/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D3E0EDE-2E24-49F7-9FD2-6E26E5B9BAD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0459354" y="71451"/>
            <a:ext cx="1814291" cy="249238"/>
          </a:xfrm>
        </p:spPr>
        <p:txBody>
          <a:bodyPr/>
          <a:lstStyle/>
          <a:p>
            <a:r>
              <a:rPr lang="en-US" altLang="ko-KR">
                <a:ea typeface="프리젠테이션 5 Medium" pitchFamily="2" charset="-127"/>
                <a:cs typeface="Arial" panose="020B0604020202020204" pitchFamily="34" charset="0"/>
              </a:rPr>
              <a:t>Biomarker</a:t>
            </a:r>
            <a:r>
              <a:rPr lang="ko-KR" altLang="en-US">
                <a:ea typeface="프리젠테이션 5 Medium" pitchFamily="2" charset="-127"/>
                <a:cs typeface="Arial" panose="020B0604020202020204" pitchFamily="34" charset="0"/>
              </a:rPr>
              <a:t> </a:t>
            </a:r>
            <a:r>
              <a:rPr lang="en-US" altLang="ko-KR">
                <a:ea typeface="프리젠테이션 5 Medium" pitchFamily="2" charset="-127"/>
                <a:cs typeface="Arial" panose="020B0604020202020204" pitchFamily="34" charset="0"/>
              </a:rPr>
              <a:t>Analysis</a:t>
            </a:r>
            <a:endParaRPr lang="ko-KR" altLang="en-US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520D3A65-1146-4CEF-9EAB-A72C53CBF77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D1590CB3-04AB-41F4-8980-BF850BE9A28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249E769E-62CA-43A5-910C-50E5749B7BAA}"/>
              </a:ext>
            </a:extLst>
          </p:cNvPr>
          <p:cNvSpPr txBox="1">
            <a:spLocks/>
          </p:cNvSpPr>
          <p:nvPr/>
        </p:nvSpPr>
        <p:spPr>
          <a:xfrm>
            <a:off x="1040328" y="984048"/>
            <a:ext cx="10756163" cy="14041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600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나이와 각 면역세포군 사이 </a:t>
            </a:r>
            <a:r>
              <a:rPr lang="en-US" altLang="ko-KR" sz="1600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partial least squares regression </a:t>
            </a:r>
            <a:r>
              <a:rPr lang="ko-KR" altLang="en-US" sz="1600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분석</a:t>
            </a:r>
            <a:endParaRPr lang="en-US" altLang="ko-KR" sz="1600">
              <a:latin typeface="Microsoft YaHei" panose="020B0503020204020204" pitchFamily="34" charset="-122"/>
              <a:ea typeface="Noto Sans KR" panose="020B0200000000000000" pitchFamily="50" charset="-127"/>
              <a:cs typeface="Arial" panose="020B0604020202020204" pitchFamily="34" charset="0"/>
            </a:endParaRPr>
          </a:p>
          <a:p>
            <a:r>
              <a:rPr lang="en-US" altLang="ko-KR" sz="1600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Permutation test </a:t>
            </a:r>
            <a:r>
              <a:rPr lang="ko-KR" altLang="en-US" sz="1600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를 통과하지 못해 유의미한 결과</a:t>
            </a:r>
            <a:r>
              <a:rPr lang="en-US" altLang="ko-KR" sz="1600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 x</a:t>
            </a:r>
            <a:endParaRPr lang="ko-KR" altLang="en-US" sz="1600">
              <a:latin typeface="Microsoft YaHei" panose="020B0503020204020204" pitchFamily="34" charset="-122"/>
              <a:ea typeface="Noto Sans KR" panose="020B0200000000000000" pitchFamily="50" charset="-127"/>
              <a:cs typeface="Arial" panose="020B0604020202020204" pitchFamily="34" charset="0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7A5F3C0A-9047-4B00-8E7A-F05AAD8539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091" y="1788446"/>
            <a:ext cx="3639765" cy="2033793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0E34613B-01BD-4699-BA5D-4484B8F90F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0622" y="1778570"/>
            <a:ext cx="3972303" cy="2014126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AE16A06B-8B2F-468E-B878-5ADF460298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8691" y="1686110"/>
            <a:ext cx="3172208" cy="2280024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1C0388D3-3817-4413-BB37-44004086EC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36091" y="3823924"/>
            <a:ext cx="4119938" cy="1997987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7B8EFA1C-215D-4B51-999C-62F91524312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57977" y="3966134"/>
            <a:ext cx="3890848" cy="1979435"/>
          </a:xfrm>
          <a:prstGeom prst="rect">
            <a:avLst/>
          </a:prstGeom>
        </p:spPr>
      </p:pic>
      <p:sp>
        <p:nvSpPr>
          <p:cNvPr id="21" name="직사각형 20">
            <a:extLst>
              <a:ext uri="{FF2B5EF4-FFF2-40B4-BE49-F238E27FC236}">
                <a16:creationId xmlns:a16="http://schemas.microsoft.com/office/drawing/2014/main" id="{932F7F1A-E626-42E7-B5B2-16890B7B0495}"/>
              </a:ext>
            </a:extLst>
          </p:cNvPr>
          <p:cNvSpPr/>
          <p:nvPr/>
        </p:nvSpPr>
        <p:spPr>
          <a:xfrm>
            <a:off x="869950" y="6013148"/>
            <a:ext cx="10496550" cy="728275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CBA51AF-E899-44D7-ACE9-127DE77EF721}"/>
              </a:ext>
            </a:extLst>
          </p:cNvPr>
          <p:cNvSpPr txBox="1">
            <a:spLocks/>
          </p:cNvSpPr>
          <p:nvPr/>
        </p:nvSpPr>
        <p:spPr>
          <a:xfrm>
            <a:off x="950061" y="5982672"/>
            <a:ext cx="9987588" cy="11396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16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결과</a:t>
            </a:r>
            <a:r>
              <a:rPr lang="en-US" altLang="ko-KR" sz="16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: </a:t>
            </a:r>
            <a:r>
              <a:rPr lang="ko-KR" altLang="en-US" sz="1600" err="1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단변량에서는</a:t>
            </a:r>
            <a:r>
              <a:rPr lang="ko-KR" altLang="en-US" sz="16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 특정 세포와 나이의 상관 신호가 보였으나</a:t>
            </a:r>
            <a:r>
              <a:rPr lang="en-US" altLang="ko-KR" sz="16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, PLSR</a:t>
            </a:r>
            <a:r>
              <a:rPr lang="ko-KR" altLang="en-US" sz="16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은 여러 변수를 한번에 보기 때문에 신호가 분산되어 전체 모델의 유의성이 확보되지 않음 </a:t>
            </a:r>
            <a:r>
              <a:rPr lang="en-US" altLang="ko-KR" sz="16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 </a:t>
            </a:r>
            <a:endParaRPr lang="ko-KR" altLang="en-US" sz="1600">
              <a:solidFill>
                <a:schemeClr val="bg1"/>
              </a:solidFill>
              <a:latin typeface="Microsoft YaHei" panose="020B0503020204020204" pitchFamily="34" charset="-122"/>
              <a:ea typeface="Noto Sans KR" panose="020B0200000000000000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51340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EC736457-E8A2-46E0-9829-CD4460234FF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78746" y="2802712"/>
            <a:ext cx="7634508" cy="1808618"/>
          </a:xfrm>
        </p:spPr>
        <p:txBody>
          <a:bodyPr/>
          <a:lstStyle/>
          <a:p>
            <a:r>
              <a:rPr lang="en-US" altLang="ko-KR" sz="4000" dirty="0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4. </a:t>
            </a:r>
            <a:r>
              <a:rPr lang="ko-KR" altLang="en-US" sz="4000" dirty="0" err="1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바이오마커</a:t>
            </a:r>
            <a:r>
              <a:rPr lang="en-US" altLang="ko-KR" sz="4000" dirty="0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 </a:t>
            </a:r>
            <a:r>
              <a:rPr lang="ko-KR" altLang="en-US" sz="4000" dirty="0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데이터셋 분석 결과</a:t>
            </a:r>
            <a:endParaRPr lang="en-US" altLang="ko-KR" sz="4000" dirty="0">
              <a:latin typeface="Microsoft YaHei" panose="020B0503020204020204" pitchFamily="34" charset="-122"/>
              <a:ea typeface="Noto Sans KR" panose="020B0200000000000000" pitchFamily="50" charset="-127"/>
              <a:cs typeface="Arial" panose="020B0604020202020204" pitchFamily="34" charset="0"/>
            </a:endParaRPr>
          </a:p>
          <a:p>
            <a:r>
              <a:rPr lang="en-US" altLang="ko-KR" sz="4000" dirty="0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Task2</a:t>
            </a:r>
            <a:endParaRPr lang="ko-KR" altLang="en-US" sz="4000" dirty="0">
              <a:latin typeface="Microsoft YaHei" panose="020B0503020204020204" pitchFamily="34" charset="-122"/>
              <a:ea typeface="Noto Sans KR" panose="020B0200000000000000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00301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직사각형 34">
            <a:extLst>
              <a:ext uri="{FF2B5EF4-FFF2-40B4-BE49-F238E27FC236}">
                <a16:creationId xmlns:a16="http://schemas.microsoft.com/office/drawing/2014/main" id="{B2ADEB5F-0F5D-4361-A4D2-8FDE9847E94E}"/>
              </a:ext>
            </a:extLst>
          </p:cNvPr>
          <p:cNvSpPr/>
          <p:nvPr/>
        </p:nvSpPr>
        <p:spPr>
          <a:xfrm>
            <a:off x="9552902" y="2940746"/>
            <a:ext cx="2179661" cy="197726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0CE50B18-DA5D-4834-95B8-78678100A538}"/>
              </a:ext>
            </a:extLst>
          </p:cNvPr>
          <p:cNvSpPr/>
          <p:nvPr/>
        </p:nvSpPr>
        <p:spPr>
          <a:xfrm>
            <a:off x="209550" y="2981325"/>
            <a:ext cx="2179661" cy="197726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415CE3D-03F6-4D09-9321-3D7FF3AF008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2B19318-762D-4FD0-A50B-207ABA46F30B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8B428AD-D08B-42BA-B289-D0DF1A1C81F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0061" y="71451"/>
            <a:ext cx="1752787" cy="249238"/>
          </a:xfrm>
        </p:spPr>
        <p:txBody>
          <a:bodyPr/>
          <a:lstStyle/>
          <a:p>
            <a:r>
              <a:rPr lang="ko-KR" altLang="en-US">
                <a:ea typeface="Noto Sans KR" panose="020B0200000000000000" pitchFamily="50" charset="-127"/>
                <a:cs typeface="Arial" panose="020B0604020202020204" pitchFamily="34" charset="0"/>
              </a:rPr>
              <a:t>분석 결과 </a:t>
            </a:r>
            <a:endParaRPr lang="ko-KR" altLang="en-US">
              <a:cs typeface="Arial" panose="020B0604020202020204" pitchFamily="34" charset="0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A9B8AF3-4FB1-4D41-BD6B-CBB401DE110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686B527-6459-4135-BE6D-D3190704AFA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2FC6C974-24DD-4A53-9CEC-41E5D8DF709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50061" y="426003"/>
            <a:ext cx="10595933" cy="443020"/>
          </a:xfrm>
        </p:spPr>
        <p:txBody>
          <a:bodyPr/>
          <a:lstStyle/>
          <a:p>
            <a:r>
              <a:rPr lang="en-US" altLang="ko-KR" sz="24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Task 2- KUMC(</a:t>
            </a:r>
            <a:r>
              <a:rPr lang="ko-KR" altLang="en-US" sz="24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간</a:t>
            </a:r>
            <a:r>
              <a:rPr lang="en-US" altLang="ko-KR" sz="24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) – PAN% sparse Canonical Correlation Analysis(</a:t>
            </a:r>
            <a:r>
              <a:rPr lang="en-US" altLang="ko-KR" sz="2400" err="1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sCCA</a:t>
            </a:r>
            <a:r>
              <a:rPr lang="en-US" altLang="ko-KR" sz="24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) </a:t>
            </a:r>
            <a:endParaRPr lang="ko-KR" altLang="en-US" sz="2400">
              <a:latin typeface="Noto Sans KR" panose="020B0200000000000000" pitchFamily="50" charset="-127"/>
              <a:ea typeface="Noto Sans KR" panose="020B0200000000000000" pitchFamily="50" charset="-127"/>
              <a:cs typeface="Arial" panose="020B0604020202020204" pitchFamily="34" charset="0"/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D3E0EDE-2E24-49F7-9FD2-6E26E5B9BAD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0459354" y="71451"/>
            <a:ext cx="1814291" cy="249238"/>
          </a:xfrm>
        </p:spPr>
        <p:txBody>
          <a:bodyPr/>
          <a:lstStyle/>
          <a:p>
            <a:r>
              <a:rPr lang="en-US" altLang="ko-KR">
                <a:ea typeface="프리젠테이션 5 Medium" pitchFamily="2" charset="-127"/>
                <a:cs typeface="Arial" panose="020B0604020202020204" pitchFamily="34" charset="0"/>
              </a:rPr>
              <a:t>Biomarker</a:t>
            </a:r>
            <a:r>
              <a:rPr lang="ko-KR" altLang="en-US">
                <a:ea typeface="프리젠테이션 5 Medium" pitchFamily="2" charset="-127"/>
                <a:cs typeface="Arial" panose="020B0604020202020204" pitchFamily="34" charset="0"/>
              </a:rPr>
              <a:t> </a:t>
            </a:r>
            <a:r>
              <a:rPr lang="en-US" altLang="ko-KR">
                <a:ea typeface="프리젠테이션 5 Medium" pitchFamily="2" charset="-127"/>
                <a:cs typeface="Arial" panose="020B0604020202020204" pitchFamily="34" charset="0"/>
              </a:rPr>
              <a:t>Analysis</a:t>
            </a:r>
            <a:endParaRPr lang="ko-KR" altLang="en-US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520D3A65-1146-4CEF-9EAB-A72C53CBF77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D1590CB3-04AB-41F4-8980-BF850BE9A28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249E769E-62CA-43A5-910C-50E5749B7BAA}"/>
              </a:ext>
            </a:extLst>
          </p:cNvPr>
          <p:cNvSpPr txBox="1">
            <a:spLocks/>
          </p:cNvSpPr>
          <p:nvPr/>
        </p:nvSpPr>
        <p:spPr>
          <a:xfrm>
            <a:off x="984301" y="1045826"/>
            <a:ext cx="10756163" cy="4430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600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KUMC</a:t>
            </a:r>
            <a:r>
              <a:rPr lang="ko-KR" altLang="en-US" sz="1600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는 간 주변의 지방 조직의 면역 세포 비율</a:t>
            </a:r>
            <a:r>
              <a:rPr lang="en-US" altLang="ko-KR" sz="1600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, </a:t>
            </a:r>
            <a:r>
              <a:rPr lang="ko-KR" altLang="en-US" sz="1600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숫자 등을 분석한 코호트</a:t>
            </a:r>
            <a:r>
              <a:rPr lang="en-US" altLang="ko-KR" sz="1600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 – </a:t>
            </a:r>
            <a:r>
              <a:rPr lang="ko-KR" altLang="en-US" sz="1600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표본</a:t>
            </a:r>
            <a:r>
              <a:rPr lang="en-US" altLang="ko-KR" sz="1600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: 22</a:t>
            </a:r>
            <a:r>
              <a:rPr lang="ko-KR" altLang="en-US" sz="1600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명</a:t>
            </a:r>
            <a:endParaRPr lang="en-US" altLang="ko-KR" sz="1600">
              <a:latin typeface="Microsoft YaHei" panose="020B0503020204020204" pitchFamily="34" charset="-122"/>
              <a:ea typeface="Noto Sans KR" panose="020B0200000000000000" pitchFamily="50" charset="-127"/>
              <a:cs typeface="Arial" panose="020B0604020202020204" pitchFamily="34" charset="0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7A08C9DF-6DB5-42D4-BB1E-4DE911958B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0405" y="2213983"/>
            <a:ext cx="6672902" cy="2770538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B415D30F-EC06-441F-AA56-13976B8D2C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0295" y="1381076"/>
            <a:ext cx="7859222" cy="704948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6E25A0B5-2A1C-45F3-B547-F7549EA30B17}"/>
              </a:ext>
            </a:extLst>
          </p:cNvPr>
          <p:cNvSpPr/>
          <p:nvPr/>
        </p:nvSpPr>
        <p:spPr>
          <a:xfrm>
            <a:off x="4512809" y="5169147"/>
            <a:ext cx="286809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>
                <a:latin typeface="Consolas" panose="020B0609020204030204" pitchFamily="49" charset="0"/>
              </a:rPr>
              <a:t>Permutation p-value: 0.0200</a:t>
            </a:r>
            <a:endParaRPr lang="ko-KR" altLang="en-US" sz="1400"/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844C86E0-1359-415A-B6B8-097735692E6E}"/>
              </a:ext>
            </a:extLst>
          </p:cNvPr>
          <p:cNvCxnSpPr>
            <a:cxnSpLocks/>
          </p:cNvCxnSpPr>
          <p:nvPr/>
        </p:nvCxnSpPr>
        <p:spPr>
          <a:xfrm flipH="1" flipV="1">
            <a:off x="2389211" y="4286250"/>
            <a:ext cx="754041" cy="35242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588E3395-A370-4EB0-8E1B-8B859478C210}"/>
              </a:ext>
            </a:extLst>
          </p:cNvPr>
          <p:cNvCxnSpPr>
            <a:cxnSpLocks/>
          </p:cNvCxnSpPr>
          <p:nvPr/>
        </p:nvCxnSpPr>
        <p:spPr>
          <a:xfrm flipV="1">
            <a:off x="8560044" y="4195655"/>
            <a:ext cx="992858" cy="47327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그림 24">
            <a:extLst>
              <a:ext uri="{FF2B5EF4-FFF2-40B4-BE49-F238E27FC236}">
                <a16:creationId xmlns:a16="http://schemas.microsoft.com/office/drawing/2014/main" id="{08291EA4-E122-4FDF-A8F1-CD32461538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8483" y="3140788"/>
            <a:ext cx="1857634" cy="34294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359B692C-D239-4278-B8B1-44932BDF3F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74096" y="3238020"/>
            <a:ext cx="1943371" cy="25721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524CE6E5-AFD7-449A-9BA8-00452EEC85D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8009" y="3689122"/>
            <a:ext cx="1848108" cy="457264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DB9838C5-B1EF-4841-A8D3-2CD142DFA58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8483" y="4209976"/>
            <a:ext cx="1219370" cy="533474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E0353930-7CD7-4125-98FA-6A94A34EB96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55045" y="3665483"/>
            <a:ext cx="1790950" cy="504895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3AAF51DF-E251-46EC-AB7E-CCA8DD41EEF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55045" y="4268766"/>
            <a:ext cx="1286054" cy="466790"/>
          </a:xfrm>
          <a:prstGeom prst="rect">
            <a:avLst/>
          </a:prstGeom>
        </p:spPr>
      </p:pic>
      <p:sp>
        <p:nvSpPr>
          <p:cNvPr id="37" name="직사각형 36">
            <a:extLst>
              <a:ext uri="{FF2B5EF4-FFF2-40B4-BE49-F238E27FC236}">
                <a16:creationId xmlns:a16="http://schemas.microsoft.com/office/drawing/2014/main" id="{684B1799-6C9B-408C-8955-A9D512888F5A}"/>
              </a:ext>
            </a:extLst>
          </p:cNvPr>
          <p:cNvSpPr/>
          <p:nvPr/>
        </p:nvSpPr>
        <p:spPr>
          <a:xfrm>
            <a:off x="864656" y="5668425"/>
            <a:ext cx="10439400" cy="89164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내용 개체 틀 2">
            <a:extLst>
              <a:ext uri="{FF2B5EF4-FFF2-40B4-BE49-F238E27FC236}">
                <a16:creationId xmlns:a16="http://schemas.microsoft.com/office/drawing/2014/main" id="{96573BF7-5BCB-403C-B36F-45A25C009EA8}"/>
              </a:ext>
            </a:extLst>
          </p:cNvPr>
          <p:cNvSpPr txBox="1">
            <a:spLocks/>
          </p:cNvSpPr>
          <p:nvPr/>
        </p:nvSpPr>
        <p:spPr>
          <a:xfrm>
            <a:off x="1056752" y="5715304"/>
            <a:ext cx="9916046" cy="7623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14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결과</a:t>
            </a:r>
            <a:r>
              <a:rPr lang="en-US" altLang="ko-KR" sz="14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: PAN%</a:t>
            </a:r>
            <a:r>
              <a:rPr lang="ko-KR" altLang="en-US" sz="14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와 간</a:t>
            </a:r>
            <a:r>
              <a:rPr lang="en-US" altLang="ko-KR" sz="14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,</a:t>
            </a:r>
            <a:r>
              <a:rPr lang="ko-KR" altLang="en-US" sz="14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신장</a:t>
            </a:r>
            <a:r>
              <a:rPr lang="en-US" altLang="ko-KR" sz="14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,</a:t>
            </a:r>
            <a:r>
              <a:rPr lang="ko-KR" altLang="en-US" sz="14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대사 사이에 </a:t>
            </a:r>
            <a:r>
              <a:rPr lang="en-US" altLang="ko-KR" sz="1400" err="1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sCCA</a:t>
            </a:r>
            <a:r>
              <a:rPr lang="en-US" altLang="ko-KR" sz="14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 </a:t>
            </a:r>
            <a:r>
              <a:rPr lang="ko-KR" altLang="en-US" sz="14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분석을 하였을 때</a:t>
            </a:r>
            <a:r>
              <a:rPr lang="en-US" altLang="ko-KR" sz="14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, </a:t>
            </a:r>
            <a:r>
              <a:rPr lang="ko-KR" altLang="en-US" sz="14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최적의 </a:t>
            </a:r>
            <a:r>
              <a:rPr lang="en-US" altLang="ko-KR" sz="14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n components</a:t>
            </a:r>
            <a:r>
              <a:rPr lang="ko-KR" altLang="en-US" sz="14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는 </a:t>
            </a:r>
            <a:r>
              <a:rPr lang="en-US" altLang="ko-KR" sz="14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2</a:t>
            </a:r>
            <a:r>
              <a:rPr lang="ko-KR" altLang="en-US" sz="14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개로</a:t>
            </a:r>
            <a:r>
              <a:rPr lang="en-US" altLang="ko-KR" sz="14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, </a:t>
            </a:r>
            <a:r>
              <a:rPr lang="ko-KR" altLang="en-US" sz="14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첫번째 </a:t>
            </a:r>
            <a:r>
              <a:rPr lang="en-US" altLang="ko-KR" sz="14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component</a:t>
            </a:r>
            <a:r>
              <a:rPr lang="ko-KR" altLang="en-US" sz="14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에서는 </a:t>
            </a:r>
            <a:r>
              <a:rPr lang="en-US" altLang="ko-KR" sz="14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CRP</a:t>
            </a:r>
            <a:r>
              <a:rPr lang="ko-KR" altLang="en-US" sz="14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와 </a:t>
            </a:r>
            <a:r>
              <a:rPr lang="en-US" altLang="ko-KR" sz="14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HLADR </a:t>
            </a:r>
            <a:r>
              <a:rPr lang="ko-KR" altLang="en-US" sz="14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사이의 양의 상관관계</a:t>
            </a:r>
            <a:r>
              <a:rPr lang="en-US" altLang="ko-KR" sz="14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, </a:t>
            </a:r>
            <a:r>
              <a:rPr lang="ko-KR" altLang="en-US" sz="14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두번째 </a:t>
            </a:r>
            <a:r>
              <a:rPr lang="en-US" altLang="ko-KR" sz="14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component</a:t>
            </a:r>
            <a:r>
              <a:rPr lang="ko-KR" altLang="en-US" sz="14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에서는</a:t>
            </a:r>
            <a:r>
              <a:rPr lang="en-US" altLang="ko-KR" sz="14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 BUN</a:t>
            </a:r>
            <a:r>
              <a:rPr lang="ko-KR" altLang="en-US" sz="14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과 </a:t>
            </a:r>
            <a:r>
              <a:rPr lang="en-US" altLang="ko-KR" sz="14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NK</a:t>
            </a:r>
            <a:r>
              <a:rPr lang="ko-KR" altLang="en-US" sz="14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사이의 양의 상관관계가 있음</a:t>
            </a:r>
          </a:p>
        </p:txBody>
      </p:sp>
    </p:spTree>
    <p:extLst>
      <p:ext uri="{BB962C8B-B14F-4D97-AF65-F5344CB8AC3E}">
        <p14:creationId xmlns:p14="http://schemas.microsoft.com/office/powerpoint/2010/main" val="41452365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직사각형 34">
            <a:extLst>
              <a:ext uri="{FF2B5EF4-FFF2-40B4-BE49-F238E27FC236}">
                <a16:creationId xmlns:a16="http://schemas.microsoft.com/office/drawing/2014/main" id="{B2ADEB5F-0F5D-4361-A4D2-8FDE9847E94E}"/>
              </a:ext>
            </a:extLst>
          </p:cNvPr>
          <p:cNvSpPr/>
          <p:nvPr/>
        </p:nvSpPr>
        <p:spPr>
          <a:xfrm>
            <a:off x="9552902" y="2667001"/>
            <a:ext cx="2319789" cy="225101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0CE50B18-DA5D-4834-95B8-78678100A538}"/>
              </a:ext>
            </a:extLst>
          </p:cNvPr>
          <p:cNvSpPr/>
          <p:nvPr/>
        </p:nvSpPr>
        <p:spPr>
          <a:xfrm>
            <a:off x="209550" y="2427917"/>
            <a:ext cx="2179661" cy="253067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415CE3D-03F6-4D09-9321-3D7FF3AF008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2B19318-762D-4FD0-A50B-207ABA46F30B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8B428AD-D08B-42BA-B289-D0DF1A1C81F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0061" y="71451"/>
            <a:ext cx="1752787" cy="249238"/>
          </a:xfrm>
        </p:spPr>
        <p:txBody>
          <a:bodyPr/>
          <a:lstStyle/>
          <a:p>
            <a:r>
              <a:rPr lang="ko-KR" altLang="en-US">
                <a:ea typeface="Noto Sans KR" panose="020B0200000000000000" pitchFamily="50" charset="-127"/>
                <a:cs typeface="Arial" panose="020B0604020202020204" pitchFamily="34" charset="0"/>
              </a:rPr>
              <a:t>분석 결과 </a:t>
            </a:r>
            <a:endParaRPr lang="ko-KR" altLang="en-US">
              <a:cs typeface="Arial" panose="020B0604020202020204" pitchFamily="34" charset="0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A9B8AF3-4FB1-4D41-BD6B-CBB401DE110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686B527-6459-4135-BE6D-D3190704AFA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2FC6C974-24DD-4A53-9CEC-41E5D8DF709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50061" y="426003"/>
            <a:ext cx="10595933" cy="443020"/>
          </a:xfrm>
        </p:spPr>
        <p:txBody>
          <a:bodyPr/>
          <a:lstStyle/>
          <a:p>
            <a:r>
              <a:rPr lang="en-US" altLang="ko-KR" sz="24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Task 2- KUMC(</a:t>
            </a:r>
            <a:r>
              <a:rPr lang="ko-KR" altLang="en-US" sz="24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간</a:t>
            </a:r>
            <a:r>
              <a:rPr lang="en-US" altLang="ko-KR" sz="24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) – B% sparse Canonical Correlation Analysis(</a:t>
            </a:r>
            <a:r>
              <a:rPr lang="en-US" altLang="ko-KR" sz="2400" err="1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sCCA</a:t>
            </a:r>
            <a:r>
              <a:rPr lang="en-US" altLang="ko-KR" sz="24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) </a:t>
            </a:r>
            <a:endParaRPr lang="ko-KR" altLang="en-US" sz="2400">
              <a:latin typeface="Noto Sans KR" panose="020B0200000000000000" pitchFamily="50" charset="-127"/>
              <a:ea typeface="Noto Sans KR" panose="020B0200000000000000" pitchFamily="50" charset="-127"/>
              <a:cs typeface="Arial" panose="020B0604020202020204" pitchFamily="34" charset="0"/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D3E0EDE-2E24-49F7-9FD2-6E26E5B9BAD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0459354" y="71451"/>
            <a:ext cx="1814291" cy="249238"/>
          </a:xfrm>
        </p:spPr>
        <p:txBody>
          <a:bodyPr/>
          <a:lstStyle/>
          <a:p>
            <a:r>
              <a:rPr lang="en-US" altLang="ko-KR">
                <a:ea typeface="프리젠테이션 5 Medium" pitchFamily="2" charset="-127"/>
                <a:cs typeface="Arial" panose="020B0604020202020204" pitchFamily="34" charset="0"/>
              </a:rPr>
              <a:t>Biomarker</a:t>
            </a:r>
            <a:r>
              <a:rPr lang="ko-KR" altLang="en-US">
                <a:ea typeface="프리젠테이션 5 Medium" pitchFamily="2" charset="-127"/>
                <a:cs typeface="Arial" panose="020B0604020202020204" pitchFamily="34" charset="0"/>
              </a:rPr>
              <a:t> </a:t>
            </a:r>
            <a:r>
              <a:rPr lang="en-US" altLang="ko-KR">
                <a:ea typeface="프리젠테이션 5 Medium" pitchFamily="2" charset="-127"/>
                <a:cs typeface="Arial" panose="020B0604020202020204" pitchFamily="34" charset="0"/>
              </a:rPr>
              <a:t>Analysis</a:t>
            </a:r>
            <a:endParaRPr lang="ko-KR" altLang="en-US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520D3A65-1146-4CEF-9EAB-A72C53CBF77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D1590CB3-04AB-41F4-8980-BF850BE9A28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E25A0B5-2A1C-45F3-B547-F7549EA30B17}"/>
              </a:ext>
            </a:extLst>
          </p:cNvPr>
          <p:cNvSpPr/>
          <p:nvPr/>
        </p:nvSpPr>
        <p:spPr>
          <a:xfrm>
            <a:off x="4537009" y="5124766"/>
            <a:ext cx="286809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>
                <a:latin typeface="Consolas" panose="020B0609020204030204" pitchFamily="49" charset="0"/>
              </a:rPr>
              <a:t>Permutation p-value: 0.0499</a:t>
            </a:r>
            <a:endParaRPr lang="ko-KR" altLang="en-US" sz="1400"/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844C86E0-1359-415A-B6B8-097735692E6E}"/>
              </a:ext>
            </a:extLst>
          </p:cNvPr>
          <p:cNvCxnSpPr>
            <a:cxnSpLocks/>
          </p:cNvCxnSpPr>
          <p:nvPr/>
        </p:nvCxnSpPr>
        <p:spPr>
          <a:xfrm flipH="1" flipV="1">
            <a:off x="2381302" y="3926777"/>
            <a:ext cx="754041" cy="35242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588E3395-A370-4EB0-8E1B-8B859478C210}"/>
              </a:ext>
            </a:extLst>
          </p:cNvPr>
          <p:cNvCxnSpPr>
            <a:cxnSpLocks/>
          </p:cNvCxnSpPr>
          <p:nvPr/>
        </p:nvCxnSpPr>
        <p:spPr>
          <a:xfrm flipV="1">
            <a:off x="8475414" y="3815691"/>
            <a:ext cx="992858" cy="47327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그림 24">
            <a:extLst>
              <a:ext uri="{FF2B5EF4-FFF2-40B4-BE49-F238E27FC236}">
                <a16:creationId xmlns:a16="http://schemas.microsoft.com/office/drawing/2014/main" id="{08291EA4-E122-4FDF-A8F1-CD32461538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581" y="2515852"/>
            <a:ext cx="1728917" cy="31918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359B692C-D239-4278-B8B1-44932BDF3F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6224" y="2774737"/>
            <a:ext cx="1943371" cy="25721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7" name="직사각형 36">
            <a:extLst>
              <a:ext uri="{FF2B5EF4-FFF2-40B4-BE49-F238E27FC236}">
                <a16:creationId xmlns:a16="http://schemas.microsoft.com/office/drawing/2014/main" id="{684B1799-6C9B-408C-8955-A9D512888F5A}"/>
              </a:ext>
            </a:extLst>
          </p:cNvPr>
          <p:cNvSpPr/>
          <p:nvPr/>
        </p:nvSpPr>
        <p:spPr>
          <a:xfrm>
            <a:off x="876300" y="5649328"/>
            <a:ext cx="10439400" cy="1125592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내용 개체 틀 2">
            <a:extLst>
              <a:ext uri="{FF2B5EF4-FFF2-40B4-BE49-F238E27FC236}">
                <a16:creationId xmlns:a16="http://schemas.microsoft.com/office/drawing/2014/main" id="{96573BF7-5BCB-403C-B36F-45A25C009EA8}"/>
              </a:ext>
            </a:extLst>
          </p:cNvPr>
          <p:cNvSpPr txBox="1">
            <a:spLocks/>
          </p:cNvSpPr>
          <p:nvPr/>
        </p:nvSpPr>
        <p:spPr>
          <a:xfrm>
            <a:off x="985712" y="5669622"/>
            <a:ext cx="10290263" cy="12930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14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결과</a:t>
            </a:r>
            <a:r>
              <a:rPr lang="en-US" altLang="ko-KR" sz="14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: PAN%</a:t>
            </a:r>
            <a:r>
              <a:rPr lang="ko-KR" altLang="en-US" sz="14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과 간</a:t>
            </a:r>
            <a:r>
              <a:rPr lang="en-US" altLang="ko-KR" sz="14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,</a:t>
            </a:r>
            <a:r>
              <a:rPr lang="ko-KR" altLang="en-US" sz="14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신장</a:t>
            </a:r>
            <a:r>
              <a:rPr lang="en-US" altLang="ko-KR" sz="14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,</a:t>
            </a:r>
            <a:r>
              <a:rPr lang="ko-KR" altLang="en-US" sz="14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대사 사이에 </a:t>
            </a:r>
            <a:r>
              <a:rPr lang="en-US" altLang="ko-KR" sz="1400" err="1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sCCA</a:t>
            </a:r>
            <a:r>
              <a:rPr lang="en-US" altLang="ko-KR" sz="14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 </a:t>
            </a:r>
            <a:r>
              <a:rPr lang="ko-KR" altLang="en-US" sz="14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분석을 하였을 때</a:t>
            </a:r>
            <a:r>
              <a:rPr lang="en-US" altLang="ko-KR" sz="14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, </a:t>
            </a:r>
            <a:r>
              <a:rPr lang="ko-KR" altLang="en-US" sz="14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최적의 </a:t>
            </a:r>
            <a:r>
              <a:rPr lang="en-US" altLang="ko-KR" sz="14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n components</a:t>
            </a:r>
            <a:r>
              <a:rPr lang="ko-KR" altLang="en-US" sz="14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는 </a:t>
            </a:r>
            <a:r>
              <a:rPr lang="en-US" altLang="ko-KR" sz="14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2</a:t>
            </a:r>
            <a:r>
              <a:rPr lang="ko-KR" altLang="en-US" sz="14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개로</a:t>
            </a:r>
            <a:r>
              <a:rPr lang="en-US" altLang="ko-KR" sz="14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, </a:t>
            </a:r>
            <a:r>
              <a:rPr lang="ko-KR" altLang="en-US" sz="14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첫번째 </a:t>
            </a:r>
            <a:r>
              <a:rPr lang="en-US" altLang="ko-KR" sz="14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component</a:t>
            </a:r>
            <a:r>
              <a:rPr lang="ko-KR" altLang="en-US" sz="14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에서는 </a:t>
            </a:r>
            <a:r>
              <a:rPr lang="en-US" altLang="ko-KR" sz="14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(Protein, Albumin)</a:t>
            </a:r>
            <a:r>
              <a:rPr lang="ko-KR" altLang="en-US" sz="14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와 </a:t>
            </a:r>
            <a:r>
              <a:rPr lang="en-US" altLang="ko-KR" sz="14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(Transitional B, ABC, Plasma B, Early plasma B)</a:t>
            </a:r>
            <a:r>
              <a:rPr lang="ko-KR" altLang="en-US" sz="14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사이의 상관관계</a:t>
            </a:r>
            <a:r>
              <a:rPr lang="en-US" altLang="ko-KR" sz="14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, </a:t>
            </a:r>
            <a:r>
              <a:rPr lang="ko-KR" altLang="en-US" sz="14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두번째 </a:t>
            </a:r>
            <a:r>
              <a:rPr lang="en-US" altLang="ko-KR" sz="14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component</a:t>
            </a:r>
            <a:r>
              <a:rPr lang="ko-KR" altLang="en-US" sz="14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에서는</a:t>
            </a:r>
            <a:r>
              <a:rPr lang="en-US" altLang="ko-KR" sz="14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 (Albumin, Cr)</a:t>
            </a:r>
            <a:r>
              <a:rPr lang="ko-KR" altLang="en-US" sz="14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과 </a:t>
            </a:r>
            <a:r>
              <a:rPr lang="en-US" altLang="ko-KR" sz="14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(ABC, Transitional B, Plasma B)</a:t>
            </a:r>
            <a:r>
              <a:rPr lang="ko-KR" altLang="en-US" sz="14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사이의 상관관계가 있음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45030612-45B9-4CDE-8263-A99917871B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4160" y="1102496"/>
            <a:ext cx="7802064" cy="91452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5E80A8A2-B1B1-44EF-A080-6FC758319C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40494" y="2377307"/>
            <a:ext cx="6261125" cy="2530674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75BB9D07-9C8F-43E1-930B-DB1FADC5B63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6321" y="3040713"/>
            <a:ext cx="1906115" cy="601931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366202F5-F15D-419F-B943-DC81F922C6D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4983" y="3795247"/>
            <a:ext cx="2068793" cy="927644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30021E29-02AA-45BD-9FF4-4E0B30AAEA2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76224" y="3184896"/>
            <a:ext cx="2100105" cy="656823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B1FC20BD-CC6E-4C49-9F88-0C4228630C0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85823" y="3950504"/>
            <a:ext cx="2248768" cy="841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3410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415CE3D-03F6-4D09-9321-3D7FF3AF008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2B19318-762D-4FD0-A50B-207ABA46F30B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8B428AD-D08B-42BA-B289-D0DF1A1C81F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0061" y="71451"/>
            <a:ext cx="1752787" cy="249238"/>
          </a:xfrm>
        </p:spPr>
        <p:txBody>
          <a:bodyPr/>
          <a:lstStyle/>
          <a:p>
            <a:r>
              <a:rPr lang="ko-KR" altLang="en-US">
                <a:ea typeface="Noto Sans KR" panose="020B0200000000000000" pitchFamily="50" charset="-127"/>
                <a:cs typeface="Arial" panose="020B0604020202020204" pitchFamily="34" charset="0"/>
              </a:rPr>
              <a:t>분석 결과 </a:t>
            </a:r>
            <a:endParaRPr lang="ko-KR" altLang="en-US">
              <a:cs typeface="Arial" panose="020B0604020202020204" pitchFamily="34" charset="0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A9B8AF3-4FB1-4D41-BD6B-CBB401DE110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686B527-6459-4135-BE6D-D3190704AFA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2FC6C974-24DD-4A53-9CEC-41E5D8DF709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50061" y="426003"/>
            <a:ext cx="10595933" cy="443020"/>
          </a:xfrm>
        </p:spPr>
        <p:txBody>
          <a:bodyPr/>
          <a:lstStyle/>
          <a:p>
            <a:r>
              <a:rPr lang="en-US" altLang="ko-KR" sz="24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Task 2- </a:t>
            </a:r>
            <a:r>
              <a:rPr lang="ko-KR" altLang="en-US" sz="24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나머지</a:t>
            </a:r>
            <a:r>
              <a:rPr lang="en-US" altLang="ko-KR" sz="24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 KUMC, AMC </a:t>
            </a:r>
            <a:r>
              <a:rPr lang="ko-KR" altLang="en-US" sz="24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데이터셋  </a:t>
            </a:r>
            <a:r>
              <a:rPr lang="en-US" altLang="ko-KR" sz="2400" err="1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sCCA</a:t>
            </a:r>
            <a:r>
              <a:rPr lang="en-US" altLang="ko-KR" sz="24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/CCA</a:t>
            </a:r>
            <a:endParaRPr lang="ko-KR" altLang="en-US" sz="2400">
              <a:latin typeface="Noto Sans KR" panose="020B0200000000000000" pitchFamily="50" charset="-127"/>
              <a:ea typeface="Noto Sans KR" panose="020B0200000000000000" pitchFamily="50" charset="-127"/>
              <a:cs typeface="Arial" panose="020B0604020202020204" pitchFamily="34" charset="0"/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D3E0EDE-2E24-49F7-9FD2-6E26E5B9BAD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0459354" y="71451"/>
            <a:ext cx="1814291" cy="249238"/>
          </a:xfrm>
        </p:spPr>
        <p:txBody>
          <a:bodyPr/>
          <a:lstStyle/>
          <a:p>
            <a:r>
              <a:rPr lang="en-US" altLang="ko-KR">
                <a:ea typeface="프리젠테이션 5 Medium" pitchFamily="2" charset="-127"/>
                <a:cs typeface="Arial" panose="020B0604020202020204" pitchFamily="34" charset="0"/>
              </a:rPr>
              <a:t>Biomarker</a:t>
            </a:r>
            <a:r>
              <a:rPr lang="ko-KR" altLang="en-US">
                <a:ea typeface="프리젠테이션 5 Medium" pitchFamily="2" charset="-127"/>
                <a:cs typeface="Arial" panose="020B0604020202020204" pitchFamily="34" charset="0"/>
              </a:rPr>
              <a:t> </a:t>
            </a:r>
            <a:r>
              <a:rPr lang="en-US" altLang="ko-KR">
                <a:ea typeface="프리젠테이션 5 Medium" pitchFamily="2" charset="-127"/>
                <a:cs typeface="Arial" panose="020B0604020202020204" pitchFamily="34" charset="0"/>
              </a:rPr>
              <a:t>Analysis</a:t>
            </a:r>
            <a:endParaRPr lang="ko-KR" altLang="en-US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520D3A65-1146-4CEF-9EAB-A72C53CBF77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D1590CB3-04AB-41F4-8980-BF850BE9A28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8" name="내용 개체 틀 2">
            <a:extLst>
              <a:ext uri="{FF2B5EF4-FFF2-40B4-BE49-F238E27FC236}">
                <a16:creationId xmlns:a16="http://schemas.microsoft.com/office/drawing/2014/main" id="{96573BF7-5BCB-403C-B36F-45A25C009EA8}"/>
              </a:ext>
            </a:extLst>
          </p:cNvPr>
          <p:cNvSpPr txBox="1">
            <a:spLocks/>
          </p:cNvSpPr>
          <p:nvPr/>
        </p:nvSpPr>
        <p:spPr>
          <a:xfrm>
            <a:off x="883386" y="1131575"/>
            <a:ext cx="10290263" cy="40214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결과</a:t>
            </a:r>
            <a:endParaRPr lang="en-US" altLang="ko-KR" sz="1600">
              <a:latin typeface="Noto Sans KR" panose="020B0200000000000000" pitchFamily="50" charset="-127"/>
              <a:ea typeface="Noto Sans KR" panose="020B0200000000000000" pitchFamily="50" charset="-127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FontTx/>
              <a:buChar char="-"/>
            </a:pPr>
            <a:r>
              <a:rPr lang="ko-KR" altLang="en-US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나머지 </a:t>
            </a:r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KUMC(</a:t>
            </a:r>
            <a:r>
              <a:rPr lang="en-US" altLang="ko-KR" sz="1600" err="1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ConvT</a:t>
            </a:r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%, T%,</a:t>
            </a:r>
            <a:r>
              <a:rPr lang="ko-KR" altLang="en-US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 </a:t>
            </a:r>
            <a:r>
              <a:rPr lang="en-US" altLang="ko-KR" sz="1600" err="1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TSubset</a:t>
            </a:r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)</a:t>
            </a:r>
            <a:r>
              <a:rPr lang="ko-KR" altLang="en-US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과 </a:t>
            </a:r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AMC </a:t>
            </a:r>
            <a:r>
              <a:rPr lang="ko-KR" altLang="en-US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데이터</a:t>
            </a:r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(</a:t>
            </a:r>
            <a:r>
              <a:rPr lang="ko-KR" altLang="en-US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신장</a:t>
            </a:r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)</a:t>
            </a:r>
            <a:r>
              <a:rPr lang="ko-KR" altLang="en-US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으로 </a:t>
            </a:r>
            <a:r>
              <a:rPr lang="en-US" altLang="ko-KR" sz="1600" err="1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cca</a:t>
            </a:r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 </a:t>
            </a:r>
            <a:r>
              <a:rPr lang="ko-KR" altLang="en-US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및 </a:t>
            </a:r>
            <a:r>
              <a:rPr lang="en-US" altLang="ko-KR" sz="1600" err="1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scca</a:t>
            </a:r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 </a:t>
            </a:r>
            <a:r>
              <a:rPr lang="ko-KR" altLang="en-US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분석에서는 </a:t>
            </a:r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X(</a:t>
            </a:r>
            <a:r>
              <a:rPr lang="ko-KR" altLang="en-US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간</a:t>
            </a:r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, </a:t>
            </a:r>
            <a:r>
              <a:rPr lang="ko-KR" altLang="en-US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신장</a:t>
            </a:r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, </a:t>
            </a:r>
            <a:r>
              <a:rPr lang="ko-KR" altLang="en-US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대사 지표</a:t>
            </a:r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)</a:t>
            </a:r>
            <a:r>
              <a:rPr lang="ko-KR" altLang="en-US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와 </a:t>
            </a:r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Z(</a:t>
            </a:r>
            <a:r>
              <a:rPr lang="ko-KR" altLang="en-US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면역세포 비율</a:t>
            </a:r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) </a:t>
            </a:r>
            <a:r>
              <a:rPr lang="ko-KR" altLang="en-US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간 </a:t>
            </a:r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canonical correlation</a:t>
            </a:r>
            <a:r>
              <a:rPr lang="ko-KR" altLang="en-US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이 통계적으로 유의하지 않았음</a:t>
            </a:r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(p-value &gt; 0.05</a:t>
            </a:r>
            <a:r>
              <a:rPr lang="ko-KR" altLang="en-US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 </a:t>
            </a:r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)</a:t>
            </a:r>
          </a:p>
          <a:p>
            <a:pPr>
              <a:lnSpc>
                <a:spcPct val="150000"/>
              </a:lnSpc>
              <a:buFontTx/>
              <a:buChar char="-"/>
            </a:pPr>
            <a:endParaRPr lang="en-US" altLang="ko-KR" sz="1600">
              <a:latin typeface="Noto Sans KR" panose="020B0200000000000000" pitchFamily="50" charset="-127"/>
              <a:ea typeface="Noto Sans KR" panose="020B0200000000000000" pitchFamily="50" charset="-127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한계</a:t>
            </a:r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 </a:t>
            </a:r>
          </a:p>
          <a:p>
            <a:pPr>
              <a:lnSpc>
                <a:spcPct val="150000"/>
              </a:lnSpc>
              <a:buFontTx/>
              <a:buChar char="-"/>
            </a:pPr>
            <a:r>
              <a:rPr lang="ko-KR" altLang="en-US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표본 수 부족 </a:t>
            </a:r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: </a:t>
            </a:r>
            <a:r>
              <a:rPr lang="ko-KR" altLang="en-US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변수 개수 대비 표본 수가 적어 효과가 존재하더라도 유의성 확보가 어려움</a:t>
            </a:r>
            <a:endParaRPr lang="en-US" altLang="ko-KR" sz="1600">
              <a:latin typeface="Noto Sans KR" panose="020B0200000000000000" pitchFamily="50" charset="-127"/>
              <a:ea typeface="Noto Sans KR" panose="020B0200000000000000" pitchFamily="50" charset="-127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FontTx/>
              <a:buChar char="-"/>
            </a:pPr>
            <a:r>
              <a:rPr lang="ko-KR" altLang="en-US" sz="1600" err="1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결측치</a:t>
            </a:r>
            <a:r>
              <a:rPr lang="ko-KR" altLang="en-US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 존재로 인한 정보 손실</a:t>
            </a:r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 : </a:t>
            </a:r>
            <a:r>
              <a:rPr lang="ko-KR" altLang="en-US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일부 변수에서 </a:t>
            </a:r>
            <a:r>
              <a:rPr lang="ko-KR" altLang="en-US" sz="1600" err="1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결측치가</a:t>
            </a:r>
            <a:r>
              <a:rPr lang="ko-KR" altLang="en-US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 비교적 많이 발생하여 사용 가능한 샘플 수가 추가로 감소</a:t>
            </a:r>
            <a:endParaRPr lang="en-US" altLang="ko-KR" sz="1600">
              <a:latin typeface="Noto Sans KR" panose="020B0200000000000000" pitchFamily="50" charset="-127"/>
              <a:ea typeface="Noto Sans KR" panose="020B0200000000000000" pitchFamily="50" charset="-127"/>
              <a:cs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ko-KR" altLang="en-US" sz="1400">
              <a:latin typeface="Noto Sans KR" panose="020B0200000000000000" pitchFamily="50" charset="-127"/>
              <a:ea typeface="Noto Sans KR" panose="020B0200000000000000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67796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2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1049</TotalTime>
  <Words>2020</Words>
  <Application>Microsoft Office PowerPoint</Application>
  <PresentationFormat>와이드스크린</PresentationFormat>
  <Paragraphs>354</Paragraphs>
  <Slides>24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34" baseType="lpstr">
      <vt:lpstr>Microsoft YaHei</vt:lpstr>
      <vt:lpstr>Noto Sans KR</vt:lpstr>
      <vt:lpstr>Noto Sans KR DemiLight</vt:lpstr>
      <vt:lpstr>Noto Sans KR Medium</vt:lpstr>
      <vt:lpstr>Pretendard ExtraBold</vt:lpstr>
      <vt:lpstr>프리젠테이션 5 Medium</vt:lpstr>
      <vt:lpstr>Arial</vt:lpstr>
      <vt:lpstr>Consolas</vt:lpstr>
      <vt:lpstr>Wingdings</vt:lpstr>
      <vt:lpstr>Office Theme</vt:lpstr>
      <vt:lpstr>Biomarker Analysis Result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KIST</dc:creator>
  <cp:lastModifiedBy>민선 유</cp:lastModifiedBy>
  <cp:revision>542</cp:revision>
  <dcterms:created xsi:type="dcterms:W3CDTF">2025-09-12T12:23:56Z</dcterms:created>
  <dcterms:modified xsi:type="dcterms:W3CDTF">2026-01-22T13:54:32Z</dcterms:modified>
</cp:coreProperties>
</file>