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64" r:id="rId3"/>
    <p:sldId id="266" r:id="rId4"/>
    <p:sldId id="274" r:id="rId5"/>
    <p:sldId id="282" r:id="rId6"/>
    <p:sldId id="269" r:id="rId7"/>
    <p:sldId id="258" r:id="rId8"/>
    <p:sldId id="261" r:id="rId9"/>
    <p:sldId id="260" r:id="rId10"/>
    <p:sldId id="257" r:id="rId11"/>
    <p:sldId id="259" r:id="rId12"/>
    <p:sldId id="262" r:id="rId13"/>
    <p:sldId id="263" r:id="rId14"/>
    <p:sldId id="268" r:id="rId15"/>
    <p:sldId id="267" r:id="rId16"/>
    <p:sldId id="281" r:id="rId17"/>
    <p:sldId id="272" r:id="rId18"/>
    <p:sldId id="275" r:id="rId19"/>
    <p:sldId id="271" r:id="rId20"/>
    <p:sldId id="279" r:id="rId21"/>
    <p:sldId id="280" r:id="rId22"/>
    <p:sldId id="278" r:id="rId23"/>
    <p:sldId id="277" r:id="rId24"/>
    <p:sldId id="276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22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423B3-EE37-400D-A108-967FFF8D0453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FE9AB-8523-43DD-9291-89EEAE8E08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146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59211E-FDC6-4AC5-A32E-9E214E087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863CE0-BF68-4BAD-A02F-6335F5A4F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9AC8C-043B-40A1-9B68-4D0B2A82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86C8F-D680-4D4F-B5B3-73A3C6E70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D426F-590F-4250-9629-7A110541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15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E38E2-3857-4215-9DB0-CBB5907C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80FF83-20FA-45E8-80DD-69F349897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73772-8D9F-4A28-A9C7-7879F404D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99C5-E9A5-4460-B214-FEDD13C5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562AD7-4CE7-4487-BEBE-5AAFC0D8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6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9170D-9147-4720-B159-0CE89D11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33F8A5-66EC-412D-842B-E0B2334E8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5DF097-51BB-4FF6-9891-0838A634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CA4617-EF4C-4582-846D-C27849F8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5ABBE3-76B6-4CC0-84DF-491D48FB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8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FE5D1-9E58-405B-B8E8-3A9F15D8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BA79B-D426-48B8-B690-D650826CD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073F16-8D43-45D1-A623-299857A15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63465-5D06-4DF3-ADB1-B9830B6F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D30DAD-6EEC-4F12-BBB7-9FB2FB6D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3DCA06-2D65-464C-BFCF-8306F7E6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C5732-F13D-4BB0-918E-C57DDE02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43D3B2-8FEA-4BB4-B343-2E6A7150F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03D84-3B45-4D52-8A61-7F062E104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2264EE-DAB5-4E73-AEA0-3BDB94912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A3C2EF-A09E-4A86-B374-D01676F75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201544-010E-4E82-BEEA-B9CC94FD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6E422E-CF6E-46E8-B727-CC337695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6429D1-BF55-40B5-838F-DE1715DC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83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B140D-1CA0-4AB2-956E-BB605F4A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7787A2-219C-46D0-AB6D-F9D87B9C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5E013-1D2B-42A2-B386-D8E26EC4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2E5A4A-891B-484A-A7DE-3001FB1F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2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4A02CF-3F9F-4DED-8603-1E53D5B5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F19103-10EC-419B-A888-928E611E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78112D-2E49-42CA-BFC1-D5370A12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CB5F7-CCB6-4A1F-B0E8-B5B66DB9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EB002-DFF1-417F-AFC8-E329AAA6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AA1AA6-B8D7-43ED-B5E7-899C4DD2C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E018E9-A45A-4D07-9758-B34F4C7F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59FF7-1C4D-4762-A9F1-832E1F06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5EEBBA-7FB0-4A5D-93EF-2BD50183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25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1A4F1-1EEC-436B-87BF-B371BE1F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A37732-6D86-497E-AEFF-E748F2A10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319C61-8087-41AC-86D9-058A9F378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1AA7E-FCB2-4F29-94D9-E48DD044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580161-2CCA-413B-B547-B3986F2DA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6C1EF-82FA-4608-81A5-9AAE1620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311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7EA58-FA53-4470-81B5-8D53422B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FE68AF-1425-4E40-AEE5-2D8583066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FF106-A001-4491-A211-02AA60899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27711-4790-4B76-AB32-98327777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DCF4F-F92C-4D06-9CCA-7054F6E4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6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D6F083-D07D-4625-AED6-DBAF6408E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F69763-159E-414B-A57A-622B2374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94095-C683-469B-A107-FAFD0D88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CC7EE-9D32-4E24-BDBE-131B3E12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12369-F7D6-432D-B200-C86D05BD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26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BAFD9E-1F17-45BC-8C38-E7D6F8BC3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ABFCDF-D3B5-4CA3-AFF2-9F1B4144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CB9F0-2D95-4A7B-B429-9A27CA3CC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7081F-5F1E-4DE8-96D6-E0E3DED8A257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C63E3-1C0D-494D-AD0A-F4B1A0501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218FA-D3EE-4D1A-9FF7-C56921B62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FD12-7B4E-4C59-B55F-213EEE7FEA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8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데이터셋 이해</a:t>
            </a:r>
          </a:p>
        </p:txBody>
      </p:sp>
    </p:spTree>
    <p:extLst>
      <p:ext uri="{BB962C8B-B14F-4D97-AF65-F5344CB8AC3E}">
        <p14:creationId xmlns:p14="http://schemas.microsoft.com/office/powerpoint/2010/main" val="160299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498" y="213288"/>
            <a:ext cx="11563321" cy="2707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[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데이터셋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44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명의 환자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모두 건강하고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위에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명과 아래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명은 다른 검사를 진행함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/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위 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명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 – KUMC,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간 주변의 지방 조직의 면역세포 비율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숫자 </a:t>
            </a:r>
            <a:endParaRPr lang="en-US" altLang="ko-KR" sz="1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/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아래 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명 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– AMC,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신장 주변 지방 조직에의 면역세포 비율</a:t>
            </a:r>
            <a:r>
              <a:rPr lang="en-US" altLang="ko-KR" sz="16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</a:rPr>
              <a:t>숫자</a:t>
            </a:r>
            <a:endParaRPr lang="en-US" altLang="ko-KR" sz="16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D =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내려가면 좋은 지표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/ U=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올라가면 좋은 지표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-&gt; U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는 음수 붙여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PCA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진행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가 적으신 분들을 대상으로는 하였지만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BMI correction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은 필요함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나이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correction? </a:t>
            </a: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A729966-9DD8-4DDA-BEBB-8AA9AE23C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5D00206A-E838-4DC1-8869-33970326FFDB}"/>
              </a:ext>
            </a:extLst>
          </p:cNvPr>
          <p:cNvSpPr txBox="1">
            <a:spLocks/>
          </p:cNvSpPr>
          <p:nvPr/>
        </p:nvSpPr>
        <p:spPr>
          <a:xfrm>
            <a:off x="451498" y="3638966"/>
            <a:ext cx="11563321" cy="2843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1991F33-A165-421B-A2AC-9F85F89A411B}"/>
              </a:ext>
            </a:extLst>
          </p:cNvPr>
          <p:cNvSpPr txBox="1">
            <a:spLocks/>
          </p:cNvSpPr>
          <p:nvPr/>
        </p:nvSpPr>
        <p:spPr>
          <a:xfrm>
            <a:off x="451498" y="3219034"/>
            <a:ext cx="10395450" cy="3561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[Column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이해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대사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신장 기능 평가 지표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Sex, Age, BMI(Metabolic)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Liver :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AST</a:t>
            </a:r>
            <a:r>
              <a:rPr lang="ko-KR" altLang="en-US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ALT</a:t>
            </a:r>
            <a:r>
              <a:rPr lang="ko-KR" altLang="en-US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ALP</a:t>
            </a:r>
            <a:r>
              <a:rPr lang="ko-KR" altLang="en-US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  </a:t>
            </a:r>
            <a:r>
              <a:rPr lang="en-US" altLang="ko-KR" sz="2000" dirty="0">
                <a:solidFill>
                  <a:srgbClr val="0070C0"/>
                </a:solidFill>
                <a:latin typeface="프리젠테이션 4 Regular" pitchFamily="2" charset="-127"/>
                <a:ea typeface="프리젠테이션 4 Regular" pitchFamily="2" charset="-127"/>
              </a:rPr>
              <a:t>Bilirubin 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Protein  Albumin 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PT  APTT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Metabolic :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Cholesterol	TG	LDL	HDL	</a:t>
            </a:r>
            <a:r>
              <a:rPr lang="en-US" altLang="ko-KR" sz="2000" dirty="0" err="1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R_Glucose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	</a:t>
            </a:r>
            <a:r>
              <a:rPr lang="en-US" altLang="ko-KR" sz="2000" dirty="0" err="1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F_Glucose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	HbA1c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Kidney: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BUN     Cr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	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GFR(CKD_EPI) 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CrCl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Etc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en-US" altLang="ko-KR" sz="2000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Amylase   CRP</a:t>
            </a: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22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6A1B9ED-4BA6-4526-8C16-7A9BAD8D2BC1}"/>
              </a:ext>
            </a:extLst>
          </p:cNvPr>
          <p:cNvSpPr/>
          <p:nvPr/>
        </p:nvSpPr>
        <p:spPr>
          <a:xfrm>
            <a:off x="407670" y="385435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Char char="-"/>
            </a:pP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세포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pPr lvl="1">
              <a:buFontTx/>
              <a:buChar char="-"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전체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PAN%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중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세포 비율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= normalized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됨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03994A5-64A8-44B4-9E50-F2F7DA12F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79" y="1228649"/>
            <a:ext cx="4486901" cy="5430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070CAAF-212F-4B2F-8A6F-685DFC5DC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866" y="2099564"/>
            <a:ext cx="3209288" cy="4648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7DBC37E-796C-4F91-AF88-0E857450E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909" y="1228649"/>
            <a:ext cx="995810" cy="4371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48DD82-7C52-4DB1-83A6-199A15FFB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079" y="3568065"/>
            <a:ext cx="9221487" cy="552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E2B97ED-F40C-4100-84F2-6407373B1AF7}"/>
              </a:ext>
            </a:extLst>
          </p:cNvPr>
          <p:cNvCxnSpPr/>
          <p:nvPr/>
        </p:nvCxnSpPr>
        <p:spPr>
          <a:xfrm flipV="1">
            <a:off x="3806190" y="1771650"/>
            <a:ext cx="1417320" cy="210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8AC0F2-B0B5-47AF-8B32-A06623D8C3C5}"/>
              </a:ext>
            </a:extLst>
          </p:cNvPr>
          <p:cNvSpPr txBox="1"/>
          <p:nvPr/>
        </p:nvSpPr>
        <p:spPr>
          <a:xfrm>
            <a:off x="2320290" y="3105269"/>
            <a:ext cx="672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세포에 대한 성질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en-US" altLang="ko-KR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Trm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: Tissue Resident memory / </a:t>
            </a:r>
            <a:r>
              <a:rPr lang="en-US" altLang="ko-KR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Grzk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: Granzyme K 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9C21EF95-D7B9-4252-8AE8-5FC4095C9E4D}"/>
              </a:ext>
            </a:extLst>
          </p:cNvPr>
          <p:cNvCxnSpPr/>
          <p:nvPr/>
        </p:nvCxnSpPr>
        <p:spPr>
          <a:xfrm>
            <a:off x="1188720" y="4109162"/>
            <a:ext cx="868680" cy="4336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B70D39-1ED5-4E95-83DF-AE8B076D82FB}"/>
              </a:ext>
            </a:extLst>
          </p:cNvPr>
          <p:cNvSpPr txBox="1"/>
          <p:nvPr/>
        </p:nvSpPr>
        <p:spPr>
          <a:xfrm>
            <a:off x="2153289" y="4326003"/>
            <a:ext cx="448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cell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의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CD4 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세포 중에서 </a:t>
            </a:r>
            <a:r>
              <a:rPr lang="en-US" altLang="ko-KR" dirty="0" err="1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Trm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성격인 비율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363B58-3BBC-4A88-9D2E-B385A221F5C4}"/>
              </a:ext>
            </a:extLst>
          </p:cNvPr>
          <p:cNvSpPr/>
          <p:nvPr/>
        </p:nvSpPr>
        <p:spPr>
          <a:xfrm>
            <a:off x="7668241" y="1661448"/>
            <a:ext cx="3717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CD20 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단백질을 발현하는 특이한 </a:t>
            </a:r>
            <a:r>
              <a:rPr lang="en-US" altLang="ko-KR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dirty="0">
                <a:solidFill>
                  <a:schemeClr val="accent1"/>
                </a:solidFill>
                <a:latin typeface="프리젠테이션 4 Regular" pitchFamily="2" charset="-127"/>
                <a:ea typeface="프리젠테이션 4 Regular" pitchFamily="2" charset="-127"/>
              </a:rPr>
              <a:t>세포 아형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3171E1-9E8D-4FA6-82BB-24F415A797F0}"/>
              </a:ext>
            </a:extLst>
          </p:cNvPr>
          <p:cNvCxnSpPr/>
          <p:nvPr/>
        </p:nvCxnSpPr>
        <p:spPr>
          <a:xfrm>
            <a:off x="5261610" y="1767826"/>
            <a:ext cx="1377039" cy="207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976F94-8DFC-43FA-B3F9-D1441B2F156C}"/>
              </a:ext>
            </a:extLst>
          </p:cNvPr>
          <p:cNvSpPr/>
          <p:nvPr/>
        </p:nvSpPr>
        <p:spPr>
          <a:xfrm>
            <a:off x="570866" y="5026015"/>
            <a:ext cx="84702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B</a:t>
            </a:r>
            <a:r>
              <a:rPr lang="ko-KR" altLang="en-US" sz="2400" dirty="0">
                <a:latin typeface="프리젠테이션 4 Regular" pitchFamily="2" charset="-127"/>
                <a:ea typeface="프리젠테이션 4 Regular" pitchFamily="2" charset="-127"/>
              </a:rPr>
              <a:t>세포</a:t>
            </a:r>
            <a:r>
              <a:rPr lang="en-US" altLang="ko-KR" sz="24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pPr lvl="1"/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 B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세포 종류별 비율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= normalized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됨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buFontTx/>
              <a:buChar char="-"/>
            </a:pPr>
            <a:endParaRPr lang="en-US" altLang="ko-KR" sz="2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665084D-2764-4DAA-9836-09930E56E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203" y="5856672"/>
            <a:ext cx="5683951" cy="64253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9648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F50C06-9C3F-4B8C-9BE4-9360D5DC2332}"/>
              </a:ext>
            </a:extLst>
          </p:cNvPr>
          <p:cNvSpPr txBox="1"/>
          <p:nvPr/>
        </p:nvSpPr>
        <p:spPr>
          <a:xfrm>
            <a:off x="5105400" y="1100667"/>
            <a:ext cx="221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</a:t>
            </a:r>
            <a:r>
              <a:rPr lang="ko-KR" altLang="en-US" dirty="0"/>
              <a:t> </a:t>
            </a:r>
            <a:r>
              <a:rPr lang="en-US" altLang="ko-KR" dirty="0"/>
              <a:t>IMMUNE</a:t>
            </a:r>
            <a:r>
              <a:rPr lang="ko-KR" altLang="en-US" dirty="0"/>
              <a:t> </a:t>
            </a:r>
            <a:r>
              <a:rPr lang="en-US" altLang="ko-KR" dirty="0"/>
              <a:t>CELL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265E0-36E3-44D3-9CF5-3CF31CEAEB1F}"/>
              </a:ext>
            </a:extLst>
          </p:cNvPr>
          <p:cNvSpPr txBox="1"/>
          <p:nvPr/>
        </p:nvSpPr>
        <p:spPr>
          <a:xfrm>
            <a:off x="2855938" y="1854201"/>
            <a:ext cx="671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	 CD11b	         HLADR      NK         NKT1           T </a:t>
            </a:r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5478F1-B9ED-49FF-A2DE-CE2BA7C6FC07}"/>
              </a:ext>
            </a:extLst>
          </p:cNvPr>
          <p:cNvSpPr/>
          <p:nvPr/>
        </p:nvSpPr>
        <p:spPr>
          <a:xfrm>
            <a:off x="6717488" y="3312582"/>
            <a:ext cx="54745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NKT2</a:t>
            </a:r>
            <a:r>
              <a:rPr lang="fr-FR" dirty="0"/>
              <a:t>   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MAIT        </a:t>
            </a:r>
            <a:r>
              <a:rPr lang="fr-FR" dirty="0"/>
              <a:t>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gd1T</a:t>
            </a:r>
            <a:r>
              <a:rPr lang="fr-FR" dirty="0"/>
              <a:t>      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gd2T</a:t>
            </a:r>
            <a:r>
              <a:rPr lang="fr-FR" dirty="0"/>
              <a:t>     </a:t>
            </a:r>
            <a:r>
              <a:rPr lang="fr-FR" dirty="0">
                <a:solidFill>
                  <a:srgbClr val="000000"/>
                </a:solidFill>
                <a:latin typeface="Calibri" panose="020F0502020204030204" pitchFamily="34" charset="0"/>
              </a:rPr>
              <a:t>ConvT%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199E18-FC56-40F0-994F-65D71DB19690}"/>
              </a:ext>
            </a:extLst>
          </p:cNvPr>
          <p:cNvSpPr/>
          <p:nvPr/>
        </p:nvSpPr>
        <p:spPr>
          <a:xfrm>
            <a:off x="9884833" y="4675716"/>
            <a:ext cx="4649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CD8+T</a:t>
            </a:r>
            <a:r>
              <a:rPr lang="de-DE" dirty="0"/>
              <a:t>    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CD4+T      </a:t>
            </a:r>
            <a:r>
              <a:rPr lang="de-DE" dirty="0"/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CD8+Treg         </a:t>
            </a:r>
            <a:r>
              <a:rPr lang="de-DE" dirty="0"/>
              <a:t> </a:t>
            </a:r>
            <a:r>
              <a:rPr lang="de-DE" dirty="0">
                <a:solidFill>
                  <a:srgbClr val="000000"/>
                </a:solidFill>
                <a:latin typeface="Calibri" panose="020F0502020204030204" pitchFamily="34" charset="0"/>
              </a:rPr>
              <a:t>CD4+Treg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E70CBF-35AD-43EF-B388-DE92547DAF76}"/>
              </a:ext>
            </a:extLst>
          </p:cNvPr>
          <p:cNvSpPr/>
          <p:nvPr/>
        </p:nvSpPr>
        <p:spPr>
          <a:xfrm>
            <a:off x="9454744" y="5307223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929CE8-33CC-4D11-8AA6-0A324B0A0F9E}"/>
              </a:ext>
            </a:extLst>
          </p:cNvPr>
          <p:cNvSpPr/>
          <p:nvPr/>
        </p:nvSpPr>
        <p:spPr>
          <a:xfrm>
            <a:off x="10591720" y="5324938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EA341B-16A6-4FBA-9E76-B1842E06F20A}"/>
              </a:ext>
            </a:extLst>
          </p:cNvPr>
          <p:cNvSpPr/>
          <p:nvPr/>
        </p:nvSpPr>
        <p:spPr>
          <a:xfrm>
            <a:off x="7287201" y="3940570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4B09B7-091B-4BE6-9508-7DDC97AA7218}"/>
              </a:ext>
            </a:extLst>
          </p:cNvPr>
          <p:cNvSpPr/>
          <p:nvPr/>
        </p:nvSpPr>
        <p:spPr>
          <a:xfrm>
            <a:off x="8586017" y="3938811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D2070D-50D6-45DE-B8F7-D6581663B4BB}"/>
              </a:ext>
            </a:extLst>
          </p:cNvPr>
          <p:cNvSpPr/>
          <p:nvPr/>
        </p:nvSpPr>
        <p:spPr>
          <a:xfrm>
            <a:off x="9884833" y="3938811"/>
            <a:ext cx="152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TRM GZMK </a:t>
            </a:r>
            <a:endParaRPr 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E8C3A0A-65DC-492A-AF36-D1C9BAB678CE}"/>
              </a:ext>
            </a:extLst>
          </p:cNvPr>
          <p:cNvCxnSpPr>
            <a:stCxn id="4" idx="2"/>
          </p:cNvCxnSpPr>
          <p:nvPr/>
        </p:nvCxnSpPr>
        <p:spPr>
          <a:xfrm flipH="1">
            <a:off x="3355675" y="1469999"/>
            <a:ext cx="2858330" cy="298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4201630-B643-4C6D-9674-2B8DA53D8C2D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4218317" y="1469999"/>
            <a:ext cx="1995688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F41E60F-7946-4797-8563-AE8BD802186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969479" y="1469999"/>
            <a:ext cx="244526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65D40AA-A4CD-4F49-827D-348514943CD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14005" y="1469999"/>
            <a:ext cx="583610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DDB6FB4-5E9A-431C-8A9B-A1382B2A937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214005" y="1469999"/>
            <a:ext cx="1834819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9AD6107-51EF-4532-A5DC-03BF902D84B5}"/>
              </a:ext>
            </a:extLst>
          </p:cNvPr>
          <p:cNvCxnSpPr>
            <a:cxnSpLocks/>
          </p:cNvCxnSpPr>
          <p:nvPr/>
        </p:nvCxnSpPr>
        <p:spPr>
          <a:xfrm>
            <a:off x="6183678" y="1469999"/>
            <a:ext cx="3020707" cy="384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5BAB78A-8500-4226-A4FE-12550D4376BD}"/>
              </a:ext>
            </a:extLst>
          </p:cNvPr>
          <p:cNvCxnSpPr>
            <a:cxnSpLocks/>
          </p:cNvCxnSpPr>
          <p:nvPr/>
        </p:nvCxnSpPr>
        <p:spPr>
          <a:xfrm>
            <a:off x="9346232" y="2267723"/>
            <a:ext cx="2271977" cy="949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9BAA199-674B-410B-9AF9-A8DBFA7593DD}"/>
              </a:ext>
            </a:extLst>
          </p:cNvPr>
          <p:cNvCxnSpPr>
            <a:cxnSpLocks/>
          </p:cNvCxnSpPr>
          <p:nvPr/>
        </p:nvCxnSpPr>
        <p:spPr>
          <a:xfrm>
            <a:off x="9346232" y="2258376"/>
            <a:ext cx="1135988" cy="1052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2F158B7-F9CF-49DF-B470-3FFFEE1487A1}"/>
              </a:ext>
            </a:extLst>
          </p:cNvPr>
          <p:cNvCxnSpPr>
            <a:cxnSpLocks/>
          </p:cNvCxnSpPr>
          <p:nvPr/>
        </p:nvCxnSpPr>
        <p:spPr>
          <a:xfrm flipH="1">
            <a:off x="9204385" y="2265964"/>
            <a:ext cx="141847" cy="1044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36BEA0F-C8B2-4358-B634-600A14CF8E80}"/>
              </a:ext>
            </a:extLst>
          </p:cNvPr>
          <p:cNvCxnSpPr>
            <a:cxnSpLocks/>
          </p:cNvCxnSpPr>
          <p:nvPr/>
        </p:nvCxnSpPr>
        <p:spPr>
          <a:xfrm flipH="1">
            <a:off x="8210243" y="2290613"/>
            <a:ext cx="1135989" cy="1055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C8534587-2232-4294-8C25-A7F9A5189C9F}"/>
              </a:ext>
            </a:extLst>
          </p:cNvPr>
          <p:cNvCxnSpPr>
            <a:cxnSpLocks/>
          </p:cNvCxnSpPr>
          <p:nvPr/>
        </p:nvCxnSpPr>
        <p:spPr>
          <a:xfrm flipH="1">
            <a:off x="6972072" y="2309319"/>
            <a:ext cx="2374160" cy="1043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7E1709-38CC-4019-A702-BAB52D8F09BE}"/>
              </a:ext>
            </a:extLst>
          </p:cNvPr>
          <p:cNvCxnSpPr>
            <a:cxnSpLocks/>
          </p:cNvCxnSpPr>
          <p:nvPr/>
        </p:nvCxnSpPr>
        <p:spPr>
          <a:xfrm flipH="1">
            <a:off x="7539487" y="3602564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8F41842-1764-4B4C-BE4B-3E569E31DFB4}"/>
              </a:ext>
            </a:extLst>
          </p:cNvPr>
          <p:cNvCxnSpPr>
            <a:cxnSpLocks/>
          </p:cNvCxnSpPr>
          <p:nvPr/>
        </p:nvCxnSpPr>
        <p:spPr>
          <a:xfrm>
            <a:off x="8159152" y="3594976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F72134A4-E25A-4B1F-8018-1C2649DFB9BA}"/>
              </a:ext>
            </a:extLst>
          </p:cNvPr>
          <p:cNvCxnSpPr>
            <a:cxnSpLocks/>
          </p:cNvCxnSpPr>
          <p:nvPr/>
        </p:nvCxnSpPr>
        <p:spPr>
          <a:xfrm flipH="1">
            <a:off x="8692699" y="3617739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15B084D-C4CC-4E86-B816-EA22F973675B}"/>
              </a:ext>
            </a:extLst>
          </p:cNvPr>
          <p:cNvCxnSpPr>
            <a:cxnSpLocks/>
          </p:cNvCxnSpPr>
          <p:nvPr/>
        </p:nvCxnSpPr>
        <p:spPr>
          <a:xfrm>
            <a:off x="9312364" y="3610151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AD92241-D961-4F87-8C15-4DF21E99B279}"/>
              </a:ext>
            </a:extLst>
          </p:cNvPr>
          <p:cNvCxnSpPr>
            <a:cxnSpLocks/>
          </p:cNvCxnSpPr>
          <p:nvPr/>
        </p:nvCxnSpPr>
        <p:spPr>
          <a:xfrm flipH="1">
            <a:off x="9972055" y="3622367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3490EB7-C538-4B59-BC03-E6328EBDEED5}"/>
              </a:ext>
            </a:extLst>
          </p:cNvPr>
          <p:cNvCxnSpPr>
            <a:cxnSpLocks/>
          </p:cNvCxnSpPr>
          <p:nvPr/>
        </p:nvCxnSpPr>
        <p:spPr>
          <a:xfrm>
            <a:off x="10591720" y="3614779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A0583B0-48C2-4085-BE2A-93D8390CCA29}"/>
              </a:ext>
            </a:extLst>
          </p:cNvPr>
          <p:cNvCxnSpPr>
            <a:cxnSpLocks/>
          </p:cNvCxnSpPr>
          <p:nvPr/>
        </p:nvCxnSpPr>
        <p:spPr>
          <a:xfrm flipH="1">
            <a:off x="9710387" y="4979883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1118E65-63C3-4420-B901-C77EBA6C4F8A}"/>
              </a:ext>
            </a:extLst>
          </p:cNvPr>
          <p:cNvCxnSpPr>
            <a:cxnSpLocks/>
          </p:cNvCxnSpPr>
          <p:nvPr/>
        </p:nvCxnSpPr>
        <p:spPr>
          <a:xfrm>
            <a:off x="10330052" y="4972295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FB4922F-64D3-4F53-ACB6-BFC155D77976}"/>
              </a:ext>
            </a:extLst>
          </p:cNvPr>
          <p:cNvCxnSpPr>
            <a:cxnSpLocks/>
          </p:cNvCxnSpPr>
          <p:nvPr/>
        </p:nvCxnSpPr>
        <p:spPr>
          <a:xfrm flipH="1">
            <a:off x="10737324" y="4987471"/>
            <a:ext cx="619665" cy="336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220DD2C-08AA-4CF6-AD16-1618D694271D}"/>
              </a:ext>
            </a:extLst>
          </p:cNvPr>
          <p:cNvCxnSpPr>
            <a:cxnSpLocks/>
          </p:cNvCxnSpPr>
          <p:nvPr/>
        </p:nvCxnSpPr>
        <p:spPr>
          <a:xfrm>
            <a:off x="11356989" y="4979883"/>
            <a:ext cx="51091" cy="4076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F472ECF-3827-45A9-A0B0-7251135DE160}"/>
              </a:ext>
            </a:extLst>
          </p:cNvPr>
          <p:cNvCxnSpPr>
            <a:cxnSpLocks/>
          </p:cNvCxnSpPr>
          <p:nvPr/>
        </p:nvCxnSpPr>
        <p:spPr>
          <a:xfrm flipH="1">
            <a:off x="10437840" y="3683134"/>
            <a:ext cx="1057462" cy="990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412E4A9-F5E4-4AC5-BBB7-7FE7FB9B26A7}"/>
              </a:ext>
            </a:extLst>
          </p:cNvPr>
          <p:cNvCxnSpPr>
            <a:cxnSpLocks/>
          </p:cNvCxnSpPr>
          <p:nvPr/>
        </p:nvCxnSpPr>
        <p:spPr>
          <a:xfrm flipH="1">
            <a:off x="11303898" y="3699629"/>
            <a:ext cx="191404" cy="9811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2708354-3FC8-4610-AAB6-503571A16134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1508870" y="3697105"/>
            <a:ext cx="700799" cy="978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CBA86FC3-6DB0-4152-A110-B11E004107F8}"/>
              </a:ext>
            </a:extLst>
          </p:cNvPr>
          <p:cNvCxnSpPr>
            <a:cxnSpLocks/>
          </p:cNvCxnSpPr>
          <p:nvPr/>
        </p:nvCxnSpPr>
        <p:spPr>
          <a:xfrm>
            <a:off x="11528329" y="3689509"/>
            <a:ext cx="2334320" cy="983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EEF4A77-B3A9-4857-8514-5DECB45D5255}"/>
              </a:ext>
            </a:extLst>
          </p:cNvPr>
          <p:cNvSpPr/>
          <p:nvPr/>
        </p:nvSpPr>
        <p:spPr>
          <a:xfrm>
            <a:off x="-260473" y="3310709"/>
            <a:ext cx="6833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TransitionalB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dirty="0"/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MemoryB</a:t>
            </a:r>
            <a:r>
              <a:rPr lang="en-US" dirty="0"/>
              <a:t>  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EarlyPlasma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B </a:t>
            </a:r>
            <a:r>
              <a:rPr lang="en-US" dirty="0"/>
              <a:t>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PlasmaB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  <a:r>
              <a:rPr lang="en-US" dirty="0"/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ABC</a:t>
            </a:r>
            <a:r>
              <a:rPr lang="en-US" dirty="0"/>
              <a:t> 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20F6B8E-D2AB-4B4D-9B31-248CB9257E16}"/>
              </a:ext>
            </a:extLst>
          </p:cNvPr>
          <p:cNvCxnSpPr>
            <a:cxnSpLocks/>
          </p:cNvCxnSpPr>
          <p:nvPr/>
        </p:nvCxnSpPr>
        <p:spPr>
          <a:xfrm>
            <a:off x="3015945" y="2174235"/>
            <a:ext cx="2692847" cy="1136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66FA837-615E-468A-9CA2-651CED53D7E1}"/>
              </a:ext>
            </a:extLst>
          </p:cNvPr>
          <p:cNvCxnSpPr>
            <a:cxnSpLocks/>
          </p:cNvCxnSpPr>
          <p:nvPr/>
        </p:nvCxnSpPr>
        <p:spPr>
          <a:xfrm>
            <a:off x="3015945" y="2164888"/>
            <a:ext cx="1838083" cy="1128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1A774AC-1357-428B-B45D-0D2CC96447D2}"/>
              </a:ext>
            </a:extLst>
          </p:cNvPr>
          <p:cNvCxnSpPr>
            <a:cxnSpLocks/>
          </p:cNvCxnSpPr>
          <p:nvPr/>
        </p:nvCxnSpPr>
        <p:spPr>
          <a:xfrm flipH="1">
            <a:off x="2084348" y="2197125"/>
            <a:ext cx="931598" cy="1104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54AE364-38AA-43DE-8351-6B2FB2966932}"/>
              </a:ext>
            </a:extLst>
          </p:cNvPr>
          <p:cNvCxnSpPr>
            <a:cxnSpLocks/>
          </p:cNvCxnSpPr>
          <p:nvPr/>
        </p:nvCxnSpPr>
        <p:spPr>
          <a:xfrm flipH="1">
            <a:off x="1038225" y="2215831"/>
            <a:ext cx="1977720" cy="1077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477615B-A5C6-4F0C-8A72-F457A418D6D6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3045491" y="2223533"/>
            <a:ext cx="110709" cy="1087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97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05F362B-DEBC-4DAF-8816-B9911E09F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04" y="156612"/>
            <a:ext cx="10504696" cy="654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4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4279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통계 분석 기법 정리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C2E5626-07D1-4FFC-8DAA-61A469DBEC91}"/>
              </a:ext>
            </a:extLst>
          </p:cNvPr>
          <p:cNvSpPr/>
          <p:nvPr/>
        </p:nvSpPr>
        <p:spPr>
          <a:xfrm>
            <a:off x="2649414" y="4208159"/>
            <a:ext cx="90502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Canonical correlation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Sparse canonical correlation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2800" dirty="0">
                <a:latin typeface="프리젠테이션 4 Regular" pitchFamily="2" charset="-127"/>
                <a:ea typeface="프리젠테이션 4 Regular" pitchFamily="2" charset="-127"/>
              </a:rPr>
              <a:t>Partial least squares regression</a:t>
            </a:r>
          </a:p>
        </p:txBody>
      </p:sp>
    </p:spTree>
    <p:extLst>
      <p:ext uri="{BB962C8B-B14F-4D97-AF65-F5344CB8AC3E}">
        <p14:creationId xmlns:p14="http://schemas.microsoft.com/office/powerpoint/2010/main" val="262865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Canonical correlation analysis (CCA)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1275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두 변수 집단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(X, Y)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가 서로 가장 강하게 함께 변하는 선형 조합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공통 축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찾는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두 집단 사이의 관계 구조를 드러내고 해석하는 것이 핵심 목적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ko-KR" altLang="en-US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9B722F-8FD5-4E89-96B5-BEBBADB1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1" y="2358252"/>
            <a:ext cx="6240739" cy="33726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1BB5E4-D7BA-4C27-B553-96E567D5F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01" y="3524802"/>
            <a:ext cx="4410691" cy="9812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F8B92F5-597F-47E5-A658-30E22AFE0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602" y="2067339"/>
            <a:ext cx="5334744" cy="8573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709E4A-A734-42D7-9070-6CCB47E79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889" y="5125985"/>
            <a:ext cx="2572109" cy="120984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D907C11-FF57-4437-AA5B-E541EE924907}"/>
              </a:ext>
            </a:extLst>
          </p:cNvPr>
          <p:cNvCxnSpPr/>
          <p:nvPr/>
        </p:nvCxnSpPr>
        <p:spPr>
          <a:xfrm>
            <a:off x="6251713" y="2067339"/>
            <a:ext cx="0" cy="437321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13C3024-C999-4C05-ABFA-B14BE2F61507}"/>
              </a:ext>
            </a:extLst>
          </p:cNvPr>
          <p:cNvSpPr txBox="1">
            <a:spLocks/>
          </p:cNvSpPr>
          <p:nvPr/>
        </p:nvSpPr>
        <p:spPr>
          <a:xfrm>
            <a:off x="7452001" y="2885522"/>
            <a:ext cx="4971911" cy="864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Correlation between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XTwx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YTwy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3FE717F9-4D59-4813-B906-BAA1EFC11077}"/>
              </a:ext>
            </a:extLst>
          </p:cNvPr>
          <p:cNvSpPr txBox="1">
            <a:spLocks/>
          </p:cNvSpPr>
          <p:nvPr/>
        </p:nvSpPr>
        <p:spPr>
          <a:xfrm>
            <a:off x="10284970" y="5905868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정규화 항 추가</a:t>
            </a:r>
            <a:endParaRPr lang="en-US" altLang="ko-KR" sz="2000" dirty="0">
              <a:solidFill>
                <a:srgbClr val="FF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8A44EEDB-DFCB-4F9E-8DD8-7221CEDDC510}"/>
              </a:ext>
            </a:extLst>
          </p:cNvPr>
          <p:cNvSpPr txBox="1">
            <a:spLocks/>
          </p:cNvSpPr>
          <p:nvPr/>
        </p:nvSpPr>
        <p:spPr>
          <a:xfrm>
            <a:off x="7594462" y="4499742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Wx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wy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scale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에 영향을 받지 않으므로 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같은 식이지만 다르게 표현 </a:t>
            </a:r>
            <a:endParaRPr lang="en-US" altLang="ko-KR" sz="20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A729966-9DD8-4DDA-BEBB-8AA9AE23C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64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Canonical correlation analysis (CCA)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3727" y="1205948"/>
            <a:ext cx="10515600" cy="12756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2. Singular value decomposition(SVD)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풀기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3BCF600-2A94-4A4B-9234-292A5C05544B}"/>
              </a:ext>
            </a:extLst>
          </p:cNvPr>
          <p:cNvSpPr txBox="1">
            <a:spLocks/>
          </p:cNvSpPr>
          <p:nvPr/>
        </p:nvSpPr>
        <p:spPr>
          <a:xfrm>
            <a:off x="990600" y="1205948"/>
            <a:ext cx="10515600" cy="1275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Wx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Wy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구하는 방법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1. Eigenvalue decomposition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풀기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E1826-8A91-4FF8-A195-F7E178209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5" y="2110327"/>
            <a:ext cx="4778395" cy="2088916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61BA579-6878-4E0C-BF5D-338BE6AD4364}"/>
              </a:ext>
            </a:extLst>
          </p:cNvPr>
          <p:cNvSpPr txBox="1">
            <a:spLocks/>
          </p:cNvSpPr>
          <p:nvPr/>
        </p:nvSpPr>
        <p:spPr>
          <a:xfrm>
            <a:off x="2173356" y="2834955"/>
            <a:ext cx="1643269" cy="44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eigen vector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0E348A-D896-4C3C-A9F8-92A6075B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5" y="4672504"/>
            <a:ext cx="1762371" cy="4001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6D28A2D-A07A-4A5E-85F0-E9726FA02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5" y="5308982"/>
            <a:ext cx="1771897" cy="371527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E106B37-CCA2-4567-A28D-AF7A4C13F1EC}"/>
              </a:ext>
            </a:extLst>
          </p:cNvPr>
          <p:cNvSpPr txBox="1">
            <a:spLocks/>
          </p:cNvSpPr>
          <p:nvPr/>
        </p:nvSpPr>
        <p:spPr>
          <a:xfrm>
            <a:off x="2694312" y="5357925"/>
            <a:ext cx="3425773" cy="44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K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번째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canonical correlation 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상관계수</a:t>
            </a:r>
            <a:endParaRPr lang="en-US" altLang="ko-KR" sz="16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FB16397-42F9-43AA-99D6-FD7C8D887F0C}"/>
              </a:ext>
            </a:extLst>
          </p:cNvPr>
          <p:cNvSpPr txBox="1">
            <a:spLocks/>
          </p:cNvSpPr>
          <p:nvPr/>
        </p:nvSpPr>
        <p:spPr>
          <a:xfrm>
            <a:off x="2746426" y="4849852"/>
            <a:ext cx="3425771" cy="44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K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개의 가중치 쌍들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= K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개의 고유 벡터 </a:t>
            </a:r>
            <a:endParaRPr lang="en-US" altLang="ko-KR" sz="16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BB9E03E-F2F7-4919-8DD8-EF96AC5B2BC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6038"/>
          <a:stretch/>
        </p:blipFill>
        <p:spPr>
          <a:xfrm>
            <a:off x="7105485" y="3253428"/>
            <a:ext cx="4232448" cy="319284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CB5FA89-79D3-4A26-86AE-72ADC92361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4068"/>
          <a:stretch/>
        </p:blipFill>
        <p:spPr>
          <a:xfrm>
            <a:off x="6714606" y="1505975"/>
            <a:ext cx="4232448" cy="17936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B8F4DB-CEE8-4901-B0B5-3AC3F635F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352" y="2562521"/>
            <a:ext cx="1476581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8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Sparse canonical correlation analysis (SCCA)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707" y="1470993"/>
            <a:ext cx="10515600" cy="4470460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기존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CCA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는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dense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-&gt; Penalized matrix decomposition(PMD)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에 기반해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spare canonical vectors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얻기 위한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penalized CCA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제시함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sCCA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PMD : rank-m approximation 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 err="1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sCCA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에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PMD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를 적용 </a:t>
            </a:r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  <a:sym typeface="Wingdings" panose="05000000000000000000" pitchFamily="2" charset="2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M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cross covariance matrix XYT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대체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u,v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는 가중치로 대체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D03F4A-7A99-49A1-9B50-F4266E3C8F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425"/>
          <a:stretch/>
        </p:blipFill>
        <p:spPr>
          <a:xfrm>
            <a:off x="1503523" y="3092048"/>
            <a:ext cx="2621253" cy="4077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8A1BD4-A597-47B1-B859-6F4107A359AE}"/>
              </a:ext>
            </a:extLst>
          </p:cNvPr>
          <p:cNvSpPr txBox="1"/>
          <p:nvPr/>
        </p:nvSpPr>
        <p:spPr>
          <a:xfrm>
            <a:off x="9319590" y="5955480"/>
            <a:ext cx="2872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C1, c2: sparsity 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조절하는 값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0BE64E-9A30-4EBE-BBF0-354AEE58E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81" y="5007871"/>
            <a:ext cx="7969073" cy="13309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4FFB52-B38B-4087-8C17-11C6F316E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518" y="2360261"/>
            <a:ext cx="6152282" cy="106873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5FAE289-4499-44D6-9470-7355E2C65918}"/>
              </a:ext>
            </a:extLst>
          </p:cNvPr>
          <p:cNvSpPr/>
          <p:nvPr/>
        </p:nvSpPr>
        <p:spPr>
          <a:xfrm>
            <a:off x="8067226" y="3358163"/>
            <a:ext cx="4178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Sparsity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를 </a:t>
            </a:r>
            <a:r>
              <a:rPr lang="ko-KR" altLang="en-US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얻는법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:u, v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에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Lasso 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규제를 더한다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23E52-A76B-4E6C-89E8-3154BF6C633A}"/>
              </a:ext>
            </a:extLst>
          </p:cNvPr>
          <p:cNvSpPr txBox="1"/>
          <p:nvPr/>
        </p:nvSpPr>
        <p:spPr>
          <a:xfrm>
            <a:off x="1038641" y="3644568"/>
            <a:ext cx="7379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di : </a:t>
            </a:r>
            <a:r>
              <a:rPr lang="en-US" altLang="ko-KR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i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th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leading singular value, </a:t>
            </a:r>
            <a:r>
              <a:rPr lang="en-US" altLang="ko-KR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ui</a:t>
            </a:r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&amp; vi :left, right singular value</a:t>
            </a:r>
            <a:endParaRPr lang="ko-KR" altLang="en-US" dirty="0">
              <a:solidFill>
                <a:srgbClr val="FF0000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CA4CBF-D16E-46A7-8E3F-820A07E1514C}"/>
              </a:ext>
            </a:extLst>
          </p:cNvPr>
          <p:cNvSpPr/>
          <p:nvPr/>
        </p:nvSpPr>
        <p:spPr>
          <a:xfrm>
            <a:off x="7073240" y="2409245"/>
            <a:ext cx="4902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m=1) SVD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에서 첫번째 </a:t>
            </a:r>
            <a:r>
              <a:rPr lang="ko-KR" altLang="en-US" dirty="0" err="1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특잇값을</a:t>
            </a:r>
            <a:r>
              <a:rPr lang="ko-KR" altLang="en-US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 찾는 문제를 최적화 형태로</a:t>
            </a:r>
          </a:p>
        </p:txBody>
      </p:sp>
    </p:spTree>
    <p:extLst>
      <p:ext uri="{BB962C8B-B14F-4D97-AF65-F5344CB8AC3E}">
        <p14:creationId xmlns:p14="http://schemas.microsoft.com/office/powerpoint/2010/main" val="232494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 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9"/>
            <a:ext cx="10515600" cy="2464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    어떤 변수를 제외한채로 두 변수 사이의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numerical relationship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파악하고 싶을 때 일부 특징은 제거해서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X,Y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사이의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partial 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구해야 되고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Z={z1, z2, …,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zn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}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controlling variable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라고 가정할 때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    (X,Z), (Y,Z)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이 두개의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linear regression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결과의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잔차를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이용해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 구한다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4D6D2C-C2F7-4F4D-A7AD-43CF9408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34" y="2241182"/>
            <a:ext cx="3786514" cy="15655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5C17ED3-C75D-4BA5-85BE-7DDEA3BC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44" y="3319225"/>
            <a:ext cx="800212" cy="438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FB50AF-F185-4FAC-BD1E-2C63732164DD}"/>
              </a:ext>
            </a:extLst>
          </p:cNvPr>
          <p:cNvSpPr txBox="1"/>
          <p:nvPr/>
        </p:nvSpPr>
        <p:spPr>
          <a:xfrm>
            <a:off x="6609817" y="3371016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벡터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w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과 </a:t>
            </a:r>
            <a:r>
              <a:rPr lang="en-US" altLang="ko-KR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zi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사이의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scalar product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0A6C6FD-AA88-4641-AF2E-1B8E363D8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30" y="3949403"/>
            <a:ext cx="2598454" cy="8401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48058E5-1F54-4B2E-A168-3BFBF57D0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37" y="4892531"/>
            <a:ext cx="6471827" cy="1783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5D1F44-90EC-47F9-B322-41F569E97E5F}"/>
              </a:ext>
            </a:extLst>
          </p:cNvPr>
          <p:cNvSpPr txBox="1"/>
          <p:nvPr/>
        </p:nvSpPr>
        <p:spPr>
          <a:xfrm>
            <a:off x="3780478" y="4301304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Z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로 설명되지 않은 부분을 계산한다 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잔차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1A517-862B-4241-9ED6-36DFA1DEC266}"/>
              </a:ext>
            </a:extLst>
          </p:cNvPr>
          <p:cNvSpPr txBox="1"/>
          <p:nvPr/>
        </p:nvSpPr>
        <p:spPr>
          <a:xfrm>
            <a:off x="7401764" y="5804451"/>
            <a:ext cx="5049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잔차들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간의 </a:t>
            </a:r>
            <a:r>
              <a:rPr lang="ko-KR" altLang="en-US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피어슨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상관계수를 구한다</a:t>
            </a:r>
          </a:p>
        </p:txBody>
      </p:sp>
    </p:spTree>
    <p:extLst>
      <p:ext uri="{BB962C8B-B14F-4D97-AF65-F5344CB8AC3E}">
        <p14:creationId xmlns:p14="http://schemas.microsoft.com/office/powerpoint/2010/main" val="2851829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least squares regression (PLSR)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02"/>
            <a:ext cx="10515600" cy="854569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설명변수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반응변수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Y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동시에 저차원으로 투영해서 그 투영 점수들 사이의 공분산이 최대가 되도록 성분을 뽑아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회귀하는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685F96-0930-46CF-AA0A-5A9789B0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490" y="4018686"/>
            <a:ext cx="4248743" cy="53347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3D50A1-26F8-4A49-96E1-B54120F178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870" b="18766"/>
          <a:stretch/>
        </p:blipFill>
        <p:spPr>
          <a:xfrm>
            <a:off x="980304" y="3025449"/>
            <a:ext cx="4407059" cy="4527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F52F64-703A-453D-928E-4C9D05369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960" y="2351572"/>
            <a:ext cx="4329647" cy="359733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A33E04F-6873-4E92-84CA-48CB18A42D8D}"/>
              </a:ext>
            </a:extLst>
          </p:cNvPr>
          <p:cNvSpPr txBox="1">
            <a:spLocks/>
          </p:cNvSpPr>
          <p:nvPr/>
        </p:nvSpPr>
        <p:spPr>
          <a:xfrm>
            <a:off x="5198875" y="3173364"/>
            <a:ext cx="4734339" cy="434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설명변수의 선형결합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D84DE00-6849-417C-8117-90E34054C097}"/>
              </a:ext>
            </a:extLst>
          </p:cNvPr>
          <p:cNvSpPr txBox="1">
            <a:spLocks/>
          </p:cNvSpPr>
          <p:nvPr/>
        </p:nvSpPr>
        <p:spPr>
          <a:xfrm>
            <a:off x="5758780" y="2533519"/>
            <a:ext cx="4734339" cy="434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설명변수의 데이터 개수는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n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변수의 개수는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개 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en-US" altLang="ko-KR" sz="16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nxp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형태</a:t>
            </a:r>
            <a:r>
              <a:rPr lang="en-US" altLang="ko-KR" sz="16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6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A771BB-4060-4089-94D0-06A4F145BDEC}"/>
              </a:ext>
            </a:extLst>
          </p:cNvPr>
          <p:cNvSpPr txBox="1">
            <a:spLocks/>
          </p:cNvSpPr>
          <p:nvPr/>
        </p:nvSpPr>
        <p:spPr>
          <a:xfrm>
            <a:off x="1735015" y="4883502"/>
            <a:ext cx="11394686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기준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1)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w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선형결합인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분산을 최대화하는 축을 찾는다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기준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2) 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Y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의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correlation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도 최대화한다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5F90775-EB6C-4E20-BDFF-34187AEC9DD1}"/>
              </a:ext>
            </a:extLst>
          </p:cNvPr>
          <p:cNvSpPr txBox="1">
            <a:spLocks/>
          </p:cNvSpPr>
          <p:nvPr/>
        </p:nvSpPr>
        <p:spPr>
          <a:xfrm>
            <a:off x="480518" y="5913724"/>
            <a:ext cx="11394686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ko-KR" altLang="en-US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59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02"/>
            <a:ext cx="10253870" cy="8545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질환이 없는 사람의 내장 지방 조직의 염증 반응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(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면역세포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 err="1">
                <a:latin typeface="프리젠테이션 4 Regular" pitchFamily="2" charset="-127"/>
                <a:ea typeface="프리젠테이션 4 Regular" pitchFamily="2" charset="-127"/>
              </a:rPr>
              <a:t>바이오마커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&amp;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에 따라 어떻게 달라질지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CD67F2-FFBE-4189-8675-2BB1E54DF65A}"/>
              </a:ext>
            </a:extLst>
          </p:cNvPr>
          <p:cNvSpPr txBox="1"/>
          <p:nvPr/>
        </p:nvSpPr>
        <p:spPr>
          <a:xfrm>
            <a:off x="923064" y="2434394"/>
            <a:ext cx="10896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분석 계획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나이에 초점을 맞춰서 나이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&lt;-&gt;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염증반응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이용해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covar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두어서 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correction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한 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각 면역세포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나이와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457200" indent="-457200">
              <a:buAutoNum type="arabicPeriod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Least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Squares Regression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544C35-15E3-427C-AC04-9AD77DDCEB02}"/>
              </a:ext>
            </a:extLst>
          </p:cNvPr>
          <p:cNvSpPr txBox="1"/>
          <p:nvPr/>
        </p:nvSpPr>
        <p:spPr>
          <a:xfrm>
            <a:off x="1143730" y="4768568"/>
            <a:ext cx="102100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궁금한점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:</a:t>
            </a:r>
          </a:p>
          <a:p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성별을 통제변수에 넣을지 말지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..? </a:t>
            </a:r>
          </a:p>
          <a:p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나이 관련 분석을 진행할 때는 간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신장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,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대사 지표는 제외하고 분석을 진행해도 되는지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세포 소분류의 면역세포 데이터에는 </a:t>
            </a:r>
            <a:r>
              <a:rPr lang="ko-KR" altLang="en-US" dirty="0" err="1">
                <a:latin typeface="프리젠테이션 4 Regular" pitchFamily="2" charset="-127"/>
                <a:ea typeface="프리젠테이션 4 Regular" pitchFamily="2" charset="-127"/>
              </a:rPr>
              <a:t>결측치가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8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개정도 보이는데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어떻게 해결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? –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다중대치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(MICE)or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2449813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Task2. 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102"/>
            <a:ext cx="10253870" cy="8545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질환이 없는 사람의 내장 지방 조직의 염증 반응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 (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면역세포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 err="1">
                <a:latin typeface="프리젠테이션 4 Regular" pitchFamily="2" charset="-127"/>
                <a:ea typeface="프리젠테이션 4 Regular" pitchFamily="2" charset="-127"/>
              </a:rPr>
              <a:t>바이오마커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&amp;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환자의 대사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간</a:t>
            </a:r>
            <a:r>
              <a:rPr lang="en-US" altLang="ko-KR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신장 기능 평가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와 어떤 관계를 보이는지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54D12-ED08-4983-A9F9-FA19CB87681B}"/>
              </a:ext>
            </a:extLst>
          </p:cNvPr>
          <p:cNvSpPr txBox="1"/>
          <p:nvPr/>
        </p:nvSpPr>
        <p:spPr>
          <a:xfrm>
            <a:off x="838200" y="2498031"/>
            <a:ext cx="104162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분석 계획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염증반응 면역세포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&lt;-&gt;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대사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/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/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신장 기능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Sparse CCA</a:t>
            </a:r>
          </a:p>
          <a:p>
            <a:pPr marL="457200" indent="-457200">
              <a:buAutoNum type="arabicPeriod"/>
            </a:pPr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least squares regression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으로 다대다 분석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나이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/BMI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통제 후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상관관계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  <a:p>
            <a:endParaRPr lang="en-US" altLang="ko-KR" sz="2000" dirty="0"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95A7D-AE4B-493C-8D49-5E87DB8DE175}"/>
              </a:ext>
            </a:extLst>
          </p:cNvPr>
          <p:cNvSpPr txBox="1"/>
          <p:nvPr/>
        </p:nvSpPr>
        <p:spPr>
          <a:xfrm>
            <a:off x="791512" y="5773580"/>
            <a:ext cx="9904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궁금한점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: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절반씩 비어 있는 간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신장 등의 지표에 대해서는 그냥 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22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명씩 따로 분석을 진행하면 되는지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?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829ED6-97A1-4BD4-A460-BF0FA148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969" y="952346"/>
            <a:ext cx="2014163" cy="569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2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결과</a:t>
            </a:r>
            <a:b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Task1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983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PAN% 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343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각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PAN%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FE71F43-6A34-4415-A038-A510DFAE4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711078"/>
              </p:ext>
            </p:extLst>
          </p:nvPr>
        </p:nvGraphicFramePr>
        <p:xfrm>
          <a:off x="1506000" y="2346674"/>
          <a:ext cx="9180000" cy="38100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30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403642707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PAN%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covar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pearson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effectLst/>
                        </a:rPr>
                        <a:t>0.132268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effectLst/>
                        </a:rPr>
                        <a:t>[-0.18, 0.42]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effectLst/>
                        </a:rPr>
                        <a:t>0.397829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CD11b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pearson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effectLst/>
                        </a:rPr>
                        <a:t>-0.253556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[-0.51, 0.05]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0.100876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HLADR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-0.305647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kern="1200" dirty="0">
                          <a:effectLst/>
                        </a:rPr>
                        <a:t>[-0.56, -0.01]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0.046241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NK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effectLst/>
                        </a:rPr>
                        <a:t>-0.231679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[-0.5, 0.07]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0.134947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NKT1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effectLst/>
                        </a:rPr>
                        <a:t>-0.138999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effectLst/>
                        </a:rPr>
                        <a:t>[-0.42, 0.17]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0.374033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0.353325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kern="1200" dirty="0">
                          <a:effectLst/>
                        </a:rPr>
                        <a:t>[0.06, 0.59]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effectLst/>
                        </a:rPr>
                        <a:t>0.020117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82945"/>
                  </a:ext>
                </a:extLst>
              </a:tr>
            </a:tbl>
          </a:graphicData>
        </a:graphic>
      </p:graphicFrame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873B8AD-86D3-4E65-A3FB-04A8FC815271}"/>
              </a:ext>
            </a:extLst>
          </p:cNvPr>
          <p:cNvSpPr txBox="1">
            <a:spLocks/>
          </p:cNvSpPr>
          <p:nvPr/>
        </p:nvSpPr>
        <p:spPr>
          <a:xfrm>
            <a:off x="1137137" y="6330214"/>
            <a:ext cx="10515600" cy="489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결과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: 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두었을 때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HLADR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만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age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유의미한 결과를 보였습니다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.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DEFA81-D3E8-4ECF-A4C3-58A5AD829B83}"/>
              </a:ext>
            </a:extLst>
          </p:cNvPr>
          <p:cNvSpPr/>
          <p:nvPr/>
        </p:nvSpPr>
        <p:spPr>
          <a:xfrm>
            <a:off x="946637" y="1393149"/>
            <a:ext cx="4656993" cy="8403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CI95%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 지표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부분상관계수 𝑟에 대한 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95%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신뢰구간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(Confidence Interval)</a:t>
            </a:r>
          </a:p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- 0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을 포함하지 않으면 유의미한 결과라고 판단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7D22F1-08AB-410A-A498-C28521C3E115}"/>
              </a:ext>
            </a:extLst>
          </p:cNvPr>
          <p:cNvSpPr/>
          <p:nvPr/>
        </p:nvSpPr>
        <p:spPr>
          <a:xfrm>
            <a:off x="5858606" y="1392337"/>
            <a:ext cx="4656993" cy="8403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R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지표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: BMI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를 통제한 뒤에도 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Age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PAN%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의가 얼마나 같이 변하는지 나타내는 상관계수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5379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PAN% 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343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 err="1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BMI+Sex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각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PAN%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FE71F43-6A34-4415-A038-A510DFAE4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62248"/>
              </p:ext>
            </p:extLst>
          </p:nvPr>
        </p:nvGraphicFramePr>
        <p:xfrm>
          <a:off x="1264482" y="1603673"/>
          <a:ext cx="9180000" cy="38100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30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1328710090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PAN%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covar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pearson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0.10035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[-0.21, 0.39]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0.527183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CD11b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pearson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-0.262178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[-0.52, 0.05]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0.093481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HLADR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-0.323769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[-0.57, -0.02]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0.03647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NK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-0.202946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[-0.48, 0.11]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0.197393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NKT1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-0.120495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[-0.41, 0.19]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0.447189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BMI + SEX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/>
                        <a:t>pearson</a:t>
                      </a:r>
                      <a:endParaRPr lang="ko-KR" altLang="en-US" sz="1600" dirty="0"/>
                    </a:p>
                    <a:p>
                      <a:pPr algn="ctr" latinLnBrk="1"/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0.348037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[0.05, 0.59]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0.023908</a:t>
                      </a:r>
                      <a:endParaRPr lang="en-US" altLang="ko-KR" sz="1600" dirty="0">
                        <a:effectLst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82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454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. PAN% </a:t>
            </a:r>
            <a:r>
              <a:rPr lang="ko-KR" altLang="en-US" sz="3600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 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least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squares regression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PAN% 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사이의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least squares regression </a:t>
            </a: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결과가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유의미한지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알기 위한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permutation test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까지 진행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1E0AD0-A950-43AA-B22A-F32FC875F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323" y="2079625"/>
            <a:ext cx="4564339" cy="35517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DF67EED-F879-46EF-AA16-29722D751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8117"/>
            <a:ext cx="4439908" cy="361307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85F88A0-7510-4667-95FC-752188273F31}"/>
              </a:ext>
            </a:extLst>
          </p:cNvPr>
          <p:cNvSpPr txBox="1">
            <a:spLocks/>
          </p:cNvSpPr>
          <p:nvPr/>
        </p:nvSpPr>
        <p:spPr>
          <a:xfrm>
            <a:off x="6418385" y="5802854"/>
            <a:ext cx="10515600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-&gt;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유의미하지 않았음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897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r>
              <a:rPr lang="en-US" altLang="ko-KR" sz="3600" dirty="0" err="1">
                <a:latin typeface="프리젠테이션 5 Medium" pitchFamily="2" charset="-127"/>
                <a:ea typeface="프리젠테이션 5 Medium" pitchFamily="2" charset="-127"/>
              </a:rPr>
              <a:t>Tcell</a:t>
            </a:r>
            <a:r>
              <a:rPr lang="ko-KR" altLang="en-US" sz="3600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Tcell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소분류에는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결측치가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존재함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–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먼저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처리를 한 후에 분석을 진행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세포의 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73E7DCA-99F2-4316-8B72-0113BF86FC2E}"/>
              </a:ext>
            </a:extLst>
          </p:cNvPr>
          <p:cNvSpPr txBox="1">
            <a:spLocks/>
          </p:cNvSpPr>
          <p:nvPr/>
        </p:nvSpPr>
        <p:spPr>
          <a:xfrm>
            <a:off x="838200" y="1908117"/>
            <a:ext cx="10515600" cy="110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처리한 방법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457200" indent="-457200">
              <a:buAutoNum type="arabicPeriod"/>
            </a:pP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존재하는 행 삭제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– 35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명으로 진행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endParaRPr lang="en-US" altLang="ko-KR" sz="16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BDBF201-56E6-48F7-BD28-031AAF03376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412215" y="2762686"/>
          <a:ext cx="9180000" cy="343178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PAN%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NKT2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-0.421784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[-0.67, -0.1]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0.012971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MAIT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-0.190525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[-0.5, 0.16]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0.280422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gd1T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-0.276126</a:t>
                      </a: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[-0.56, 0.07]</a:t>
                      </a:r>
                      <a:endParaRPr lang="ko-KR" altLang="en-US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0.113932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6581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gd2T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-0.282655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[-0.57, 0.06]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0.105292 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ConvT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-0.491285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[0.18, 0.71]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  <a:cs typeface="+mn-cs"/>
                        </a:rPr>
                        <a:t>0.003173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B8D5BC7-EA80-486D-9200-4C608513952B}"/>
              </a:ext>
            </a:extLst>
          </p:cNvPr>
          <p:cNvSpPr txBox="1">
            <a:spLocks/>
          </p:cNvSpPr>
          <p:nvPr/>
        </p:nvSpPr>
        <p:spPr>
          <a:xfrm>
            <a:off x="744415" y="6297344"/>
            <a:ext cx="10515600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NKT2,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상관관계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938328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r>
              <a:rPr lang="en-US" altLang="ko-KR" sz="3600" dirty="0" err="1">
                <a:latin typeface="프리젠테이션 5 Medium" pitchFamily="2" charset="-127"/>
                <a:ea typeface="프리젠테이션 5 Medium" pitchFamily="2" charset="-127"/>
              </a:rPr>
              <a:t>Tcell</a:t>
            </a:r>
            <a:r>
              <a:rPr lang="ko-KR" altLang="en-US" sz="3600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Tcell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소분류에는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결측치가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존재함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–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먼저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처리를 한 후에 분석을 진행 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T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세포의 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analysis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73E7DCA-99F2-4316-8B72-0113BF86FC2E}"/>
              </a:ext>
            </a:extLst>
          </p:cNvPr>
          <p:cNvSpPr txBox="1">
            <a:spLocks/>
          </p:cNvSpPr>
          <p:nvPr/>
        </p:nvSpPr>
        <p:spPr>
          <a:xfrm>
            <a:off x="838200" y="1908117"/>
            <a:ext cx="10515600" cy="110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처리한 방법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    2.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결측치를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다중대체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(MICE-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miceforest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사용한 결과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5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개의 평균을 내 대체함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BDBF201-56E6-48F7-BD28-031AAF033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557361"/>
              </p:ext>
            </p:extLst>
          </p:nvPr>
        </p:nvGraphicFramePr>
        <p:xfrm>
          <a:off x="1412215" y="2762686"/>
          <a:ext cx="9180000" cy="343178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PAN%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NKT2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-0.460527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[-0.67, -0.19]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0.001886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MAIT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-0.20576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[-0.48, 0.1]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0.185598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gd1T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-0.288796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[-0.54, 0.01]</a:t>
                      </a:r>
                      <a:endParaRPr lang="ko-KR" altLang="en-US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0.060354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6581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gd2T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-0.306314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[-0.56, -0.01]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0.045743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ConvT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0.527967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[0.27, 0.71]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0.000274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628FCD9-A631-4015-81DC-CE9D911C5CD0}"/>
              </a:ext>
            </a:extLst>
          </p:cNvPr>
          <p:cNvSpPr txBox="1">
            <a:spLocks/>
          </p:cNvSpPr>
          <p:nvPr/>
        </p:nvSpPr>
        <p:spPr>
          <a:xfrm>
            <a:off x="744415" y="6308774"/>
            <a:ext cx="10515600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NKT2, gd2T, </a:t>
            </a: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상관관계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964614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CD20T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3430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CD20T&amp;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FE71F43-6A34-4415-A038-A510DFAE4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39184"/>
              </p:ext>
            </p:extLst>
          </p:nvPr>
        </p:nvGraphicFramePr>
        <p:xfrm>
          <a:off x="1506000" y="1705273"/>
          <a:ext cx="9180000" cy="10668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3403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CD20T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pearson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0.220541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[-0.09, 0.49]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0.155277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3403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CD20T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spearman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0.152191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[-0.2, 0.47]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0.390203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198828"/>
                  </a:ext>
                </a:extLst>
              </a:tr>
            </a:tbl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A22978E-3315-4837-8DA5-E1E977407C9A}"/>
              </a:ext>
            </a:extLst>
          </p:cNvPr>
          <p:cNvSpPr txBox="1">
            <a:spLocks/>
          </p:cNvSpPr>
          <p:nvPr/>
        </p:nvSpPr>
        <p:spPr>
          <a:xfrm>
            <a:off x="1505437" y="5841150"/>
            <a:ext cx="10515600" cy="975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P-value &gt;0.05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여서 상관관계가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35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B cell 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97585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Bcell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 cell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소분류에는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x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4EF0FA-A7AF-4630-92D5-502680BD3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598062"/>
              </p:ext>
            </p:extLst>
          </p:nvPr>
        </p:nvGraphicFramePr>
        <p:xfrm>
          <a:off x="1400926" y="2277264"/>
          <a:ext cx="9180000" cy="343178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2677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B</a:t>
                      </a:r>
                      <a:r>
                        <a:rPr lang="ko-KR" altLang="en-US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en-US" altLang="ko-KR" sz="16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cell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Correlation 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CI95%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 p-</a:t>
                      </a:r>
                      <a:r>
                        <a:rPr lang="en-US" altLang="ko-KR" sz="1600" dirty="0" err="1"/>
                        <a:t>val</a:t>
                      </a:r>
                      <a:endParaRPr lang="ko-KR" altLang="en-US" sz="16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Transitional B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-0.202703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[-0.47, 0.1]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0.192361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 B 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0.062199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[-0.24, 0.36]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0.691935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 Plasma B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0.107399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[-0.2, 0.4]</a:t>
                      </a:r>
                      <a:endParaRPr lang="ko-KR" altLang="en-US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0.493031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6581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Plasma B 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0.266983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[-0.04, 0.53]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0.083504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pearson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latinLnBrk="1"/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0.021281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[-0.28, 0.32]</a:t>
                      </a:r>
                      <a:endParaRPr lang="ko-KR" altLang="en-US" sz="18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0.892256</a:t>
                      </a:r>
                      <a:endParaRPr lang="en-US" altLang="ko-KR" sz="1800" dirty="0"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802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 fontScale="90000"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Task1. </a:t>
            </a:r>
            <a:r>
              <a:rPr lang="en-US" altLang="ko-KR" sz="3600" dirty="0" err="1">
                <a:latin typeface="프리젠테이션 5 Medium" pitchFamily="2" charset="-127"/>
                <a:ea typeface="프리젠테이션 5 Medium" pitchFamily="2" charset="-127"/>
              </a:rPr>
              <a:t>ConvT</a:t>
            </a:r>
            <a:r>
              <a:rPr lang="ko-KR" altLang="en-US" dirty="0"/>
              <a:t>↔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 Age, partial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correlation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analysis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637" y="1016850"/>
            <a:ext cx="10515600" cy="1943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err="1"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소분류에는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6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명 </a:t>
            </a:r>
            <a:r>
              <a:rPr lang="ko-KR" altLang="en-US" sz="2000" dirty="0" err="1">
                <a:latin typeface="프리젠테이션 4 Regular" pitchFamily="2" charset="-127"/>
                <a:ea typeface="프리젠테이션 4 Regular" pitchFamily="2" charset="-127"/>
              </a:rPr>
              <a:t>결측치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BMI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를 통제변수로 둔 후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ConvT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소분류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나이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와 </a:t>
            </a:r>
            <a:r>
              <a:rPr lang="en-US" altLang="ko-KR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partial correlation </a:t>
            </a:r>
            <a:r>
              <a:rPr lang="ko-KR" altLang="en-US" sz="20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분석 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일대일로</a:t>
            </a:r>
            <a:r>
              <a:rPr lang="en-US" altLang="ko-KR" sz="20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014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0A7F1-094B-4EA2-B0ED-3AB386D0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결과</a:t>
            </a:r>
            <a:b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Task2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6829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EE3-4D88-488C-96A8-6AD26B80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423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Task2. 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간신장대사 지표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면역세포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Sparse CCA </a:t>
            </a:r>
            <a:endParaRPr lang="ko-KR" altLang="en-US" sz="36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632E5-1D37-485F-B68F-BADA4B1F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234" y="1053548"/>
            <a:ext cx="10515600" cy="8545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간 신장 대사 지표 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&amp;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면역세포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-&gt; </a:t>
            </a:r>
            <a:r>
              <a:rPr lang="ko-KR" altLang="en-US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20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sCCA</a:t>
            </a:r>
            <a:r>
              <a:rPr lang="en-US" altLang="ko-KR" sz="20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2000" dirty="0">
                <a:latin typeface="프리젠테이션 4 Regular" pitchFamily="2" charset="-127"/>
                <a:ea typeface="프리젠테이션 4 Regular" pitchFamily="2" charset="-127"/>
              </a:rPr>
              <a:t>로 분석</a:t>
            </a:r>
            <a:endParaRPr lang="en-US" altLang="ko-KR" sz="20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051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</TotalTime>
  <Words>1558</Words>
  <Application>Microsoft Office PowerPoint</Application>
  <PresentationFormat>와이드스크린</PresentationFormat>
  <Paragraphs>331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맑은 고딕</vt:lpstr>
      <vt:lpstr>프리젠테이션 3 Light</vt:lpstr>
      <vt:lpstr>프리젠테이션 4 Regular</vt:lpstr>
      <vt:lpstr>프리젠테이션 5 Medium</vt:lpstr>
      <vt:lpstr>Arial</vt:lpstr>
      <vt:lpstr>Calibri</vt:lpstr>
      <vt:lpstr>Wingdings</vt:lpstr>
      <vt:lpstr>Office 테마</vt:lpstr>
      <vt:lpstr>데이터셋 이해</vt:lpstr>
      <vt:lpstr>PowerPoint 프레젠테이션</vt:lpstr>
      <vt:lpstr>PowerPoint 프레젠테이션</vt:lpstr>
      <vt:lpstr>PowerPoint 프레젠테이션</vt:lpstr>
      <vt:lpstr>PowerPoint 프레젠테이션</vt:lpstr>
      <vt:lpstr>통계 분석 기법 정리 </vt:lpstr>
      <vt:lpstr>Canonical correlation analysis (CCA)</vt:lpstr>
      <vt:lpstr>Canonical correlation analysis (CCA)</vt:lpstr>
      <vt:lpstr>Sparse canonical correlation analysis (SCCA)</vt:lpstr>
      <vt:lpstr>Partial correlation analysis</vt:lpstr>
      <vt:lpstr>Partial least squares regression (PLSR)</vt:lpstr>
      <vt:lpstr>Task1. </vt:lpstr>
      <vt:lpstr>Task2. </vt:lpstr>
      <vt:lpstr>결과 Task1</vt:lpstr>
      <vt:lpstr>Task1. PAN% ↔ Age, partial correlation analysis</vt:lpstr>
      <vt:lpstr>Task1. PAN% ↔ Age, partial correlation analysis</vt:lpstr>
      <vt:lpstr>Task1. . PAN% ↔ Age , partial least squares regression</vt:lpstr>
      <vt:lpstr>Task1. Tcell↔ Age partial correlation analysis</vt:lpstr>
      <vt:lpstr>Task1. Tcell↔ Age partial correlation analysis</vt:lpstr>
      <vt:lpstr>Task1. CD20T↔ Age, partial correlation analysis</vt:lpstr>
      <vt:lpstr>Task1. B cell ↔ Age, partial correlation analysis</vt:lpstr>
      <vt:lpstr>Task1. ConvT↔ Age, partial correlation analysis</vt:lpstr>
      <vt:lpstr>결과 Task2</vt:lpstr>
      <vt:lpstr>Task2. 간신장대사 지표 &amp; 면역세포 Sparse CCA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Partial Correlation Anaylsis</dc:title>
  <dc:creator>nva_kist</dc:creator>
  <cp:lastModifiedBy>nva_kist</cp:lastModifiedBy>
  <cp:revision>133</cp:revision>
  <dcterms:created xsi:type="dcterms:W3CDTF">2026-01-09T05:23:49Z</dcterms:created>
  <dcterms:modified xsi:type="dcterms:W3CDTF">2026-01-19T00:53:10Z</dcterms:modified>
</cp:coreProperties>
</file>